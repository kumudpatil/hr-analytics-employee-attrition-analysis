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279" r:id="rId4"/>
    <p:sldId id="299" r:id="rId5"/>
    <p:sldId id="300" r:id="rId6"/>
    <p:sldId id="301" r:id="rId7"/>
    <p:sldId id="302" r:id="rId8"/>
    <p:sldId id="304" r:id="rId9"/>
    <p:sldId id="283" r:id="rId10"/>
    <p:sldId id="296" r:id="rId11"/>
    <p:sldId id="297" r:id="rId12"/>
    <p:sldId id="298" r:id="rId13"/>
    <p:sldId id="305" r:id="rId14"/>
    <p:sldId id="291" r:id="rId15"/>
    <p:sldId id="290" r:id="rId16"/>
    <p:sldId id="294" r:id="rId17"/>
    <p:sldId id="295" r:id="rId18"/>
    <p:sldId id="303" r:id="rId19"/>
  </p:sldIdLst>
  <p:sldSz cx="12192000" cy="6856413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6E7"/>
    <a:srgbClr val="2073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5CBC7-247E-4F47-8551-2FAA3B040AB4}" type="datetimeFigureOut">
              <a:rPr lang="en-IN" smtClean="0"/>
              <a:t>2026-04-23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7648F-2340-4078-8A0D-AE083982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1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648F-2340-4078-8A0D-AE083982C76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73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648F-2340-4078-8A0D-AE083982C76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44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073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2099" y="358775"/>
            <a:ext cx="674243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1187" y="1058333"/>
            <a:ext cx="6129655" cy="2770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837018" y="6417158"/>
            <a:ext cx="106299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F0E3B9-0FDC-BF90-3BD9-6818F0D683CA}"/>
              </a:ext>
            </a:extLst>
          </p:cNvPr>
          <p:cNvSpPr/>
          <p:nvPr/>
        </p:nvSpPr>
        <p:spPr>
          <a:xfrm>
            <a:off x="0" y="75406"/>
            <a:ext cx="5663565" cy="67810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1120775"/>
            <a:ext cx="4495165" cy="1038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100"/>
              </a:spcBef>
            </a:pPr>
            <a:r>
              <a:rPr lang="en-US" sz="4000" dirty="0"/>
              <a:t>H</a:t>
            </a:r>
            <a:r>
              <a:rPr lang="en-IN" sz="4000" dirty="0"/>
              <a:t>R Analytics Dashboard</a:t>
            </a:r>
            <a:endParaRPr sz="4000" dirty="0"/>
          </a:p>
        </p:txBody>
      </p:sp>
      <p:sp>
        <p:nvSpPr>
          <p:cNvPr id="7" name="object 7"/>
          <p:cNvSpPr txBox="1"/>
          <p:nvPr/>
        </p:nvSpPr>
        <p:spPr>
          <a:xfrm>
            <a:off x="444500" y="2159521"/>
            <a:ext cx="33655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chemeClr val="tx1"/>
                </a:solidFill>
                <a:latin typeface="Segoe UI Semibold"/>
                <a:cs typeface="Segoe UI Semibold"/>
              </a:rPr>
              <a:t>E</a:t>
            </a:r>
            <a:r>
              <a:rPr lang="en-IN" sz="1400" b="1" dirty="0">
                <a:solidFill>
                  <a:schemeClr val="tx1"/>
                </a:solidFill>
                <a:latin typeface="Segoe UI Semibold"/>
                <a:cs typeface="Segoe UI Semibold"/>
              </a:rPr>
              <a:t>mployee Attrition &amp; Workforce Analysis</a:t>
            </a:r>
            <a:endParaRPr sz="1400" b="1" dirty="0">
              <a:solidFill>
                <a:schemeClr val="tx1"/>
              </a:solidFill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3000374"/>
            <a:ext cx="5663565" cy="400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2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GROUP</a:t>
            </a:r>
            <a:r>
              <a:rPr kumimoji="0" lang="en-IN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IN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NO.:</a:t>
            </a:r>
            <a:r>
              <a:rPr kumimoji="0" lang="en-I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IN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IN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</a:t>
            </a:r>
            <a:endParaRPr kumimoji="0" lang="en-I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Ayushi Ajay Mundhada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Sayali Sangole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Piyush Dave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Kumud Kundan Patil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Amanveer Pratap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Jaffer Mydeen A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 err="1"/>
              <a:t>N.Ventaka</a:t>
            </a:r>
            <a:r>
              <a:rPr lang="en-IN" sz="1400" b="1" dirty="0"/>
              <a:t> Lakshmi</a:t>
            </a:r>
          </a:p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Tx/>
              <a:buSzTx/>
              <a:tabLst>
                <a:tab pos="927100" algn="l"/>
              </a:tabLst>
              <a:defRPr/>
            </a:pPr>
            <a:endParaRPr kumimoji="0" lang="en-IN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01E8F059-53E1-5F08-BFA9-45C6845A4E8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r>
              <a:rPr lang="en-US" dirty="0">
                <a:effectLst/>
              </a:rPr>
              <a:t>HR Analytics </a:t>
            </a:r>
            <a:endParaRPr lang="en-IN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2054AC-6CF6-9670-79D6-223B99D72924}"/>
              </a:ext>
            </a:extLst>
          </p:cNvPr>
          <p:cNvSpPr txBox="1"/>
          <p:nvPr/>
        </p:nvSpPr>
        <p:spPr>
          <a:xfrm>
            <a:off x="6172200" y="3199720"/>
            <a:ext cx="2838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Tools &amp; Technologies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D9DEE1-A29B-8D79-267E-5EAA48C67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942383"/>
            <a:ext cx="4876800" cy="1238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EB6844-2A10-8E1C-7C3C-DDF0BCCDC985}"/>
              </a:ext>
            </a:extLst>
          </p:cNvPr>
          <p:cNvSpPr txBox="1"/>
          <p:nvPr/>
        </p:nvSpPr>
        <p:spPr>
          <a:xfrm>
            <a:off x="6108065" y="1145119"/>
            <a:ext cx="2838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Overview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579DD-3A85-788D-B1D4-A7E8879DA543}"/>
              </a:ext>
            </a:extLst>
          </p:cNvPr>
          <p:cNvSpPr txBox="1"/>
          <p:nvPr/>
        </p:nvSpPr>
        <p:spPr>
          <a:xfrm>
            <a:off x="6172200" y="1640148"/>
            <a:ext cx="487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This project focuses on analyzing employee attrition, salary trends, and workforce performance.</a:t>
            </a:r>
          </a:p>
          <a:p>
            <a:pPr algn="just"/>
            <a:br>
              <a:rPr lang="en-US" sz="1400" dirty="0"/>
            </a:br>
            <a:r>
              <a:rPr lang="en-US" sz="1400" dirty="0"/>
              <a:t>The objective is to extract meaningful insights using SQL and present them through interactive dashboards in Power BI, Tableau, and Excel.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C5218-308E-BAFB-AFC6-F2919737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EB4E23AC-138C-779A-44A0-2325C5AF4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1917700" cy="52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100"/>
              </a:spcBef>
            </a:pPr>
            <a:r>
              <a:rPr lang="en-US" sz="3600" dirty="0"/>
              <a:t>A</a:t>
            </a:r>
            <a:r>
              <a:rPr lang="en-IN" sz="3600" dirty="0"/>
              <a:t>genda</a:t>
            </a:r>
            <a:endParaRPr sz="36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D736B6E-7DED-9C28-F5E4-D99EA10B1115}"/>
              </a:ext>
            </a:extLst>
          </p:cNvPr>
          <p:cNvSpPr txBox="1"/>
          <p:nvPr/>
        </p:nvSpPr>
        <p:spPr>
          <a:xfrm>
            <a:off x="339024" y="893413"/>
            <a:ext cx="3563752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1C711"/>
                </a:solidFill>
                <a:latin typeface="Segoe UI Semibold"/>
                <a:cs typeface="Segoe UI Semibold"/>
              </a:rPr>
              <a:t>P</a:t>
            </a:r>
            <a:r>
              <a:rPr lang="en-US" sz="2700" b="1" dirty="0">
                <a:solidFill>
                  <a:srgbClr val="F1C711"/>
                </a:solidFill>
                <a:latin typeface="Segoe UI Semibold"/>
                <a:cs typeface="Segoe UI Semibold"/>
              </a:rPr>
              <a:t>resentation Outline</a:t>
            </a:r>
            <a:endParaRPr sz="2700" dirty="0">
              <a:latin typeface="Segoe UI Semibold"/>
              <a:cs typeface="Segoe UI Semibold"/>
            </a:endParaRPr>
          </a:p>
        </p:txBody>
      </p:sp>
      <p:grpSp>
        <p:nvGrpSpPr>
          <p:cNvPr id="2" name="object 13">
            <a:extLst>
              <a:ext uri="{FF2B5EF4-FFF2-40B4-BE49-F238E27FC236}">
                <a16:creationId xmlns:a16="http://schemas.microsoft.com/office/drawing/2014/main" id="{44884FD7-7E08-BEBC-B91D-9D5900CA8560}"/>
              </a:ext>
            </a:extLst>
          </p:cNvPr>
          <p:cNvGrpSpPr/>
          <p:nvPr/>
        </p:nvGrpSpPr>
        <p:grpSpPr>
          <a:xfrm>
            <a:off x="328026" y="1370806"/>
            <a:ext cx="4829493" cy="729173"/>
            <a:chOff x="7058024" y="4286251"/>
            <a:chExt cx="4829493" cy="1257499"/>
          </a:xfrm>
        </p:grpSpPr>
        <p:sp>
          <p:nvSpPr>
            <p:cNvPr id="3" name="object 14">
              <a:extLst>
                <a:ext uri="{FF2B5EF4-FFF2-40B4-BE49-F238E27FC236}">
                  <a16:creationId xmlns:a16="http://schemas.microsoft.com/office/drawing/2014/main" id="{1ADCA808-11DE-07D1-819D-2A7B865C2A98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15">
              <a:extLst>
                <a:ext uri="{FF2B5EF4-FFF2-40B4-BE49-F238E27FC236}">
                  <a16:creationId xmlns:a16="http://schemas.microsoft.com/office/drawing/2014/main" id="{EB38A0F7-36FE-5044-97F4-2A504F3BBD0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13">
            <a:extLst>
              <a:ext uri="{FF2B5EF4-FFF2-40B4-BE49-F238E27FC236}">
                <a16:creationId xmlns:a16="http://schemas.microsoft.com/office/drawing/2014/main" id="{54936E0D-50F7-A18F-79E8-37198EEAB9BE}"/>
              </a:ext>
            </a:extLst>
          </p:cNvPr>
          <p:cNvGrpSpPr/>
          <p:nvPr/>
        </p:nvGrpSpPr>
        <p:grpSpPr>
          <a:xfrm>
            <a:off x="328026" y="2236925"/>
            <a:ext cx="4829175" cy="729058"/>
            <a:chOff x="7058024" y="4286249"/>
            <a:chExt cx="4829175" cy="1257300"/>
          </a:xfrm>
        </p:grpSpPr>
        <p:sp>
          <p:nvSpPr>
            <p:cNvPr id="26" name="object 14">
              <a:extLst>
                <a:ext uri="{FF2B5EF4-FFF2-40B4-BE49-F238E27FC236}">
                  <a16:creationId xmlns:a16="http://schemas.microsoft.com/office/drawing/2014/main" id="{62FFA4EF-EC56-9447-9F1A-7B3C04285E22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5">
              <a:extLst>
                <a:ext uri="{FF2B5EF4-FFF2-40B4-BE49-F238E27FC236}">
                  <a16:creationId xmlns:a16="http://schemas.microsoft.com/office/drawing/2014/main" id="{2A5D8356-D7A8-F705-0243-58EF1F4F3B6E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13">
            <a:extLst>
              <a:ext uri="{FF2B5EF4-FFF2-40B4-BE49-F238E27FC236}">
                <a16:creationId xmlns:a16="http://schemas.microsoft.com/office/drawing/2014/main" id="{D325BB62-8A7B-D2D7-8737-5B54417BCAC3}"/>
              </a:ext>
            </a:extLst>
          </p:cNvPr>
          <p:cNvGrpSpPr/>
          <p:nvPr/>
        </p:nvGrpSpPr>
        <p:grpSpPr>
          <a:xfrm>
            <a:off x="339024" y="3102926"/>
            <a:ext cx="4829175" cy="729058"/>
            <a:chOff x="7058024" y="4286249"/>
            <a:chExt cx="4829175" cy="1257300"/>
          </a:xfrm>
        </p:grpSpPr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505E91E5-0857-CF8F-AA32-17E03CB55418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5">
              <a:extLst>
                <a:ext uri="{FF2B5EF4-FFF2-40B4-BE49-F238E27FC236}">
                  <a16:creationId xmlns:a16="http://schemas.microsoft.com/office/drawing/2014/main" id="{7B3A0AA6-C61A-ED04-DC04-3C68FFD41FA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13">
            <a:extLst>
              <a:ext uri="{FF2B5EF4-FFF2-40B4-BE49-F238E27FC236}">
                <a16:creationId xmlns:a16="http://schemas.microsoft.com/office/drawing/2014/main" id="{E4257EB4-0557-AE79-932E-D880BF633F0C}"/>
              </a:ext>
            </a:extLst>
          </p:cNvPr>
          <p:cNvGrpSpPr/>
          <p:nvPr/>
        </p:nvGrpSpPr>
        <p:grpSpPr>
          <a:xfrm>
            <a:off x="339024" y="3968810"/>
            <a:ext cx="4829175" cy="729058"/>
            <a:chOff x="7058024" y="4286249"/>
            <a:chExt cx="4829175" cy="1257300"/>
          </a:xfrm>
        </p:grpSpPr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9E744F8D-C024-98DD-4160-9C6D6D3E6ECA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0E44A444-00C3-6F6D-D5E5-66122D0FB597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13">
            <a:extLst>
              <a:ext uri="{FF2B5EF4-FFF2-40B4-BE49-F238E27FC236}">
                <a16:creationId xmlns:a16="http://schemas.microsoft.com/office/drawing/2014/main" id="{FBC4D855-D650-2E01-4D8B-66596060440D}"/>
              </a:ext>
            </a:extLst>
          </p:cNvPr>
          <p:cNvGrpSpPr/>
          <p:nvPr/>
        </p:nvGrpSpPr>
        <p:grpSpPr>
          <a:xfrm>
            <a:off x="328026" y="5690874"/>
            <a:ext cx="4829175" cy="729058"/>
            <a:chOff x="7058024" y="4286249"/>
            <a:chExt cx="4829175" cy="1257300"/>
          </a:xfrm>
        </p:grpSpPr>
        <p:sp>
          <p:nvSpPr>
            <p:cNvPr id="37" name="object 14">
              <a:extLst>
                <a:ext uri="{FF2B5EF4-FFF2-40B4-BE49-F238E27FC236}">
                  <a16:creationId xmlns:a16="http://schemas.microsoft.com/office/drawing/2014/main" id="{A771119A-A633-35E5-ABED-35827AA05749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5">
              <a:extLst>
                <a:ext uri="{FF2B5EF4-FFF2-40B4-BE49-F238E27FC236}">
                  <a16:creationId xmlns:a16="http://schemas.microsoft.com/office/drawing/2014/main" id="{903ED3A8-054B-0D03-CAAE-07E170A7CCFF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13">
            <a:extLst>
              <a:ext uri="{FF2B5EF4-FFF2-40B4-BE49-F238E27FC236}">
                <a16:creationId xmlns:a16="http://schemas.microsoft.com/office/drawing/2014/main" id="{F4B38DD9-848B-912E-E8A9-306DBDB0450D}"/>
              </a:ext>
            </a:extLst>
          </p:cNvPr>
          <p:cNvGrpSpPr/>
          <p:nvPr/>
        </p:nvGrpSpPr>
        <p:grpSpPr>
          <a:xfrm>
            <a:off x="328026" y="4834577"/>
            <a:ext cx="4829175" cy="729058"/>
            <a:chOff x="7058024" y="4286249"/>
            <a:chExt cx="4829175" cy="1257300"/>
          </a:xfrm>
        </p:grpSpPr>
        <p:sp>
          <p:nvSpPr>
            <p:cNvPr id="40" name="object 14">
              <a:extLst>
                <a:ext uri="{FF2B5EF4-FFF2-40B4-BE49-F238E27FC236}">
                  <a16:creationId xmlns:a16="http://schemas.microsoft.com/office/drawing/2014/main" id="{2A5EA8CD-1C63-0CF3-1049-EC42670EF2AE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6E31E798-5F15-BD7B-2BD3-1C157F19EF1A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13">
            <a:extLst>
              <a:ext uri="{FF2B5EF4-FFF2-40B4-BE49-F238E27FC236}">
                <a16:creationId xmlns:a16="http://schemas.microsoft.com/office/drawing/2014/main" id="{081CB6D1-B6A1-27E8-F903-39A0270B4A08}"/>
              </a:ext>
            </a:extLst>
          </p:cNvPr>
          <p:cNvGrpSpPr/>
          <p:nvPr/>
        </p:nvGrpSpPr>
        <p:grpSpPr>
          <a:xfrm>
            <a:off x="5492794" y="1893773"/>
            <a:ext cx="4829175" cy="729058"/>
            <a:chOff x="7058024" y="4286249"/>
            <a:chExt cx="4829175" cy="1257300"/>
          </a:xfrm>
        </p:grpSpPr>
        <p:sp>
          <p:nvSpPr>
            <p:cNvPr id="46" name="object 14">
              <a:extLst>
                <a:ext uri="{FF2B5EF4-FFF2-40B4-BE49-F238E27FC236}">
                  <a16:creationId xmlns:a16="http://schemas.microsoft.com/office/drawing/2014/main" id="{4F85DA89-BC2C-79D9-A3A1-531FC9A0DE69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5">
              <a:extLst>
                <a:ext uri="{FF2B5EF4-FFF2-40B4-BE49-F238E27FC236}">
                  <a16:creationId xmlns:a16="http://schemas.microsoft.com/office/drawing/2014/main" id="{DEAF7A79-146B-4404-5361-637EA5A38065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13">
            <a:extLst>
              <a:ext uri="{FF2B5EF4-FFF2-40B4-BE49-F238E27FC236}">
                <a16:creationId xmlns:a16="http://schemas.microsoft.com/office/drawing/2014/main" id="{3DFF4C37-CC08-B7C0-BF28-602F80804D2F}"/>
              </a:ext>
            </a:extLst>
          </p:cNvPr>
          <p:cNvGrpSpPr/>
          <p:nvPr/>
        </p:nvGrpSpPr>
        <p:grpSpPr>
          <a:xfrm>
            <a:off x="5492794" y="2655773"/>
            <a:ext cx="4829175" cy="729058"/>
            <a:chOff x="7058024" y="4286249"/>
            <a:chExt cx="4829175" cy="1257300"/>
          </a:xfrm>
        </p:grpSpPr>
        <p:sp>
          <p:nvSpPr>
            <p:cNvPr id="49" name="object 14">
              <a:extLst>
                <a:ext uri="{FF2B5EF4-FFF2-40B4-BE49-F238E27FC236}">
                  <a16:creationId xmlns:a16="http://schemas.microsoft.com/office/drawing/2014/main" id="{EBA5CC89-C3A8-BB5F-34A6-0C59F769C956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5">
              <a:extLst>
                <a:ext uri="{FF2B5EF4-FFF2-40B4-BE49-F238E27FC236}">
                  <a16:creationId xmlns:a16="http://schemas.microsoft.com/office/drawing/2014/main" id="{FD8F3B7C-ED45-5865-1E7C-E55837023881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13">
            <a:extLst>
              <a:ext uri="{FF2B5EF4-FFF2-40B4-BE49-F238E27FC236}">
                <a16:creationId xmlns:a16="http://schemas.microsoft.com/office/drawing/2014/main" id="{8D3D042B-0632-1BC1-2638-725C30A4B969}"/>
              </a:ext>
            </a:extLst>
          </p:cNvPr>
          <p:cNvGrpSpPr/>
          <p:nvPr/>
        </p:nvGrpSpPr>
        <p:grpSpPr>
          <a:xfrm>
            <a:off x="5486400" y="3417773"/>
            <a:ext cx="4829175" cy="729058"/>
            <a:chOff x="7058024" y="4286249"/>
            <a:chExt cx="4829175" cy="1257300"/>
          </a:xfrm>
        </p:grpSpPr>
        <p:sp>
          <p:nvSpPr>
            <p:cNvPr id="52" name="object 14">
              <a:extLst>
                <a:ext uri="{FF2B5EF4-FFF2-40B4-BE49-F238E27FC236}">
                  <a16:creationId xmlns:a16="http://schemas.microsoft.com/office/drawing/2014/main" id="{FD7DF28F-A7B7-828E-DA0A-F461F40C6A70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5">
              <a:extLst>
                <a:ext uri="{FF2B5EF4-FFF2-40B4-BE49-F238E27FC236}">
                  <a16:creationId xmlns:a16="http://schemas.microsoft.com/office/drawing/2014/main" id="{EB77CF10-16C6-6C71-75DF-D499ACCEEA5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13">
            <a:extLst>
              <a:ext uri="{FF2B5EF4-FFF2-40B4-BE49-F238E27FC236}">
                <a16:creationId xmlns:a16="http://schemas.microsoft.com/office/drawing/2014/main" id="{A03A6691-2660-55B7-C86A-63FEB33BE58B}"/>
              </a:ext>
            </a:extLst>
          </p:cNvPr>
          <p:cNvGrpSpPr/>
          <p:nvPr/>
        </p:nvGrpSpPr>
        <p:grpSpPr>
          <a:xfrm>
            <a:off x="5492794" y="4199437"/>
            <a:ext cx="4829175" cy="729058"/>
            <a:chOff x="7058024" y="4286249"/>
            <a:chExt cx="4829175" cy="1257300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19A4F5A9-50A1-E2BF-83BF-42246CD4992B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BAA997A1-35C5-DE83-7527-043EC0631227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13">
            <a:extLst>
              <a:ext uri="{FF2B5EF4-FFF2-40B4-BE49-F238E27FC236}">
                <a16:creationId xmlns:a16="http://schemas.microsoft.com/office/drawing/2014/main" id="{EDB9D62A-E0FC-D3DB-E483-2533C9FDA3A3}"/>
              </a:ext>
            </a:extLst>
          </p:cNvPr>
          <p:cNvGrpSpPr/>
          <p:nvPr/>
        </p:nvGrpSpPr>
        <p:grpSpPr>
          <a:xfrm>
            <a:off x="5492794" y="5747148"/>
            <a:ext cx="4829175" cy="729058"/>
            <a:chOff x="7058024" y="4286249"/>
            <a:chExt cx="4829175" cy="1257300"/>
          </a:xfrm>
        </p:grpSpPr>
        <p:sp>
          <p:nvSpPr>
            <p:cNvPr id="58" name="object 14">
              <a:extLst>
                <a:ext uri="{FF2B5EF4-FFF2-40B4-BE49-F238E27FC236}">
                  <a16:creationId xmlns:a16="http://schemas.microsoft.com/office/drawing/2014/main" id="{4E7DDE8F-6092-BF28-3932-C63BBB89BECA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5">
              <a:extLst>
                <a:ext uri="{FF2B5EF4-FFF2-40B4-BE49-F238E27FC236}">
                  <a16:creationId xmlns:a16="http://schemas.microsoft.com/office/drawing/2014/main" id="{0AE43AA9-0E87-20DA-29A8-860DCFB4E594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13">
            <a:extLst>
              <a:ext uri="{FF2B5EF4-FFF2-40B4-BE49-F238E27FC236}">
                <a16:creationId xmlns:a16="http://schemas.microsoft.com/office/drawing/2014/main" id="{7433CA26-EFD3-34C4-AA1E-F41CB942CBDC}"/>
              </a:ext>
            </a:extLst>
          </p:cNvPr>
          <p:cNvGrpSpPr/>
          <p:nvPr/>
        </p:nvGrpSpPr>
        <p:grpSpPr>
          <a:xfrm>
            <a:off x="5499188" y="4985148"/>
            <a:ext cx="4829175" cy="729058"/>
            <a:chOff x="7058024" y="4286249"/>
            <a:chExt cx="4829175" cy="1257300"/>
          </a:xfrm>
        </p:grpSpPr>
        <p:sp>
          <p:nvSpPr>
            <p:cNvPr id="61" name="object 14">
              <a:extLst>
                <a:ext uri="{FF2B5EF4-FFF2-40B4-BE49-F238E27FC236}">
                  <a16:creationId xmlns:a16="http://schemas.microsoft.com/office/drawing/2014/main" id="{FE69A747-E2DB-2163-2394-D794ECF6A2C0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5">
              <a:extLst>
                <a:ext uri="{FF2B5EF4-FFF2-40B4-BE49-F238E27FC236}">
                  <a16:creationId xmlns:a16="http://schemas.microsoft.com/office/drawing/2014/main" id="{5668B557-DB9A-D6A9-716F-902E0E94879D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8FD4D9E-F916-CDF2-EA9E-139AC49A6791}"/>
              </a:ext>
            </a:extLst>
          </p:cNvPr>
          <p:cNvSpPr txBox="1"/>
          <p:nvPr/>
        </p:nvSpPr>
        <p:spPr>
          <a:xfrm>
            <a:off x="411414" y="150306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Project Overview</a:t>
            </a:r>
            <a:endParaRPr lang="en-I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1E6F02-8760-2367-8CAF-5510DC4D315B}"/>
              </a:ext>
            </a:extLst>
          </p:cNvPr>
          <p:cNvSpPr txBox="1"/>
          <p:nvPr/>
        </p:nvSpPr>
        <p:spPr>
          <a:xfrm>
            <a:off x="390204" y="2387472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A</a:t>
            </a:r>
            <a:r>
              <a:rPr lang="en-IN" b="1" dirty="0"/>
              <a:t>genda</a:t>
            </a:r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1589CD-2645-7661-8C99-3315687DB39E}"/>
              </a:ext>
            </a:extLst>
          </p:cNvPr>
          <p:cNvSpPr txBox="1"/>
          <p:nvPr/>
        </p:nvSpPr>
        <p:spPr>
          <a:xfrm>
            <a:off x="400849" y="3149196"/>
            <a:ext cx="349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KPI 1 – Attrition Rate by Department</a:t>
            </a:r>
            <a:endParaRPr lang="en-IN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8C4A1-8E52-4D06-15E5-6D41CB732CA4}"/>
              </a:ext>
            </a:extLst>
          </p:cNvPr>
          <p:cNvSpPr txBox="1"/>
          <p:nvPr/>
        </p:nvSpPr>
        <p:spPr>
          <a:xfrm>
            <a:off x="427141" y="4019135"/>
            <a:ext cx="349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dirty="0"/>
              <a:t>4. KPI 2 – </a:t>
            </a:r>
            <a:r>
              <a:rPr lang="en-US" b="1" dirty="0"/>
              <a:t>Average Hourly Rate by Research Scientist</a:t>
            </a:r>
            <a:endParaRPr lang="en-IN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23C3FC-00B8-5B82-D24C-5D0089776742}"/>
              </a:ext>
            </a:extLst>
          </p:cNvPr>
          <p:cNvSpPr txBox="1"/>
          <p:nvPr/>
        </p:nvSpPr>
        <p:spPr>
          <a:xfrm>
            <a:off x="400416" y="4831817"/>
            <a:ext cx="4289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KPI 3 – Attrition by Income Category</a:t>
            </a:r>
            <a:endParaRPr lang="en-IN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951ED4-EA14-402D-37D7-B56DC6D8326C}"/>
              </a:ext>
            </a:extLst>
          </p:cNvPr>
          <p:cNvSpPr txBox="1"/>
          <p:nvPr/>
        </p:nvSpPr>
        <p:spPr>
          <a:xfrm>
            <a:off x="411414" y="5732237"/>
            <a:ext cx="430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6. KPI 4 – </a:t>
            </a:r>
            <a:r>
              <a:rPr lang="en-US" b="1" dirty="0"/>
              <a:t>Avg Working Years by Department</a:t>
            </a:r>
            <a:endParaRPr lang="en-IN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30C4DC-765F-4E69-2CA0-25A55135A560}"/>
              </a:ext>
            </a:extLst>
          </p:cNvPr>
          <p:cNvSpPr txBox="1"/>
          <p:nvPr/>
        </p:nvSpPr>
        <p:spPr>
          <a:xfrm>
            <a:off x="5593173" y="2073695"/>
            <a:ext cx="430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9. Power BI Dashboard Overview</a:t>
            </a:r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C367B4-AAB8-B6F9-D673-266DC4EE259D}"/>
              </a:ext>
            </a:extLst>
          </p:cNvPr>
          <p:cNvSpPr txBox="1"/>
          <p:nvPr/>
        </p:nvSpPr>
        <p:spPr>
          <a:xfrm>
            <a:off x="5588997" y="2825715"/>
            <a:ext cx="430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10. SQL Queries Used</a:t>
            </a:r>
            <a:endParaRPr lang="en-IN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23C292-5376-2E0C-2A78-342003643819}"/>
              </a:ext>
            </a:extLst>
          </p:cNvPr>
          <p:cNvSpPr txBox="1"/>
          <p:nvPr/>
        </p:nvSpPr>
        <p:spPr>
          <a:xfrm>
            <a:off x="5601226" y="3602657"/>
            <a:ext cx="430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11. Tableau Dashboard Overview</a:t>
            </a:r>
            <a:endParaRPr lang="en-IN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7C5A03-EFB1-4B0F-DB37-59D2502C3670}"/>
              </a:ext>
            </a:extLst>
          </p:cNvPr>
          <p:cNvSpPr txBox="1"/>
          <p:nvPr/>
        </p:nvSpPr>
        <p:spPr>
          <a:xfrm>
            <a:off x="5601226" y="4350244"/>
            <a:ext cx="430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12. Excel Dashboard Overview</a:t>
            </a:r>
            <a:endParaRPr lang="en-IN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3FB602-BB6E-D53C-B41B-02F43596E7A3}"/>
              </a:ext>
            </a:extLst>
          </p:cNvPr>
          <p:cNvSpPr txBox="1"/>
          <p:nvPr/>
        </p:nvSpPr>
        <p:spPr>
          <a:xfrm>
            <a:off x="5582576" y="5026511"/>
            <a:ext cx="4967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13. Business Conclusions &amp;                    Recommendations</a:t>
            </a:r>
            <a:endParaRPr lang="en-IN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DB2A85-A77D-4B00-4D4A-D171FC3DEAC7}"/>
              </a:ext>
            </a:extLst>
          </p:cNvPr>
          <p:cNvSpPr txBox="1"/>
          <p:nvPr/>
        </p:nvSpPr>
        <p:spPr>
          <a:xfrm>
            <a:off x="5588997" y="5747031"/>
            <a:ext cx="430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14. Challenges Faced &amp; How We Overcame Them</a:t>
            </a:r>
            <a:endParaRPr lang="en-IN" dirty="0"/>
          </a:p>
        </p:txBody>
      </p:sp>
      <p:sp>
        <p:nvSpPr>
          <p:cNvPr id="75" name="object 22">
            <a:extLst>
              <a:ext uri="{FF2B5EF4-FFF2-40B4-BE49-F238E27FC236}">
                <a16:creationId xmlns:a16="http://schemas.microsoft.com/office/drawing/2014/main" id="{DA530838-E094-024E-422B-D76C833E7C0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5240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r>
              <a:rPr lang="en-US" dirty="0"/>
              <a:t>HR Analytics</a:t>
            </a:r>
            <a:endParaRPr lang="en-IN" dirty="0">
              <a:effectLst/>
            </a:endParaRPr>
          </a:p>
        </p:txBody>
      </p:sp>
      <p:grpSp>
        <p:nvGrpSpPr>
          <p:cNvPr id="5" name="object 13">
            <a:extLst>
              <a:ext uri="{FF2B5EF4-FFF2-40B4-BE49-F238E27FC236}">
                <a16:creationId xmlns:a16="http://schemas.microsoft.com/office/drawing/2014/main" id="{88240B46-33C7-6DC7-9116-73B2BDE16C0F}"/>
              </a:ext>
            </a:extLst>
          </p:cNvPr>
          <p:cNvGrpSpPr/>
          <p:nvPr/>
        </p:nvGrpSpPr>
        <p:grpSpPr>
          <a:xfrm>
            <a:off x="5492794" y="1131773"/>
            <a:ext cx="4829175" cy="729058"/>
            <a:chOff x="7058024" y="4286249"/>
            <a:chExt cx="4829175" cy="125730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A28B81DB-BAD6-7DCD-8B6F-25E523580F03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5">
              <a:extLst>
                <a:ext uri="{FF2B5EF4-FFF2-40B4-BE49-F238E27FC236}">
                  <a16:creationId xmlns:a16="http://schemas.microsoft.com/office/drawing/2014/main" id="{8EB586CD-69CB-B660-28DA-5CFF406CA4FB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7875488-70E3-3DE6-47F0-628CCC711215}"/>
              </a:ext>
            </a:extLst>
          </p:cNvPr>
          <p:cNvSpPr txBox="1"/>
          <p:nvPr/>
        </p:nvSpPr>
        <p:spPr>
          <a:xfrm>
            <a:off x="5593173" y="1207973"/>
            <a:ext cx="430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8. KPI 6 – </a:t>
            </a:r>
            <a:r>
              <a:rPr lang="en-US" b="1" dirty="0"/>
              <a:t>Attrition vs Years Since Promotion</a:t>
            </a:r>
            <a:endParaRPr lang="en-IN" dirty="0"/>
          </a:p>
        </p:txBody>
      </p:sp>
      <p:grpSp>
        <p:nvGrpSpPr>
          <p:cNvPr id="11" name="object 13">
            <a:extLst>
              <a:ext uri="{FF2B5EF4-FFF2-40B4-BE49-F238E27FC236}">
                <a16:creationId xmlns:a16="http://schemas.microsoft.com/office/drawing/2014/main" id="{2DCE2BB8-1D28-0739-2442-38FE4B54A443}"/>
              </a:ext>
            </a:extLst>
          </p:cNvPr>
          <p:cNvGrpSpPr/>
          <p:nvPr/>
        </p:nvGrpSpPr>
        <p:grpSpPr>
          <a:xfrm>
            <a:off x="5492794" y="369773"/>
            <a:ext cx="4829175" cy="729058"/>
            <a:chOff x="7058024" y="4286249"/>
            <a:chExt cx="4829175" cy="125730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440AE757-7E7A-17D0-E1C4-C9A8A212825F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8CAAF33A-B865-15D7-DA59-0246C4DB8543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26C97E9-E389-DCD6-2127-0D753F6EA4D2}"/>
              </a:ext>
            </a:extLst>
          </p:cNvPr>
          <p:cNvSpPr txBox="1"/>
          <p:nvPr/>
        </p:nvSpPr>
        <p:spPr>
          <a:xfrm>
            <a:off x="5593173" y="445973"/>
            <a:ext cx="430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7. KPI 5 – </a:t>
            </a:r>
            <a:r>
              <a:rPr lang="en-US" b="1" dirty="0"/>
              <a:t>Work-Life Balance by Job Role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171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E5D7C-A1C0-541E-86EB-0388A318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36F6EA7B-6A66-C0CD-EC2B-71536A101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1 – Attrition Rate by Department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D84C48DB-9B75-A349-9FA0-35E52A05BBB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4039ECC-44C4-F8D8-E82C-AAA8CB95E78C}"/>
              </a:ext>
            </a:extLst>
          </p:cNvPr>
          <p:cNvGrpSpPr/>
          <p:nvPr/>
        </p:nvGrpSpPr>
        <p:grpSpPr>
          <a:xfrm>
            <a:off x="6701790" y="1678664"/>
            <a:ext cx="5033010" cy="2206742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F230276C-3F27-36D5-26FA-C5D6150AF3FC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A5661017-ED5A-53CB-FAFA-68C9F0B450AE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CD6A231-8014-D0D1-70CD-A106E5F4C3C2}"/>
              </a:ext>
            </a:extLst>
          </p:cNvPr>
          <p:cNvSpPr txBox="1"/>
          <p:nvPr/>
        </p:nvSpPr>
        <p:spPr>
          <a:xfrm>
            <a:off x="6941026" y="1831064"/>
            <a:ext cx="45304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Key Observations</a:t>
            </a:r>
          </a:p>
          <a:p>
            <a:pPr algn="just"/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Sales and HR departments show higher attrition rates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R&amp;D and Software departments have relatively stable employees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Department workload and pressure may influence attrition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73F5C49D-659E-3F3E-B0FD-EE1271FC3041}"/>
              </a:ext>
            </a:extLst>
          </p:cNvPr>
          <p:cNvGrpSpPr/>
          <p:nvPr/>
        </p:nvGrpSpPr>
        <p:grpSpPr>
          <a:xfrm>
            <a:off x="6701791" y="4243733"/>
            <a:ext cx="5033009" cy="1407668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FE31C285-1889-4364-6DE1-1AEA1B8EC06D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31561105-95D8-12AF-E47A-6386ECFC817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B06D0A3-7FF3-0ED0-03F4-20B8A3736D2B}"/>
              </a:ext>
            </a:extLst>
          </p:cNvPr>
          <p:cNvSpPr txBox="1"/>
          <p:nvPr/>
        </p:nvSpPr>
        <p:spPr>
          <a:xfrm>
            <a:off x="6941026" y="4266406"/>
            <a:ext cx="44889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/>
              <a:t>Business Insight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High attrition in certain departments indicates role-specific challenges like workload and pressure.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Targeted retention strategies and better management support can reduce employee turnover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CAB40-7902-4EE5-BE8D-D1B36FF2D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06148"/>
            <a:ext cx="5715759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86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A4DA1-E735-2E09-DD7A-3173D608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E7A1694F-C7DD-D6D1-3738-75DB99C59E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2 – KPI 2: Avg Hourly Rate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1B33E12A-6371-DF48-90AE-AEFF2076669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BF16135F-5CF6-2B71-D3C6-36466B6F5D1E}"/>
              </a:ext>
            </a:extLst>
          </p:cNvPr>
          <p:cNvGrpSpPr/>
          <p:nvPr/>
        </p:nvGrpSpPr>
        <p:grpSpPr>
          <a:xfrm>
            <a:off x="6701790" y="1678664"/>
            <a:ext cx="5033010" cy="2054342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40BC4515-D3D2-0052-8953-9A292A11FED9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CA180A09-C1C6-3B2A-774A-FADCDB5ED6A7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2504DC4-1768-FB50-2AAF-AA530F4A4974}"/>
              </a:ext>
            </a:extLst>
          </p:cNvPr>
          <p:cNvSpPr txBox="1"/>
          <p:nvPr/>
        </p:nvSpPr>
        <p:spPr>
          <a:xfrm>
            <a:off x="6941026" y="1831064"/>
            <a:ext cx="45304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Average hourly rate varies significantly across job roles and departments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Higher-paying roles generally show better retention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Some roles may be underpaid compared to workload.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78B46019-7AE8-F6E4-B896-878558F8BABA}"/>
              </a:ext>
            </a:extLst>
          </p:cNvPr>
          <p:cNvGrpSpPr/>
          <p:nvPr/>
        </p:nvGrpSpPr>
        <p:grpSpPr>
          <a:xfrm>
            <a:off x="6701791" y="4243733"/>
            <a:ext cx="5033009" cy="1231106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BCED0331-9E13-4D68-08DB-DDB4D1EF6FE8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7F940B38-A5BB-350E-C4A8-6EADABDDE2DE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DEF74DD-E27E-B725-3FC2-62D62550F95C}"/>
              </a:ext>
            </a:extLst>
          </p:cNvPr>
          <p:cNvSpPr txBox="1"/>
          <p:nvPr/>
        </p:nvSpPr>
        <p:spPr>
          <a:xfrm>
            <a:off x="6941026" y="42664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Differences in pay across roles may lead to dissatisfaction and higher attrition.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Ensuring fair and competitive salaries can improve motivation and retention.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5F70C-9DC9-468E-A904-6CA5F3073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30" y="1848025"/>
            <a:ext cx="5447927" cy="349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15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70FAB-235E-C53C-EE37-1A2FDFB8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D0EC0263-5890-8A63-5F41-6F6ECB411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3 – </a:t>
            </a:r>
            <a:r>
              <a:rPr lang="en-IN" dirty="0"/>
              <a:t>Attrition by Income Category</a:t>
            </a:r>
            <a:endParaRPr lang="en-US" dirty="0"/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8397D85E-0835-4D50-A7BB-B9EED5D7B8A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EF303725-9006-5A91-77C6-2439860819E3}"/>
              </a:ext>
            </a:extLst>
          </p:cNvPr>
          <p:cNvGrpSpPr/>
          <p:nvPr/>
        </p:nvGrpSpPr>
        <p:grpSpPr>
          <a:xfrm>
            <a:off x="6701790" y="1678664"/>
            <a:ext cx="5033010" cy="1978142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BC8947DC-A978-BEE2-C630-1B79937513EF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681221F0-5869-F8C8-7EEB-F66B9E737852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DD65FE1-AA26-445A-D620-F819D60C1ED1}"/>
              </a:ext>
            </a:extLst>
          </p:cNvPr>
          <p:cNvSpPr txBox="1"/>
          <p:nvPr/>
        </p:nvSpPr>
        <p:spPr>
          <a:xfrm>
            <a:off x="6941026" y="1831064"/>
            <a:ext cx="453040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Employees in the low-income category have the highest attrition rate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Medium-income group shows moderate attrition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High-income employees are more stable and less likely to leave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28BD5A62-D8A7-AEC8-830F-F537DD289049}"/>
              </a:ext>
            </a:extLst>
          </p:cNvPr>
          <p:cNvGrpSpPr/>
          <p:nvPr/>
        </p:nvGrpSpPr>
        <p:grpSpPr>
          <a:xfrm>
            <a:off x="6701791" y="4243733"/>
            <a:ext cx="5033009" cy="1318073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312C10-A5DD-81C9-C7C2-9F51ED7948E5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0FB6A8F7-D3BC-B8DD-AE13-86347EFBC6F7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B435CF6-FB51-8D44-B724-4635AA260988}"/>
              </a:ext>
            </a:extLst>
          </p:cNvPr>
          <p:cNvSpPr txBox="1"/>
          <p:nvPr/>
        </p:nvSpPr>
        <p:spPr>
          <a:xfrm>
            <a:off x="6941026" y="43426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Higher attrition in low-income groups shows salary is a key factor in employee exits.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Improving compensation and benefits can help retain employees.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D26D3-6819-42E6-AB57-A1E649A1A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80" y="1831064"/>
            <a:ext cx="5147377" cy="362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24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A1BA8-E155-B1CB-B676-0D300D8A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D9F3E58C-13EE-A2C6-DD29-A70C597134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4 – Average Working Years by Department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19BE1767-6743-4CFE-D1C0-C7B07948280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21A06E5E-C340-B05D-E7FE-88697E110353}"/>
              </a:ext>
            </a:extLst>
          </p:cNvPr>
          <p:cNvGrpSpPr/>
          <p:nvPr/>
        </p:nvGrpSpPr>
        <p:grpSpPr>
          <a:xfrm>
            <a:off x="6701790" y="1678664"/>
            <a:ext cx="5033010" cy="2130542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92D61F34-AD84-0228-1F35-827AC773C369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B727C905-1F10-0AE2-958C-260D574BB171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D9D034F-DD62-F634-7E92-2CD8ACE7F6BB}"/>
              </a:ext>
            </a:extLst>
          </p:cNvPr>
          <p:cNvSpPr txBox="1"/>
          <p:nvPr/>
        </p:nvSpPr>
        <p:spPr>
          <a:xfrm>
            <a:off x="6941026" y="1831064"/>
            <a:ext cx="45304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Some departments have higher average tenure, indicating strong retention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Others show lower tenure, suggesting frequent employee exits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Experience level varies significantly across departments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16EA8EE0-B9AC-837E-5621-C37B539C7210}"/>
              </a:ext>
            </a:extLst>
          </p:cNvPr>
          <p:cNvGrpSpPr/>
          <p:nvPr/>
        </p:nvGrpSpPr>
        <p:grpSpPr>
          <a:xfrm>
            <a:off x="6701791" y="4243733"/>
            <a:ext cx="5033009" cy="1231106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2A32CBEC-16A2-B563-8D5E-F9CB42389B5D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F2A2496-0452-893E-08FC-DAE57A48D590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033A275-099D-677C-3A3B-45B2115A0063}"/>
              </a:ext>
            </a:extLst>
          </p:cNvPr>
          <p:cNvSpPr txBox="1"/>
          <p:nvPr/>
        </p:nvSpPr>
        <p:spPr>
          <a:xfrm>
            <a:off x="6941026" y="43426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Departments with higher tenure reflect better work environment and management.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Adopting similar practices can improve retention across the organization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706121-ECF5-40DD-B86F-D8BE4F48E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80406"/>
            <a:ext cx="5371395" cy="328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83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75DBB-F499-1360-AA8F-7B42C940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16CABA04-7438-490B-29CC-50501AA1FA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5 – Work-Life Balance by Job Role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9D64FE43-CA98-5F0E-B319-C6898017BEC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7584B3A5-69D2-904F-260E-1791CF410625}"/>
              </a:ext>
            </a:extLst>
          </p:cNvPr>
          <p:cNvGrpSpPr/>
          <p:nvPr/>
        </p:nvGrpSpPr>
        <p:grpSpPr>
          <a:xfrm>
            <a:off x="6701790" y="1678664"/>
            <a:ext cx="5033010" cy="2455656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DC950457-A18A-CC2B-1BBE-4D08562754AF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A0D72223-004C-D238-0F6A-43A82BBE7F7D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CA5A14D-2FDD-A042-CEA5-9465EDF9F126}"/>
              </a:ext>
            </a:extLst>
          </p:cNvPr>
          <p:cNvSpPr txBox="1"/>
          <p:nvPr/>
        </p:nvSpPr>
        <p:spPr>
          <a:xfrm>
            <a:off x="6941026" y="1831064"/>
            <a:ext cx="453040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Work-life balance varies significantly across job roles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Some roles experience high stress and lower satisfaction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Customer satisfaction is strongly linked to delivery </a:t>
            </a:r>
            <a:r>
              <a:rPr lang="en-US" sz="1400" dirty="0"/>
              <a:t>Balanced roles show better retention and productivity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F8A261A4-6753-2AEC-AEB7-BEAAE17AB4E0}"/>
              </a:ext>
            </a:extLst>
          </p:cNvPr>
          <p:cNvGrpSpPr/>
          <p:nvPr/>
        </p:nvGrpSpPr>
        <p:grpSpPr>
          <a:xfrm>
            <a:off x="6669709" y="4243733"/>
            <a:ext cx="5033009" cy="1231106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8132DB90-69B5-C61B-0069-BEB61E643369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69D66E2F-AED5-F82C-2ECE-09D7886E2920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E847F7D-AA7D-1E7A-5665-7C0F1E5698A1}"/>
              </a:ext>
            </a:extLst>
          </p:cNvPr>
          <p:cNvSpPr txBox="1"/>
          <p:nvPr/>
        </p:nvSpPr>
        <p:spPr>
          <a:xfrm>
            <a:off x="6941026" y="43426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Poor work-life balance leads to stress and increased attrition.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Flexible work policies can improve employee satisfaction and productivity.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6D84B9-354E-435F-AA52-4884F173D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71" y="1904206"/>
            <a:ext cx="5377983" cy="339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43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68247-C6D3-7660-A186-E5B31BD3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7CF7F78D-C360-2C12-045B-70294A6BEC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6 – Attrition vs Years Since Last Promotion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C9A335CE-1DD4-AE65-3D5F-DFEEA697C17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CEF2B33F-0065-39A6-A195-6AFF97A25A00}"/>
              </a:ext>
            </a:extLst>
          </p:cNvPr>
          <p:cNvGrpSpPr/>
          <p:nvPr/>
        </p:nvGrpSpPr>
        <p:grpSpPr>
          <a:xfrm>
            <a:off x="6701790" y="1599406"/>
            <a:ext cx="5033010" cy="2455656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4608AB4A-D535-A2FF-80DC-386225004BAF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0CB2D27C-CBF5-ADA9-F73D-29F5243F7EC2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8F29B97-25C3-0466-57E0-4E44CEDCD988}"/>
              </a:ext>
            </a:extLst>
          </p:cNvPr>
          <p:cNvSpPr txBox="1"/>
          <p:nvPr/>
        </p:nvSpPr>
        <p:spPr>
          <a:xfrm>
            <a:off x="6941026" y="1831064"/>
            <a:ext cx="45304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Employees with longer gaps since last promotion have higher attrition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Recently promoted employees show higher retention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Career stagnation is a major reason for employee exits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09CBAE3A-9C2F-BB4C-8974-98AD24880704}"/>
              </a:ext>
            </a:extLst>
          </p:cNvPr>
          <p:cNvGrpSpPr/>
          <p:nvPr/>
        </p:nvGrpSpPr>
        <p:grpSpPr>
          <a:xfrm>
            <a:off x="6669709" y="4243733"/>
            <a:ext cx="5033009" cy="1231106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F147EA91-7089-8128-0BA1-E5531E5F4AB3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D19B8672-C825-835A-26F3-5EC72BE1FB40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727D1CC-0948-F302-35D4-76C32F2B0D45}"/>
              </a:ext>
            </a:extLst>
          </p:cNvPr>
          <p:cNvSpPr txBox="1"/>
          <p:nvPr/>
        </p:nvSpPr>
        <p:spPr>
          <a:xfrm>
            <a:off x="6941026" y="43426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Employees without promotions are more likely to leave.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Providing career growth opportunities helps retain talent.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60F033-02A9-467D-ABF2-E2E8E63F0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25" y="1756326"/>
            <a:ext cx="5203975" cy="371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32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F4793D-587A-4B1B-FAA7-9DAA9ACC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071449BA-5F19-BF20-D1B0-9943480A8B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Power BI Dashboard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C0EA96ED-215C-6115-9E62-AA6BE81ECC9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2168B-D1E5-48F9-A6A5-30B38A90A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3606"/>
            <a:ext cx="11887200" cy="593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66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C3705-D027-9CF6-C588-D5B83770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371E178D-2320-8892-9F8D-8998BA309C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SQL Queries Used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3E72F834-5192-709E-5B1D-A829B0982A1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1DEDF4-5C65-4A06-3AD8-3199BBC0101A}"/>
              </a:ext>
            </a:extLst>
          </p:cNvPr>
          <p:cNvSpPr txBox="1"/>
          <p:nvPr/>
        </p:nvSpPr>
        <p:spPr>
          <a:xfrm>
            <a:off x="339024" y="1066006"/>
            <a:ext cx="11395776" cy="224676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#KPI1 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KPI1 AS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Department,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ROUND(SUM(CASE WHEN Attrition = 'Yes' THEN 1 ELSE 0 END) * 100.0 / COUNT(*), 2    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Attrition_Rate_Percentage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Department;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KPI1;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D3BB3-263F-BAC8-133B-222A9A7EB0F2}"/>
              </a:ext>
            </a:extLst>
          </p:cNvPr>
          <p:cNvSpPr txBox="1"/>
          <p:nvPr/>
        </p:nvSpPr>
        <p:spPr>
          <a:xfrm>
            <a:off x="339024" y="3428206"/>
            <a:ext cx="11395776" cy="181588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#KPI2 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KPI2 AS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ROUND(AVG(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HourlyRate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2)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Avg_Hourly_Rate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WHERE Gender = '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Male'AND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JobRole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'Research Scientist’;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KPI2;</a:t>
            </a:r>
          </a:p>
        </p:txBody>
      </p:sp>
    </p:spTree>
    <p:extLst>
      <p:ext uri="{BB962C8B-B14F-4D97-AF65-F5344CB8AC3E}">
        <p14:creationId xmlns:p14="http://schemas.microsoft.com/office/powerpoint/2010/main" val="658434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409A0-EC5F-9CAA-04B3-7D605EEC8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1717ACEC-E724-280C-F1A3-1838C96056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SQL Queries Used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0E694367-7916-5289-468E-6B3D02A0DA6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CD837A-BD32-3CC9-34E0-23E847DD6732}"/>
              </a:ext>
            </a:extLst>
          </p:cNvPr>
          <p:cNvSpPr txBox="1"/>
          <p:nvPr/>
        </p:nvSpPr>
        <p:spPr>
          <a:xfrm>
            <a:off x="339024" y="1066006"/>
            <a:ext cx="11395776" cy="28931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#KPI3 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KPI3 AS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CASE 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MonthlyIncome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&lt; 5000 THEN 'Low'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MonthlyIncome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5000 AND 10000 THEN 'Medium'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ELSE 'High'    END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Income_Category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ROUND( SUM(CASE WHEN Attrition = 'Yes' THEN 1 ELSE 0 END) * 100.0/ COUNT(*), 2)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Attrition_Rate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Income_Category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KPI3;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73974-C8D6-ADDE-1466-5E84FDDDE277}"/>
              </a:ext>
            </a:extLst>
          </p:cNvPr>
          <p:cNvSpPr txBox="1"/>
          <p:nvPr/>
        </p:nvSpPr>
        <p:spPr>
          <a:xfrm>
            <a:off x="339024" y="3885406"/>
            <a:ext cx="11395776" cy="224676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#KPI4 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KPI4 AS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Department,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ROUND(AVG(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TotalWorkingYears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2)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Avg_Working_Years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Department;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KPI4;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927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DC9C9-AE18-30FC-CD21-BAE4F790C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EBF010E1-5C18-B49A-0C67-01D5DAE5E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SQL Queries Used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79D5F549-3282-57F8-8D72-EFD7E4699F2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61CD5-A1EB-985F-70B9-24455AE52977}"/>
              </a:ext>
            </a:extLst>
          </p:cNvPr>
          <p:cNvSpPr txBox="1"/>
          <p:nvPr/>
        </p:nvSpPr>
        <p:spPr>
          <a:xfrm>
            <a:off x="339024" y="1066006"/>
            <a:ext cx="11395776" cy="267765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#KPI5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KPI5 AS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JobRole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WorkLifeBalance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COUNT(*)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Employee_Count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JobRole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WorkLifeBalance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ORDER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JobRole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WorkLifeBalance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KPI5;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953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10896-36A8-65A0-EC43-0B69FA49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F29FD71F-5FB7-3615-EBCE-9B67D47FD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SQL Queries Used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7BF8F9B4-6E04-7EA0-D8BA-DC90CABD422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01849-EB58-80E9-C67F-4365A3C84147}"/>
              </a:ext>
            </a:extLst>
          </p:cNvPr>
          <p:cNvSpPr txBox="1"/>
          <p:nvPr/>
        </p:nvSpPr>
        <p:spPr>
          <a:xfrm>
            <a:off x="339024" y="1066006"/>
            <a:ext cx="11395776" cy="504753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#KPI6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KPI6 AS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CASE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1 AND 5 THEN '1-5’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6 AND 10 THEN '6-10’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11 AND 15 THEN '11-15'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16 AND 20 THEN '16-20'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21 AND 25 THEN '21-25'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26 AND 30 THEN '26-30'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31 AND 35 THEN '31-35'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36 AND 40 THEN '36-40'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ELSE 'Other'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END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Promotion_Group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ROUND(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SUM(CASE WHEN Attrition = 'Yes' THEN 1 ELSE 0 END) * 100.0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/ COUNT(*), 2    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Attrition_Rate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Promotion_Group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ORDER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Promotion_Group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KPI6;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027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FE110-F570-D3DF-5F8F-42ED805A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6D6098E-6460-786F-F9AB-3B1590CF4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Tableau Dashboard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A03019A3-3E31-66D5-8F85-2DC532E22F9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6DC2C6-8173-5418-7713-97C989770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24" y="808527"/>
            <a:ext cx="11561084" cy="569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117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908FB-289C-4201-77C0-1B24CD9C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635BCF91-F087-E6D8-2344-DBDA37AE1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Excel Dashboard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C479CEFD-C8F2-8738-37FF-1BF6181C0EC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93D90E-1EE4-14CE-4FA7-BE225D45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13605"/>
            <a:ext cx="11887200" cy="55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77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814D8-B32B-2201-AF04-2AA3039E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7F68DE0-9365-50D8-88D2-67FE63676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8423976" cy="52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100"/>
              </a:spcBef>
            </a:pPr>
            <a:r>
              <a:rPr lang="en-IN" sz="3600" dirty="0"/>
              <a:t>Conclusion &amp; Recommendations</a:t>
            </a:r>
            <a:endParaRPr sz="36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E22D35-8948-6B67-75C3-03DF4AACA2F2}"/>
              </a:ext>
            </a:extLst>
          </p:cNvPr>
          <p:cNvSpPr txBox="1"/>
          <p:nvPr/>
        </p:nvSpPr>
        <p:spPr>
          <a:xfrm>
            <a:off x="339023" y="893413"/>
            <a:ext cx="4971211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700" b="1" dirty="0">
                <a:solidFill>
                  <a:srgbClr val="F1C711"/>
                </a:solidFill>
                <a:latin typeface="Segoe UI Semibold"/>
                <a:cs typeface="Segoe UI Semibold"/>
              </a:rPr>
              <a:t>Strategic Business Insights</a:t>
            </a:r>
            <a:endParaRPr sz="2700" dirty="0">
              <a:latin typeface="Segoe UI Semibold"/>
              <a:cs typeface="Segoe UI Semibold"/>
            </a:endParaRPr>
          </a:p>
        </p:txBody>
      </p:sp>
      <p:grpSp>
        <p:nvGrpSpPr>
          <p:cNvPr id="2" name="object 13">
            <a:extLst>
              <a:ext uri="{FF2B5EF4-FFF2-40B4-BE49-F238E27FC236}">
                <a16:creationId xmlns:a16="http://schemas.microsoft.com/office/drawing/2014/main" id="{BB88975F-96E2-FEAC-FBDB-0E0E2EB59982}"/>
              </a:ext>
            </a:extLst>
          </p:cNvPr>
          <p:cNvGrpSpPr/>
          <p:nvPr/>
        </p:nvGrpSpPr>
        <p:grpSpPr>
          <a:xfrm>
            <a:off x="364221" y="1351877"/>
            <a:ext cx="4829493" cy="729173"/>
            <a:chOff x="7058024" y="4286251"/>
            <a:chExt cx="4829493" cy="1257499"/>
          </a:xfrm>
        </p:grpSpPr>
        <p:sp>
          <p:nvSpPr>
            <p:cNvPr id="3" name="object 14">
              <a:extLst>
                <a:ext uri="{FF2B5EF4-FFF2-40B4-BE49-F238E27FC236}">
                  <a16:creationId xmlns:a16="http://schemas.microsoft.com/office/drawing/2014/main" id="{A0082274-6CAA-E09D-A5E3-8F6A8C1FC1E3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15">
              <a:extLst>
                <a:ext uri="{FF2B5EF4-FFF2-40B4-BE49-F238E27FC236}">
                  <a16:creationId xmlns:a16="http://schemas.microsoft.com/office/drawing/2014/main" id="{451E38F3-C9FA-DD7F-4BE3-6FFBAA1285A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7F6FE51-C45E-E460-C086-007430840C4D}"/>
              </a:ext>
            </a:extLst>
          </p:cNvPr>
          <p:cNvSpPr txBox="1"/>
          <p:nvPr/>
        </p:nvSpPr>
        <p:spPr>
          <a:xfrm>
            <a:off x="411414" y="154360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0" dirty="0">
                <a:solidFill>
                  <a:srgbClr val="1E3A8A"/>
                </a:solidFill>
                <a:effectLst/>
                <a:latin typeface="Montserrat" panose="00000500000000000000" pitchFamily="2" charset="0"/>
              </a:rPr>
              <a:t>Key Conclusions</a:t>
            </a:r>
            <a:endParaRPr lang="en-IN" dirty="0"/>
          </a:p>
        </p:txBody>
      </p:sp>
      <p:grpSp>
        <p:nvGrpSpPr>
          <p:cNvPr id="8" name="object 13">
            <a:extLst>
              <a:ext uri="{FF2B5EF4-FFF2-40B4-BE49-F238E27FC236}">
                <a16:creationId xmlns:a16="http://schemas.microsoft.com/office/drawing/2014/main" id="{401F2311-958D-D832-0316-8D9B99AEDE2A}"/>
              </a:ext>
            </a:extLst>
          </p:cNvPr>
          <p:cNvGrpSpPr/>
          <p:nvPr/>
        </p:nvGrpSpPr>
        <p:grpSpPr>
          <a:xfrm>
            <a:off x="6629400" y="1370806"/>
            <a:ext cx="4829493" cy="729173"/>
            <a:chOff x="7058024" y="4286251"/>
            <a:chExt cx="4829493" cy="1257499"/>
          </a:xfrm>
        </p:grpSpPr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AA08445B-4F26-4812-F452-0C4BD3A3ECC7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0ED26B0B-9F89-390E-7B27-9902D086A8BE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0907088-3566-4A3B-32D0-03A2391ECC75}"/>
              </a:ext>
            </a:extLst>
          </p:cNvPr>
          <p:cNvSpPr txBox="1"/>
          <p:nvPr/>
        </p:nvSpPr>
        <p:spPr>
          <a:xfrm>
            <a:off x="6701790" y="1550669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0" dirty="0">
                <a:solidFill>
                  <a:srgbClr val="1E3A8A"/>
                </a:solidFill>
                <a:effectLst/>
                <a:latin typeface="Montserrat" panose="00000500000000000000" pitchFamily="2" charset="0"/>
              </a:rPr>
              <a:t>Recommendations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E2C1A2-6997-900A-C2B7-B116091CCBA8}"/>
              </a:ext>
            </a:extLst>
          </p:cNvPr>
          <p:cNvSpPr txBox="1"/>
          <p:nvPr/>
        </p:nvSpPr>
        <p:spPr>
          <a:xfrm>
            <a:off x="364221" y="2478147"/>
            <a:ext cx="4793298" cy="350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23921-D934-AE19-E53C-38C466E490CD}"/>
              </a:ext>
            </a:extLst>
          </p:cNvPr>
          <p:cNvSpPr txBox="1"/>
          <p:nvPr/>
        </p:nvSpPr>
        <p:spPr>
          <a:xfrm>
            <a:off x="316627" y="2104550"/>
            <a:ext cx="479329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High attrition is observed in Sales and low-income employees, indicating job pressure and compensation-related issues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Employees without timely promotions show higher exit rates due to lack of career growth opportunities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Work-life balance significantly impacts employee retention, with higher stress leading to increased turnover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Salary, job satisfaction, and growth opportunities are the key drivers influencing employee behavior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Employee engagement and recognition levels also play an important role in retention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3FE9A-AE8B-73C4-800F-1A85243CA502}"/>
              </a:ext>
            </a:extLst>
          </p:cNvPr>
          <p:cNvSpPr txBox="1"/>
          <p:nvPr/>
        </p:nvSpPr>
        <p:spPr>
          <a:xfrm>
            <a:off x="6629400" y="2222936"/>
            <a:ext cx="479329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Improve salary structure and introduce incentives for low-income employees to enhance retention.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Provide timely promotions, training, and clear career growth paths to keep employees motivated.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Enhance work-life balance through flexible policies and better workload management.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Focus on employee engagement, feedback systems, and support in high-attrition departments.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Implement regular performance reviews and recognition programs to boost morale.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22">
            <a:extLst>
              <a:ext uri="{FF2B5EF4-FFF2-40B4-BE49-F238E27FC236}">
                <a16:creationId xmlns:a16="http://schemas.microsoft.com/office/drawing/2014/main" id="{BBAD9856-0B00-9FD2-15C8-C2B495DE7EF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r>
              <a:rPr lang="en-IN" dirty="0">
                <a:effectLst/>
              </a:rPr>
              <a:t>HR Analytics</a:t>
            </a:r>
          </a:p>
        </p:txBody>
      </p:sp>
    </p:spTree>
    <p:extLst>
      <p:ext uri="{BB962C8B-B14F-4D97-AF65-F5344CB8AC3E}">
        <p14:creationId xmlns:p14="http://schemas.microsoft.com/office/powerpoint/2010/main" val="3406932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099" y="358775"/>
            <a:ext cx="6742430" cy="830997"/>
          </a:xfrm>
        </p:spPr>
        <p:txBody>
          <a:bodyPr/>
          <a:lstStyle/>
          <a:p>
            <a:r>
              <a:rPr dirty="0"/>
              <a:t>Challenges Faced &amp; How We Overcame Them</a:t>
            </a:r>
          </a:p>
        </p:txBody>
      </p:sp>
      <p:sp>
        <p:nvSpPr>
          <p:cNvPr id="4" name="object 22">
            <a:extLst>
              <a:ext uri="{FF2B5EF4-FFF2-40B4-BE49-F238E27FC236}">
                <a16:creationId xmlns:a16="http://schemas.microsoft.com/office/drawing/2014/main" id="{8B774E59-4D4F-7F2C-5137-33F55BAE66D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r>
              <a:rPr lang="en-US" dirty="0">
                <a:effectLst/>
              </a:rPr>
              <a:t>HR Analytics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8E54F-2909-0D35-71A8-95C1EA406873}"/>
              </a:ext>
            </a:extLst>
          </p:cNvPr>
          <p:cNvSpPr txBox="1"/>
          <p:nvPr/>
        </p:nvSpPr>
        <p:spPr>
          <a:xfrm>
            <a:off x="388302" y="2027676"/>
            <a:ext cx="479329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Raw dataset had missing values and inconsistent formats, which affected calculations and analysis.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Difficulty in correctly calculating attrition rate (initial confusion between % of total vs actual ratio).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Creating consistent KPIs across Excel, SQL, Tableau, and Power BI was challenging.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Issues in grouping fields like Income Category and Promotion Range for meaningful analysis.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Performance issues in Power BI due to large dataset and multiple visuals.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object 13">
            <a:extLst>
              <a:ext uri="{FF2B5EF4-FFF2-40B4-BE49-F238E27FC236}">
                <a16:creationId xmlns:a16="http://schemas.microsoft.com/office/drawing/2014/main" id="{3756799B-BECE-85B0-3D9A-C4E2429AE7E3}"/>
              </a:ext>
            </a:extLst>
          </p:cNvPr>
          <p:cNvGrpSpPr/>
          <p:nvPr/>
        </p:nvGrpSpPr>
        <p:grpSpPr>
          <a:xfrm>
            <a:off x="364221" y="1218406"/>
            <a:ext cx="4829493" cy="729173"/>
            <a:chOff x="7058024" y="4286251"/>
            <a:chExt cx="4829493" cy="1257499"/>
          </a:xfrm>
        </p:grpSpPr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B7E8B6D9-D5F3-840E-0FDB-38B96DD46C28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C2942141-B70F-E917-8251-0BE74D6D952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1A8A8A8-D40D-E7C9-ECB2-39AA98582B19}"/>
              </a:ext>
            </a:extLst>
          </p:cNvPr>
          <p:cNvSpPr txBox="1"/>
          <p:nvPr/>
        </p:nvSpPr>
        <p:spPr>
          <a:xfrm>
            <a:off x="411414" y="141013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1E3A8A"/>
                </a:solidFill>
                <a:latin typeface="Montserrat" panose="00000500000000000000" pitchFamily="2" charset="0"/>
              </a:rPr>
              <a:t>Challenges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FC4C22-DFFF-09B5-8235-6BFEA13C9251}"/>
              </a:ext>
            </a:extLst>
          </p:cNvPr>
          <p:cNvSpPr txBox="1"/>
          <p:nvPr/>
        </p:nvSpPr>
        <p:spPr>
          <a:xfrm>
            <a:off x="6014988" y="2031067"/>
            <a:ext cx="479329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1500" dirty="0"/>
              <a:t>Cleaned and standardized data in Excel and SQL by handling missing values and correcting formats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/>
              <a:t>Used proper logic (CASE WHEN / Attrition Flag) to calculate accurate attrition rate.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/>
              <a:t>Cross-verified KPIs across tools to maintain consistency in results.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/>
              <a:t>Created calculated columns for Income Category and Promotion Groups to simplify analysis.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/>
              <a:t>Optimized Power BI by removing unnecessary columns and reducing visuals for better performance.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implemented consistent visual design principles in Power BI/Tableau, selecting appropriate charts for KPIs.</a:t>
            </a:r>
          </a:p>
        </p:txBody>
      </p:sp>
      <p:grpSp>
        <p:nvGrpSpPr>
          <p:cNvPr id="17" name="object 13">
            <a:extLst>
              <a:ext uri="{FF2B5EF4-FFF2-40B4-BE49-F238E27FC236}">
                <a16:creationId xmlns:a16="http://schemas.microsoft.com/office/drawing/2014/main" id="{2B2D01FF-A538-08FE-DB40-932F152DC1AB}"/>
              </a:ext>
            </a:extLst>
          </p:cNvPr>
          <p:cNvGrpSpPr/>
          <p:nvPr/>
        </p:nvGrpSpPr>
        <p:grpSpPr>
          <a:xfrm>
            <a:off x="5990907" y="1221797"/>
            <a:ext cx="4829493" cy="729173"/>
            <a:chOff x="7058024" y="4286251"/>
            <a:chExt cx="4829493" cy="1257499"/>
          </a:xfrm>
        </p:grpSpPr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2F94FF75-9A09-F0D6-5AFA-7E1B8695832F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EC7BB728-2D55-6ACB-AE61-8C815BE534D6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8D475C6-8360-5CF2-E4AA-5418B1A7A501}"/>
              </a:ext>
            </a:extLst>
          </p:cNvPr>
          <p:cNvSpPr txBox="1"/>
          <p:nvPr/>
        </p:nvSpPr>
        <p:spPr>
          <a:xfrm>
            <a:off x="6038100" y="141352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1E3A8A"/>
                </a:solidFill>
                <a:latin typeface="Montserrat" panose="00000500000000000000" pitchFamily="2" charset="0"/>
              </a:rPr>
              <a:t>Solution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66A4-9490-F532-DB0A-F17E60BB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90C6-D82F-C028-5118-134710B2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785" y="2666206"/>
            <a:ext cx="6742430" cy="830997"/>
          </a:xfrm>
        </p:spPr>
        <p:txBody>
          <a:bodyPr/>
          <a:lstStyle/>
          <a:p>
            <a:pPr algn="ctr"/>
            <a:r>
              <a:rPr lang="en-IN" sz="5400" dirty="0"/>
              <a:t>Thank You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23673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702</TotalTime>
  <Words>1309</Words>
  <Application>Microsoft Office PowerPoint</Application>
  <PresentationFormat>Custom</PresentationFormat>
  <Paragraphs>232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Montserrat</vt:lpstr>
      <vt:lpstr>Segoe UI</vt:lpstr>
      <vt:lpstr>Segoe UI Semibold</vt:lpstr>
      <vt:lpstr>Office Theme</vt:lpstr>
      <vt:lpstr>HR Analytics Dashboard</vt:lpstr>
      <vt:lpstr>Agenda</vt:lpstr>
      <vt:lpstr>KPI 1 – Attrition Rate by Department</vt:lpstr>
      <vt:lpstr>KPI 2 – KPI 2: Avg Hourly Rate</vt:lpstr>
      <vt:lpstr>KPI 3 – Attrition by Income Category</vt:lpstr>
      <vt:lpstr>KPI 4 – Average Working Years by Department</vt:lpstr>
      <vt:lpstr>KPI 5 – Work-Life Balance by Job Role</vt:lpstr>
      <vt:lpstr>KPI 6 – Attrition vs Years Since Last Promotion</vt:lpstr>
      <vt:lpstr>Power BI Dashboard</vt:lpstr>
      <vt:lpstr>SQL Queries Used</vt:lpstr>
      <vt:lpstr>SQL Queries Used</vt:lpstr>
      <vt:lpstr>SQL Queries Used</vt:lpstr>
      <vt:lpstr>SQL Queries Used</vt:lpstr>
      <vt:lpstr>Tableau Dashboard</vt:lpstr>
      <vt:lpstr>Excel Dashboard</vt:lpstr>
      <vt:lpstr>Conclusion &amp; Recommendations</vt:lpstr>
      <vt:lpstr>Challenges Faced &amp; How We Overcame Them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    Cycles</dc:title>
  <dc:creator>Apoorva Gangrade</dc:creator>
  <cp:lastModifiedBy>Kumud Patil</cp:lastModifiedBy>
  <cp:revision>28</cp:revision>
  <dcterms:created xsi:type="dcterms:W3CDTF">2025-08-18T17:44:52Z</dcterms:created>
  <dcterms:modified xsi:type="dcterms:W3CDTF">2026-04-23T09:25:11Z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2025-08-18T00:00:00Z</vt:filetime>
  </property>
  <property fmtid="{D5CDD505-2E9C-101B-9397-08002B2CF9AE}" pid="3" name="Producer">
    <vt:lpwstr>pypdf</vt:lpwstr>
  </property>
  <property fmtid="{D5CDD505-2E9C-101B-9397-08002B2CF9AE}" pid="4" name="LastSaved">
    <vt:filetime>2025-08-18T00:00:00Z</vt:filetime>
  </property>
</Properties>
</file>