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0"/>
  </p:notesMasterIdLst>
  <p:sldIdLst>
    <p:sldId id="256" r:id="rId2"/>
    <p:sldId id="260" r:id="rId3"/>
    <p:sldId id="279" r:id="rId4"/>
    <p:sldId id="299" r:id="rId5"/>
    <p:sldId id="300" r:id="rId6"/>
    <p:sldId id="301" r:id="rId7"/>
    <p:sldId id="302" r:id="rId8"/>
    <p:sldId id="304" r:id="rId9"/>
    <p:sldId id="283" r:id="rId10"/>
    <p:sldId id="296" r:id="rId11"/>
    <p:sldId id="297" r:id="rId12"/>
    <p:sldId id="298" r:id="rId13"/>
    <p:sldId id="305" r:id="rId14"/>
    <p:sldId id="291" r:id="rId15"/>
    <p:sldId id="290" r:id="rId16"/>
    <p:sldId id="294" r:id="rId17"/>
    <p:sldId id="295" r:id="rId18"/>
    <p:sldId id="303" r:id="rId19"/>
  </p:sldIdLst>
  <p:sldSz cx="12192000" cy="6856413"/>
  <p:notesSz cx="12192000" cy="6858000"/>
  <p:defaultTextStyle>
    <a:defPPr>
      <a:defRPr kern="0"/>
    </a:def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9F6E7"/>
    <a:srgbClr val="207345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775DCB02-9BB8-47FD-8907-85C794F793BA}" styleName="Themed Style 1 – Accent 4">
    <a:tblBg>
      <a:fillRef idx="2">
        <a:schemeClr val="accent4"/>
      </a:fillRef>
      <a:effectRef idx="1">
        <a:schemeClr val="accent4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Ref idx="1">
              <a:schemeClr val="accent4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  <a:fill>
          <a:solidFill>
            <a:schemeClr val="accent4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4"/>
            </a:lnRef>
          </a:left>
          <a:right>
            <a:lnRef idx="2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Ref idx="1">
              <a:schemeClr val="accent4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2">
              <a:schemeClr val="accent4"/>
            </a:lnRef>
          </a:top>
          <a:bottom>
            <a:lnRef idx="2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4"/>
          </a:solidFill>
        </a:fill>
      </a:tcStyle>
    </a:firstRow>
  </a:tblStyle>
  <a:tblStyle styleId="{5DA37D80-6434-44D0-A028-1B22A696006F}" styleName="Light Style 3 – Accent 2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816" y="66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6905625" y="0"/>
            <a:ext cx="52832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4445CBC7-247E-4F47-8551-2FAA3B040AB4}" type="datetimeFigureOut">
              <a:rPr lang="en-IN" smtClean="0"/>
              <a:t>08-09-2026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1219200" y="3300413"/>
            <a:ext cx="97536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6905625" y="6513513"/>
            <a:ext cx="52832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517648F-2340-4078-8A0D-AE083982C765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9611955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17648F-2340-4078-8A0D-AE083982C765}" type="slidenum">
              <a:rPr lang="en-IN" smtClean="0"/>
              <a:t>3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9273770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517648F-2340-4078-8A0D-AE083982C765}" type="slidenum">
              <a:rPr lang="en-IN" smtClean="0"/>
              <a:t>14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1214414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1" i="0">
                <a:solidFill>
                  <a:srgbClr val="207345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1" i="0">
                <a:solidFill>
                  <a:schemeClr val="tx1"/>
                </a:solidFill>
                <a:latin typeface="Segoe UI Semibold"/>
                <a:cs typeface="Segoe UI Semibold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Segoe UI"/>
                <a:cs typeface="Segoe UI"/>
              </a:defRPr>
            </a:lvl1pPr>
          </a:lstStyle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/>
              <a:t>Made</a:t>
            </a:r>
            <a:r>
              <a:rPr spc="-15" dirty="0"/>
              <a:t> </a:t>
            </a:r>
            <a:r>
              <a:rPr dirty="0"/>
              <a:t>with</a:t>
            </a:r>
            <a:r>
              <a:rPr spc="-10" dirty="0"/>
              <a:t> Genspark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rgbClr val="6A7280"/>
                </a:solidFill>
                <a:latin typeface="Segoe UI"/>
                <a:cs typeface="Segoe UI"/>
              </a:defRPr>
            </a:lvl1pPr>
          </a:lstStyle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dirty="0"/>
              <a:t>Power</a:t>
            </a:r>
            <a:r>
              <a:rPr spc="-15" dirty="0"/>
              <a:t> </a:t>
            </a:r>
            <a:r>
              <a:rPr dirty="0"/>
              <a:t>BI</a:t>
            </a:r>
            <a:r>
              <a:rPr spc="-15" dirty="0"/>
              <a:t> </a:t>
            </a:r>
            <a:r>
              <a:rPr dirty="0"/>
              <a:t>Aggregate</a:t>
            </a:r>
            <a:r>
              <a:rPr spc="-10" dirty="0"/>
              <a:t> Functions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1" i="0">
                <a:solidFill>
                  <a:srgbClr val="207345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1500" b="1" i="0">
                <a:solidFill>
                  <a:schemeClr val="tx1"/>
                </a:solidFill>
                <a:latin typeface="Segoe UI Semibold"/>
                <a:cs typeface="Segoe UI Semibold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Segoe UI"/>
                <a:cs typeface="Segoe UI"/>
              </a:defRPr>
            </a:lvl1pPr>
          </a:lstStyle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/>
              <a:t>Made</a:t>
            </a:r>
            <a:r>
              <a:rPr spc="-15" dirty="0"/>
              <a:t> </a:t>
            </a:r>
            <a:r>
              <a:rPr dirty="0"/>
              <a:t>with</a:t>
            </a:r>
            <a:r>
              <a:rPr spc="-10" dirty="0"/>
              <a:t> Genspark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rgbClr val="6A7280"/>
                </a:solidFill>
                <a:latin typeface="Segoe UI"/>
                <a:cs typeface="Segoe UI"/>
              </a:defRPr>
            </a:lvl1pPr>
          </a:lstStyle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dirty="0"/>
              <a:t>Power</a:t>
            </a:r>
            <a:r>
              <a:rPr spc="-15" dirty="0"/>
              <a:t> </a:t>
            </a:r>
            <a:r>
              <a:rPr dirty="0"/>
              <a:t>BI</a:t>
            </a:r>
            <a:r>
              <a:rPr spc="-15" dirty="0"/>
              <a:t> </a:t>
            </a:r>
            <a:r>
              <a:rPr dirty="0"/>
              <a:t>Aggregate</a:t>
            </a:r>
            <a:r>
              <a:rPr spc="-10" dirty="0"/>
              <a:t> Functions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1" i="0">
                <a:solidFill>
                  <a:srgbClr val="207345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Segoe UI"/>
                <a:cs typeface="Segoe UI"/>
              </a:defRPr>
            </a:lvl1pPr>
          </a:lstStyle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/>
              <a:t>Made</a:t>
            </a:r>
            <a:r>
              <a:rPr spc="-15" dirty="0"/>
              <a:t> </a:t>
            </a:r>
            <a:r>
              <a:rPr dirty="0"/>
              <a:t>with</a:t>
            </a:r>
            <a:r>
              <a:rPr spc="-10" dirty="0"/>
              <a:t> Genspark</a:t>
            </a:r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rgbClr val="6A7280"/>
                </a:solidFill>
                <a:latin typeface="Segoe UI"/>
                <a:cs typeface="Segoe UI"/>
              </a:defRPr>
            </a:lvl1pPr>
          </a:lstStyle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dirty="0"/>
              <a:t>Power</a:t>
            </a:r>
            <a:r>
              <a:rPr spc="-15" dirty="0"/>
              <a:t> </a:t>
            </a:r>
            <a:r>
              <a:rPr dirty="0"/>
              <a:t>BI</a:t>
            </a:r>
            <a:r>
              <a:rPr spc="-15" dirty="0"/>
              <a:t> </a:t>
            </a:r>
            <a:r>
              <a:rPr dirty="0"/>
              <a:t>Aggregate</a:t>
            </a:r>
            <a:r>
              <a:rPr spc="-10" dirty="0"/>
              <a:t> Functions</a:t>
            </a:r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2700" b="1" i="0">
                <a:solidFill>
                  <a:srgbClr val="207345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Segoe UI"/>
                <a:cs typeface="Segoe UI"/>
              </a:defRPr>
            </a:lvl1pPr>
          </a:lstStyle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/>
              <a:t>Made</a:t>
            </a:r>
            <a:r>
              <a:rPr spc="-15" dirty="0"/>
              <a:t> </a:t>
            </a:r>
            <a:r>
              <a:rPr dirty="0"/>
              <a:t>with</a:t>
            </a:r>
            <a:r>
              <a:rPr spc="-10" dirty="0"/>
              <a:t> Genspark</a:t>
            </a:r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rgbClr val="6A7280"/>
                </a:solidFill>
                <a:latin typeface="Segoe UI"/>
                <a:cs typeface="Segoe UI"/>
              </a:defRPr>
            </a:lvl1pPr>
          </a:lstStyle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dirty="0"/>
              <a:t>Power</a:t>
            </a:r>
            <a:r>
              <a:rPr spc="-15" dirty="0"/>
              <a:t> </a:t>
            </a:r>
            <a:r>
              <a:rPr dirty="0"/>
              <a:t>BI</a:t>
            </a:r>
            <a:r>
              <a:rPr spc="-15" dirty="0"/>
              <a:t> </a:t>
            </a:r>
            <a:r>
              <a:rPr dirty="0"/>
              <a:t>Aggregate</a:t>
            </a:r>
            <a:r>
              <a:rPr spc="-10" dirty="0"/>
              <a:t> Functions</a:t>
            </a:r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>
              <a:defRPr sz="900" b="0" i="0">
                <a:solidFill>
                  <a:schemeClr val="bg1"/>
                </a:solidFill>
                <a:latin typeface="Segoe UI"/>
                <a:cs typeface="Segoe UI"/>
              </a:defRPr>
            </a:lvl1pPr>
          </a:lstStyle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/>
              <a:t>Made</a:t>
            </a:r>
            <a:r>
              <a:rPr spc="-15" dirty="0"/>
              <a:t> </a:t>
            </a:r>
            <a:r>
              <a:rPr dirty="0"/>
              <a:t>with</a:t>
            </a:r>
            <a:r>
              <a:rPr spc="-10" dirty="0"/>
              <a:t> Genspark</a:t>
            </a:r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>
              <a:defRPr sz="1050" b="0" i="0">
                <a:solidFill>
                  <a:srgbClr val="6A7280"/>
                </a:solidFill>
                <a:latin typeface="Segoe UI"/>
                <a:cs typeface="Segoe UI"/>
              </a:defRPr>
            </a:lvl1pPr>
          </a:lstStyle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dirty="0"/>
              <a:t>Power</a:t>
            </a:r>
            <a:r>
              <a:rPr spc="-15" dirty="0"/>
              <a:t> </a:t>
            </a:r>
            <a:r>
              <a:rPr dirty="0"/>
              <a:t>BI</a:t>
            </a:r>
            <a:r>
              <a:rPr spc="-15" dirty="0"/>
              <a:t> </a:t>
            </a:r>
            <a:r>
              <a:rPr dirty="0"/>
              <a:t>Aggregate</a:t>
            </a:r>
            <a:r>
              <a:rPr spc="-10" dirty="0"/>
              <a:t> Functions</a:t>
            </a:r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g object 16"/>
          <p:cNvSpPr/>
          <p:nvPr/>
        </p:nvSpPr>
        <p:spPr>
          <a:xfrm>
            <a:off x="0" y="0"/>
            <a:ext cx="12192000" cy="76200"/>
          </a:xfrm>
          <a:custGeom>
            <a:avLst/>
            <a:gdLst/>
            <a:ahLst/>
            <a:cxnLst/>
            <a:rect l="l" t="t" r="r" b="b"/>
            <a:pathLst>
              <a:path w="12192000" h="76200">
                <a:moveTo>
                  <a:pt x="12191999" y="76199"/>
                </a:moveTo>
                <a:lnTo>
                  <a:pt x="0" y="76199"/>
                </a:lnTo>
                <a:lnTo>
                  <a:pt x="0" y="0"/>
                </a:lnTo>
                <a:lnTo>
                  <a:pt x="12191999" y="0"/>
                </a:lnTo>
                <a:lnTo>
                  <a:pt x="12191999" y="76199"/>
                </a:lnTo>
                <a:close/>
              </a:path>
            </a:pathLst>
          </a:custGeom>
          <a:solidFill>
            <a:srgbClr val="207345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92099" y="358775"/>
            <a:ext cx="6742430" cy="4368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700" b="1" i="0">
                <a:solidFill>
                  <a:srgbClr val="207345"/>
                </a:solidFill>
                <a:latin typeface="Segoe UI"/>
                <a:cs typeface="Segoe UI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611187" y="1058333"/>
            <a:ext cx="6129655" cy="27705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500" b="1" i="0">
                <a:solidFill>
                  <a:schemeClr val="tx1"/>
                </a:solidFill>
                <a:latin typeface="Segoe UI Semibold"/>
                <a:cs typeface="Segoe UI Semibold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10837018" y="6417158"/>
            <a:ext cx="1062990" cy="1778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900" b="0" i="0">
                <a:solidFill>
                  <a:schemeClr val="bg1"/>
                </a:solidFill>
                <a:latin typeface="Segoe UI"/>
                <a:cs typeface="Segoe UI"/>
              </a:defRPr>
            </a:lvl1pPr>
          </a:lstStyle>
          <a:p>
            <a:pPr marL="12700">
              <a:lnSpc>
                <a:spcPct val="100000"/>
              </a:lnSpc>
              <a:spcBef>
                <a:spcPts val="170"/>
              </a:spcBef>
            </a:pPr>
            <a:r>
              <a:rPr dirty="0"/>
              <a:t>Made</a:t>
            </a:r>
            <a:r>
              <a:rPr spc="-15" dirty="0"/>
              <a:t> </a:t>
            </a:r>
            <a:r>
              <a:rPr dirty="0"/>
              <a:t>with</a:t>
            </a:r>
            <a:r>
              <a:rPr spc="-10" dirty="0"/>
              <a:t> Genspark</a:t>
            </a:r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10106868" y="6501376"/>
            <a:ext cx="1793240" cy="2032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050" b="0" i="0">
                <a:solidFill>
                  <a:srgbClr val="6A7280"/>
                </a:solidFill>
                <a:latin typeface="Segoe UI"/>
                <a:cs typeface="Segoe UI"/>
              </a:defRPr>
            </a:lvl1pPr>
          </a:lstStyle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dirty="0"/>
              <a:t>Power</a:t>
            </a:r>
            <a:r>
              <a:rPr spc="-15" dirty="0"/>
              <a:t> </a:t>
            </a:r>
            <a:r>
              <a:rPr dirty="0"/>
              <a:t>BI</a:t>
            </a:r>
            <a:r>
              <a:rPr spc="-15" dirty="0"/>
              <a:t> </a:t>
            </a:r>
            <a:r>
              <a:rPr dirty="0"/>
              <a:t>Aggregate</a:t>
            </a:r>
            <a:r>
              <a:rPr spc="-10" dirty="0"/>
              <a:t> Functions</a:t>
            </a:r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23F0E3B9-0FDC-BF90-3BD9-6818F0D683CA}"/>
              </a:ext>
            </a:extLst>
          </p:cNvPr>
          <p:cNvSpPr/>
          <p:nvPr/>
        </p:nvSpPr>
        <p:spPr>
          <a:xfrm>
            <a:off x="0" y="75406"/>
            <a:ext cx="5663565" cy="6781006"/>
          </a:xfrm>
          <a:prstGeom prst="rect">
            <a:avLst/>
          </a:prstGeom>
          <a:ln>
            <a:solidFill>
              <a:schemeClr val="bg1"/>
            </a:solidFill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object 6"/>
          <p:cNvSpPr txBox="1">
            <a:spLocks noGrp="1"/>
          </p:cNvSpPr>
          <p:nvPr>
            <p:ph type="title"/>
          </p:nvPr>
        </p:nvSpPr>
        <p:spPr>
          <a:xfrm>
            <a:off x="444500" y="1120775"/>
            <a:ext cx="4495165" cy="1038746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3960"/>
              </a:lnSpc>
              <a:spcBef>
                <a:spcPts val="100"/>
              </a:spcBef>
            </a:pPr>
            <a:r>
              <a:rPr lang="en-US" sz="4000" dirty="0"/>
              <a:t>H</a:t>
            </a:r>
            <a:r>
              <a:rPr lang="en-IN" sz="4000" dirty="0"/>
              <a:t>R Analytics Dashboard</a:t>
            </a:r>
            <a:endParaRPr sz="4000" dirty="0"/>
          </a:p>
        </p:txBody>
      </p:sp>
      <p:sp>
        <p:nvSpPr>
          <p:cNvPr id="7" name="object 7"/>
          <p:cNvSpPr txBox="1"/>
          <p:nvPr/>
        </p:nvSpPr>
        <p:spPr>
          <a:xfrm>
            <a:off x="444500" y="2159521"/>
            <a:ext cx="3365500" cy="228268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US" sz="1400" b="1" dirty="0">
                <a:solidFill>
                  <a:schemeClr val="tx1"/>
                </a:solidFill>
                <a:latin typeface="Segoe UI Semibold"/>
                <a:cs typeface="Segoe UI Semibold"/>
              </a:rPr>
              <a:t>E</a:t>
            </a:r>
            <a:r>
              <a:rPr lang="en-IN" sz="1400" b="1" dirty="0">
                <a:solidFill>
                  <a:schemeClr val="tx1"/>
                </a:solidFill>
                <a:latin typeface="Segoe UI Semibold"/>
                <a:cs typeface="Segoe UI Semibold"/>
              </a:rPr>
              <a:t>mployee Attrition &amp; Workforce Analysis</a:t>
            </a:r>
            <a:endParaRPr sz="1400" b="1" dirty="0">
              <a:solidFill>
                <a:schemeClr val="tx1"/>
              </a:solidFill>
              <a:latin typeface="Segoe UI Semibold"/>
              <a:cs typeface="Segoe UI Semibold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444500" y="3000374"/>
            <a:ext cx="5663565" cy="265438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 marR="0" lvl="0" indent="0" algn="l" defTabSz="914400" rtl="0" eaLnBrk="1" fontAlgn="auto" latinLnBrk="0" hangingPunct="1">
              <a:lnSpc>
                <a:spcPct val="200000"/>
              </a:lnSpc>
              <a:spcBef>
                <a:spcPts val="125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b="1" i="0" u="none" strike="noStrike" kern="1200" cap="none" spc="-14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GROUP</a:t>
            </a:r>
            <a:r>
              <a:rPr kumimoji="0" lang="en-IN" b="1" i="0" u="none" strike="noStrike" kern="1200" cap="none" spc="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IN" b="1" i="0" u="none" strike="noStrike" kern="1200" cap="none" spc="-6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NO.:</a:t>
            </a:r>
            <a:r>
              <a:rPr kumimoji="0" lang="en-IN" b="1" i="0" u="none" strike="noStrike" kern="1200" cap="none" spc="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 </a:t>
            </a:r>
            <a:r>
              <a:rPr kumimoji="0" lang="en-IN" b="1" i="0" u="none" strike="noStrike" kern="1200" cap="none" spc="-25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-</a:t>
            </a:r>
            <a:r>
              <a:rPr kumimoji="0" lang="en-IN" b="1" i="0" u="none" strike="noStrike" kern="1200" cap="none" spc="-50" normalizeH="0" baseline="0" noProof="0" dirty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Segoe UI" panose="020B0502040204020203" pitchFamily="34" charset="0"/>
                <a:ea typeface="+mn-ea"/>
                <a:cs typeface="Segoe UI" panose="020B0502040204020203" pitchFamily="34" charset="0"/>
              </a:rPr>
              <a:t>2</a:t>
            </a:r>
            <a:endParaRPr kumimoji="0" lang="en-IN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Segoe UI" panose="020B0502040204020203" pitchFamily="34" charset="0"/>
              <a:ea typeface="+mn-ea"/>
              <a:cs typeface="Segoe UI" panose="020B0502040204020203" pitchFamily="34" charset="0"/>
            </a:endParaRP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IN" sz="1400" b="1" dirty="0"/>
              <a:t>Ayushi Ajay Mundhada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IN" sz="1400" b="1" dirty="0"/>
              <a:t>Sayali Sangole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IN" sz="1400" b="1" dirty="0"/>
              <a:t>Piyush Dave 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IN" sz="1400" b="1" dirty="0"/>
              <a:t>Kumud Kundan Patil</a:t>
            </a:r>
          </a:p>
          <a:p>
            <a:pPr marL="342900" indent="-342900">
              <a:lnSpc>
                <a:spcPct val="200000"/>
              </a:lnSpc>
              <a:buAutoNum type="arabicPeriod"/>
            </a:pPr>
            <a:r>
              <a:rPr lang="en-IN" sz="1400" b="1"/>
              <a:t>Amanveer Pratap</a:t>
            </a:r>
            <a:endParaRPr lang="en-IN" sz="1400" b="1" dirty="0"/>
          </a:p>
        </p:txBody>
      </p:sp>
      <p:sp>
        <p:nvSpPr>
          <p:cNvPr id="14" name="object 22">
            <a:extLst>
              <a:ext uri="{FF2B5EF4-FFF2-40B4-BE49-F238E27FC236}">
                <a16:creationId xmlns:a16="http://schemas.microsoft.com/office/drawing/2014/main" id="{01E8F059-53E1-5F08-BFA9-45C6845A4E8B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10106868" y="6501376"/>
            <a:ext cx="1793240" cy="184666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r>
              <a:rPr lang="en-US" dirty="0">
                <a:effectLst/>
              </a:rPr>
              <a:t>HR Analytics </a:t>
            </a:r>
            <a:endParaRPr lang="en-IN" dirty="0">
              <a:effectLst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F02054AC-6CF6-9670-79D6-223B99D72924}"/>
              </a:ext>
            </a:extLst>
          </p:cNvPr>
          <p:cNvSpPr txBox="1"/>
          <p:nvPr/>
        </p:nvSpPr>
        <p:spPr>
          <a:xfrm>
            <a:off x="6172200" y="3199720"/>
            <a:ext cx="283844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Tools &amp; Technologies</a:t>
            </a:r>
          </a:p>
          <a:p>
            <a:endParaRPr lang="en-IN" dirty="0"/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6DD9DEE1-A29B-8D79-267E-5EAA48C67C0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172200" y="3942383"/>
            <a:ext cx="4876800" cy="1238423"/>
          </a:xfrm>
          <a:prstGeom prst="rect">
            <a:avLst/>
          </a:prstGeom>
        </p:spPr>
      </p:pic>
      <p:sp>
        <p:nvSpPr>
          <p:cNvPr id="10" name="TextBox 9">
            <a:extLst>
              <a:ext uri="{FF2B5EF4-FFF2-40B4-BE49-F238E27FC236}">
                <a16:creationId xmlns:a16="http://schemas.microsoft.com/office/drawing/2014/main" id="{5EEB6844-2A10-8E1C-7C3C-DDF0BCCDC985}"/>
              </a:ext>
            </a:extLst>
          </p:cNvPr>
          <p:cNvSpPr txBox="1"/>
          <p:nvPr/>
        </p:nvSpPr>
        <p:spPr>
          <a:xfrm>
            <a:off x="6108065" y="1145119"/>
            <a:ext cx="2838449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Project Overview</a:t>
            </a:r>
            <a:endParaRPr lang="en-IN" b="1" dirty="0"/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643579DD-3A85-788D-B1D4-A7E8879DA543}"/>
              </a:ext>
            </a:extLst>
          </p:cNvPr>
          <p:cNvSpPr txBox="1"/>
          <p:nvPr/>
        </p:nvSpPr>
        <p:spPr>
          <a:xfrm>
            <a:off x="6172200" y="1640148"/>
            <a:ext cx="4876800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400" dirty="0"/>
              <a:t>This project focuses on analyzing employee attrition, salary trends, and workforce performance.</a:t>
            </a:r>
          </a:p>
          <a:p>
            <a:pPr algn="just"/>
            <a:br>
              <a:rPr lang="en-US" sz="1400" dirty="0"/>
            </a:br>
            <a:r>
              <a:rPr lang="en-US" sz="1400" dirty="0"/>
              <a:t>The objective is to extract meaningful insights using SQL and present them through interactive dashboards in Power BI, Tableau, and Excel.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96C5218-308E-BAFB-AFC6-F29197371F2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>
            <a:extLst>
              <a:ext uri="{FF2B5EF4-FFF2-40B4-BE49-F238E27FC236}">
                <a16:creationId xmlns:a16="http://schemas.microsoft.com/office/drawing/2014/main" id="{EB4E23AC-138C-779A-44A0-2325C5AF440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9024" y="380206"/>
            <a:ext cx="1917700" cy="5257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3960"/>
              </a:lnSpc>
              <a:spcBef>
                <a:spcPts val="100"/>
              </a:spcBef>
            </a:pPr>
            <a:r>
              <a:rPr lang="en-US" sz="3600" dirty="0"/>
              <a:t>A</a:t>
            </a:r>
            <a:r>
              <a:rPr lang="en-IN" sz="3600" dirty="0"/>
              <a:t>genda</a:t>
            </a:r>
            <a:endParaRPr sz="3600" dirty="0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FD736B6E-7DED-9C28-F5E4-D99EA10B1115}"/>
              </a:ext>
            </a:extLst>
          </p:cNvPr>
          <p:cNvSpPr txBox="1"/>
          <p:nvPr/>
        </p:nvSpPr>
        <p:spPr>
          <a:xfrm>
            <a:off x="339024" y="893413"/>
            <a:ext cx="3563752" cy="4283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700" b="1" dirty="0">
                <a:solidFill>
                  <a:srgbClr val="F1C711"/>
                </a:solidFill>
                <a:latin typeface="Segoe UI Semibold"/>
                <a:cs typeface="Segoe UI Semibold"/>
              </a:rPr>
              <a:t>P</a:t>
            </a:r>
            <a:r>
              <a:rPr lang="en-US" sz="2700" b="1" dirty="0">
                <a:solidFill>
                  <a:srgbClr val="F1C711"/>
                </a:solidFill>
                <a:latin typeface="Segoe UI Semibold"/>
                <a:cs typeface="Segoe UI Semibold"/>
              </a:rPr>
              <a:t>resentation Outline</a:t>
            </a:r>
            <a:endParaRPr sz="2700" dirty="0">
              <a:latin typeface="Segoe UI Semibold"/>
              <a:cs typeface="Segoe UI Semibold"/>
            </a:endParaRPr>
          </a:p>
        </p:txBody>
      </p:sp>
      <p:grpSp>
        <p:nvGrpSpPr>
          <p:cNvPr id="2" name="object 13">
            <a:extLst>
              <a:ext uri="{FF2B5EF4-FFF2-40B4-BE49-F238E27FC236}">
                <a16:creationId xmlns:a16="http://schemas.microsoft.com/office/drawing/2014/main" id="{44884FD7-7E08-BEBC-B91D-9D5900CA8560}"/>
              </a:ext>
            </a:extLst>
          </p:cNvPr>
          <p:cNvGrpSpPr/>
          <p:nvPr/>
        </p:nvGrpSpPr>
        <p:grpSpPr>
          <a:xfrm>
            <a:off x="328026" y="1370806"/>
            <a:ext cx="4829493" cy="729173"/>
            <a:chOff x="7058024" y="4286251"/>
            <a:chExt cx="4829493" cy="1257499"/>
          </a:xfrm>
        </p:grpSpPr>
        <p:sp>
          <p:nvSpPr>
            <p:cNvPr id="3" name="object 14">
              <a:extLst>
                <a:ext uri="{FF2B5EF4-FFF2-40B4-BE49-F238E27FC236}">
                  <a16:creationId xmlns:a16="http://schemas.microsoft.com/office/drawing/2014/main" id="{1ADCA808-11DE-07D1-819D-2A7B865C2A98}"/>
                </a:ext>
              </a:extLst>
            </p:cNvPr>
            <p:cNvSpPr/>
            <p:nvPr/>
          </p:nvSpPr>
          <p:spPr>
            <a:xfrm>
              <a:off x="7081837" y="4286251"/>
              <a:ext cx="4805680" cy="1257300"/>
            </a:xfrm>
            <a:custGeom>
              <a:avLst/>
              <a:gdLst/>
              <a:ahLst/>
              <a:cxnLst/>
              <a:rect l="l" t="t" r="r" b="b"/>
              <a:pathLst>
                <a:path w="4805680" h="1257300">
                  <a:moveTo>
                    <a:pt x="4734165" y="1257299"/>
                  </a:moveTo>
                  <a:lnTo>
                    <a:pt x="48947" y="1257299"/>
                  </a:lnTo>
                  <a:lnTo>
                    <a:pt x="45540" y="1256811"/>
                  </a:lnTo>
                  <a:lnTo>
                    <a:pt x="12910" y="1231442"/>
                  </a:lnTo>
                  <a:lnTo>
                    <a:pt x="335" y="1191058"/>
                  </a:lnTo>
                  <a:lnTo>
                    <a:pt x="0" y="1186103"/>
                  </a:lnTo>
                  <a:lnTo>
                    <a:pt x="0" y="1181099"/>
                  </a:lnTo>
                  <a:lnTo>
                    <a:pt x="0" y="71196"/>
                  </a:lnTo>
                  <a:lnTo>
                    <a:pt x="10739" y="29704"/>
                  </a:lnTo>
                  <a:lnTo>
                    <a:pt x="38793" y="2439"/>
                  </a:lnTo>
                  <a:lnTo>
                    <a:pt x="48947" y="0"/>
                  </a:lnTo>
                  <a:lnTo>
                    <a:pt x="4734165" y="0"/>
                  </a:lnTo>
                  <a:lnTo>
                    <a:pt x="4775654" y="15621"/>
                  </a:lnTo>
                  <a:lnTo>
                    <a:pt x="4801475" y="51661"/>
                  </a:lnTo>
                  <a:lnTo>
                    <a:pt x="4805360" y="71196"/>
                  </a:lnTo>
                  <a:lnTo>
                    <a:pt x="4805360" y="1186103"/>
                  </a:lnTo>
                  <a:lnTo>
                    <a:pt x="4789738" y="1227593"/>
                  </a:lnTo>
                  <a:lnTo>
                    <a:pt x="4753698" y="1253413"/>
                  </a:lnTo>
                  <a:lnTo>
                    <a:pt x="4739119" y="1256811"/>
                  </a:lnTo>
                  <a:lnTo>
                    <a:pt x="4734165" y="1257299"/>
                  </a:lnTo>
                  <a:close/>
                </a:path>
              </a:pathLst>
            </a:custGeom>
            <a:solidFill>
              <a:srgbClr val="F9F6E7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" name="object 15">
              <a:extLst>
                <a:ext uri="{FF2B5EF4-FFF2-40B4-BE49-F238E27FC236}">
                  <a16:creationId xmlns:a16="http://schemas.microsoft.com/office/drawing/2014/main" id="{EB38A0F7-36FE-5044-97F4-2A504F3BBD08}"/>
                </a:ext>
              </a:extLst>
            </p:cNvPr>
            <p:cNvSpPr/>
            <p:nvPr/>
          </p:nvSpPr>
          <p:spPr>
            <a:xfrm>
              <a:off x="7058024" y="4286450"/>
              <a:ext cx="72390" cy="1257300"/>
            </a:xfrm>
            <a:custGeom>
              <a:avLst/>
              <a:gdLst/>
              <a:ahLst/>
              <a:cxnLst/>
              <a:rect l="l" t="t" r="r" b="b"/>
              <a:pathLst>
                <a:path w="72390" h="1257300">
                  <a:moveTo>
                    <a:pt x="72031" y="1256897"/>
                  </a:moveTo>
                  <a:lnTo>
                    <a:pt x="33857" y="1244267"/>
                  </a:lnTo>
                  <a:lnTo>
                    <a:pt x="5800" y="1210058"/>
                  </a:lnTo>
                  <a:lnTo>
                    <a:pt x="0" y="1180898"/>
                  </a:lnTo>
                  <a:lnTo>
                    <a:pt x="0" y="75998"/>
                  </a:lnTo>
                  <a:lnTo>
                    <a:pt x="12829" y="33655"/>
                  </a:lnTo>
                  <a:lnTo>
                    <a:pt x="47038" y="5598"/>
                  </a:lnTo>
                  <a:lnTo>
                    <a:pt x="72030" y="0"/>
                  </a:lnTo>
                  <a:lnTo>
                    <a:pt x="68764" y="1731"/>
                  </a:lnTo>
                  <a:lnTo>
                    <a:pt x="61762" y="9465"/>
                  </a:lnTo>
                  <a:lnTo>
                    <a:pt x="49799" y="46837"/>
                  </a:lnTo>
                  <a:lnTo>
                    <a:pt x="47625" y="75998"/>
                  </a:lnTo>
                  <a:lnTo>
                    <a:pt x="47625" y="1180898"/>
                  </a:lnTo>
                  <a:lnTo>
                    <a:pt x="52435" y="1223240"/>
                  </a:lnTo>
                  <a:lnTo>
                    <a:pt x="68764" y="1255164"/>
                  </a:lnTo>
                  <a:lnTo>
                    <a:pt x="72031" y="1256897"/>
                  </a:lnTo>
                  <a:close/>
                </a:path>
              </a:pathLst>
            </a:custGeom>
            <a:solidFill>
              <a:srgbClr val="F1C71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5" name="object 13">
            <a:extLst>
              <a:ext uri="{FF2B5EF4-FFF2-40B4-BE49-F238E27FC236}">
                <a16:creationId xmlns:a16="http://schemas.microsoft.com/office/drawing/2014/main" id="{54936E0D-50F7-A18F-79E8-37198EEAB9BE}"/>
              </a:ext>
            </a:extLst>
          </p:cNvPr>
          <p:cNvGrpSpPr/>
          <p:nvPr/>
        </p:nvGrpSpPr>
        <p:grpSpPr>
          <a:xfrm>
            <a:off x="328026" y="2236925"/>
            <a:ext cx="4829175" cy="729058"/>
            <a:chOff x="7058024" y="4286249"/>
            <a:chExt cx="4829175" cy="1257300"/>
          </a:xfrm>
        </p:grpSpPr>
        <p:sp>
          <p:nvSpPr>
            <p:cNvPr id="26" name="object 14">
              <a:extLst>
                <a:ext uri="{FF2B5EF4-FFF2-40B4-BE49-F238E27FC236}">
                  <a16:creationId xmlns:a16="http://schemas.microsoft.com/office/drawing/2014/main" id="{62FFA4EF-EC56-9447-9F1A-7B3C04285E22}"/>
                </a:ext>
              </a:extLst>
            </p:cNvPr>
            <p:cNvSpPr/>
            <p:nvPr/>
          </p:nvSpPr>
          <p:spPr>
            <a:xfrm>
              <a:off x="7081837" y="4286249"/>
              <a:ext cx="4805680" cy="1257300"/>
            </a:xfrm>
            <a:custGeom>
              <a:avLst/>
              <a:gdLst/>
              <a:ahLst/>
              <a:cxnLst/>
              <a:rect l="l" t="t" r="r" b="b"/>
              <a:pathLst>
                <a:path w="4805680" h="1257300">
                  <a:moveTo>
                    <a:pt x="4734165" y="1257299"/>
                  </a:moveTo>
                  <a:lnTo>
                    <a:pt x="48947" y="1257299"/>
                  </a:lnTo>
                  <a:lnTo>
                    <a:pt x="45540" y="1256811"/>
                  </a:lnTo>
                  <a:lnTo>
                    <a:pt x="12910" y="1231442"/>
                  </a:lnTo>
                  <a:lnTo>
                    <a:pt x="335" y="1191058"/>
                  </a:lnTo>
                  <a:lnTo>
                    <a:pt x="0" y="1186103"/>
                  </a:lnTo>
                  <a:lnTo>
                    <a:pt x="0" y="1181099"/>
                  </a:lnTo>
                  <a:lnTo>
                    <a:pt x="0" y="71196"/>
                  </a:lnTo>
                  <a:lnTo>
                    <a:pt x="10739" y="29704"/>
                  </a:lnTo>
                  <a:lnTo>
                    <a:pt x="38793" y="2439"/>
                  </a:lnTo>
                  <a:lnTo>
                    <a:pt x="48947" y="0"/>
                  </a:lnTo>
                  <a:lnTo>
                    <a:pt x="4734165" y="0"/>
                  </a:lnTo>
                  <a:lnTo>
                    <a:pt x="4775654" y="15621"/>
                  </a:lnTo>
                  <a:lnTo>
                    <a:pt x="4801475" y="51661"/>
                  </a:lnTo>
                  <a:lnTo>
                    <a:pt x="4805360" y="71196"/>
                  </a:lnTo>
                  <a:lnTo>
                    <a:pt x="4805360" y="1186103"/>
                  </a:lnTo>
                  <a:lnTo>
                    <a:pt x="4789738" y="1227593"/>
                  </a:lnTo>
                  <a:lnTo>
                    <a:pt x="4753698" y="1253413"/>
                  </a:lnTo>
                  <a:lnTo>
                    <a:pt x="4739119" y="1256811"/>
                  </a:lnTo>
                  <a:lnTo>
                    <a:pt x="4734165" y="1257299"/>
                  </a:lnTo>
                  <a:close/>
                </a:path>
              </a:pathLst>
            </a:custGeom>
            <a:solidFill>
              <a:srgbClr val="F9F6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27" name="object 15">
              <a:extLst>
                <a:ext uri="{FF2B5EF4-FFF2-40B4-BE49-F238E27FC236}">
                  <a16:creationId xmlns:a16="http://schemas.microsoft.com/office/drawing/2014/main" id="{2A5D8356-D7A8-F705-0243-58EF1F4F3B6E}"/>
                </a:ext>
              </a:extLst>
            </p:cNvPr>
            <p:cNvSpPr/>
            <p:nvPr/>
          </p:nvSpPr>
          <p:spPr>
            <a:xfrm>
              <a:off x="7058024" y="4286450"/>
              <a:ext cx="72390" cy="1257300"/>
            </a:xfrm>
            <a:custGeom>
              <a:avLst/>
              <a:gdLst/>
              <a:ahLst/>
              <a:cxnLst/>
              <a:rect l="l" t="t" r="r" b="b"/>
              <a:pathLst>
                <a:path w="72390" h="1257300">
                  <a:moveTo>
                    <a:pt x="72031" y="1256897"/>
                  </a:moveTo>
                  <a:lnTo>
                    <a:pt x="33857" y="1244267"/>
                  </a:lnTo>
                  <a:lnTo>
                    <a:pt x="5800" y="1210058"/>
                  </a:lnTo>
                  <a:lnTo>
                    <a:pt x="0" y="1180898"/>
                  </a:lnTo>
                  <a:lnTo>
                    <a:pt x="0" y="75998"/>
                  </a:lnTo>
                  <a:lnTo>
                    <a:pt x="12829" y="33655"/>
                  </a:lnTo>
                  <a:lnTo>
                    <a:pt x="47038" y="5598"/>
                  </a:lnTo>
                  <a:lnTo>
                    <a:pt x="72030" y="0"/>
                  </a:lnTo>
                  <a:lnTo>
                    <a:pt x="68764" y="1731"/>
                  </a:lnTo>
                  <a:lnTo>
                    <a:pt x="61762" y="9465"/>
                  </a:lnTo>
                  <a:lnTo>
                    <a:pt x="49799" y="46837"/>
                  </a:lnTo>
                  <a:lnTo>
                    <a:pt x="47625" y="75998"/>
                  </a:lnTo>
                  <a:lnTo>
                    <a:pt x="47625" y="1180898"/>
                  </a:lnTo>
                  <a:lnTo>
                    <a:pt x="52435" y="1223240"/>
                  </a:lnTo>
                  <a:lnTo>
                    <a:pt x="68764" y="1255164"/>
                  </a:lnTo>
                  <a:lnTo>
                    <a:pt x="72031" y="1256897"/>
                  </a:lnTo>
                  <a:close/>
                </a:path>
              </a:pathLst>
            </a:custGeom>
            <a:solidFill>
              <a:srgbClr val="F1C71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28" name="object 13">
            <a:extLst>
              <a:ext uri="{FF2B5EF4-FFF2-40B4-BE49-F238E27FC236}">
                <a16:creationId xmlns:a16="http://schemas.microsoft.com/office/drawing/2014/main" id="{D325BB62-8A7B-D2D7-8737-5B54417BCAC3}"/>
              </a:ext>
            </a:extLst>
          </p:cNvPr>
          <p:cNvGrpSpPr/>
          <p:nvPr/>
        </p:nvGrpSpPr>
        <p:grpSpPr>
          <a:xfrm>
            <a:off x="339024" y="3102926"/>
            <a:ext cx="4829175" cy="729058"/>
            <a:chOff x="7058024" y="4286249"/>
            <a:chExt cx="4829175" cy="1257300"/>
          </a:xfrm>
        </p:grpSpPr>
        <p:sp>
          <p:nvSpPr>
            <p:cNvPr id="29" name="object 14">
              <a:extLst>
                <a:ext uri="{FF2B5EF4-FFF2-40B4-BE49-F238E27FC236}">
                  <a16:creationId xmlns:a16="http://schemas.microsoft.com/office/drawing/2014/main" id="{505E91E5-0857-CF8F-AA32-17E03CB55418}"/>
                </a:ext>
              </a:extLst>
            </p:cNvPr>
            <p:cNvSpPr/>
            <p:nvPr/>
          </p:nvSpPr>
          <p:spPr>
            <a:xfrm>
              <a:off x="7081837" y="4286249"/>
              <a:ext cx="4805680" cy="1257300"/>
            </a:xfrm>
            <a:custGeom>
              <a:avLst/>
              <a:gdLst/>
              <a:ahLst/>
              <a:cxnLst/>
              <a:rect l="l" t="t" r="r" b="b"/>
              <a:pathLst>
                <a:path w="4805680" h="1257300">
                  <a:moveTo>
                    <a:pt x="4734165" y="1257299"/>
                  </a:moveTo>
                  <a:lnTo>
                    <a:pt x="48947" y="1257299"/>
                  </a:lnTo>
                  <a:lnTo>
                    <a:pt x="45540" y="1256811"/>
                  </a:lnTo>
                  <a:lnTo>
                    <a:pt x="12910" y="1231442"/>
                  </a:lnTo>
                  <a:lnTo>
                    <a:pt x="335" y="1191058"/>
                  </a:lnTo>
                  <a:lnTo>
                    <a:pt x="0" y="1186103"/>
                  </a:lnTo>
                  <a:lnTo>
                    <a:pt x="0" y="1181099"/>
                  </a:lnTo>
                  <a:lnTo>
                    <a:pt x="0" y="71196"/>
                  </a:lnTo>
                  <a:lnTo>
                    <a:pt x="10739" y="29704"/>
                  </a:lnTo>
                  <a:lnTo>
                    <a:pt x="38793" y="2439"/>
                  </a:lnTo>
                  <a:lnTo>
                    <a:pt x="48947" y="0"/>
                  </a:lnTo>
                  <a:lnTo>
                    <a:pt x="4734165" y="0"/>
                  </a:lnTo>
                  <a:lnTo>
                    <a:pt x="4775654" y="15621"/>
                  </a:lnTo>
                  <a:lnTo>
                    <a:pt x="4801475" y="51661"/>
                  </a:lnTo>
                  <a:lnTo>
                    <a:pt x="4805360" y="71196"/>
                  </a:lnTo>
                  <a:lnTo>
                    <a:pt x="4805360" y="1186103"/>
                  </a:lnTo>
                  <a:lnTo>
                    <a:pt x="4789738" y="1227593"/>
                  </a:lnTo>
                  <a:lnTo>
                    <a:pt x="4753698" y="1253413"/>
                  </a:lnTo>
                  <a:lnTo>
                    <a:pt x="4739119" y="1256811"/>
                  </a:lnTo>
                  <a:lnTo>
                    <a:pt x="4734165" y="1257299"/>
                  </a:lnTo>
                  <a:close/>
                </a:path>
              </a:pathLst>
            </a:custGeom>
            <a:solidFill>
              <a:srgbClr val="F9F6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0" name="object 15">
              <a:extLst>
                <a:ext uri="{FF2B5EF4-FFF2-40B4-BE49-F238E27FC236}">
                  <a16:creationId xmlns:a16="http://schemas.microsoft.com/office/drawing/2014/main" id="{7B3A0AA6-C61A-ED04-DC04-3C68FFD41FA8}"/>
                </a:ext>
              </a:extLst>
            </p:cNvPr>
            <p:cNvSpPr/>
            <p:nvPr/>
          </p:nvSpPr>
          <p:spPr>
            <a:xfrm>
              <a:off x="7058024" y="4286450"/>
              <a:ext cx="72390" cy="1257300"/>
            </a:xfrm>
            <a:custGeom>
              <a:avLst/>
              <a:gdLst/>
              <a:ahLst/>
              <a:cxnLst/>
              <a:rect l="l" t="t" r="r" b="b"/>
              <a:pathLst>
                <a:path w="72390" h="1257300">
                  <a:moveTo>
                    <a:pt x="72031" y="1256897"/>
                  </a:moveTo>
                  <a:lnTo>
                    <a:pt x="33857" y="1244267"/>
                  </a:lnTo>
                  <a:lnTo>
                    <a:pt x="5800" y="1210058"/>
                  </a:lnTo>
                  <a:lnTo>
                    <a:pt x="0" y="1180898"/>
                  </a:lnTo>
                  <a:lnTo>
                    <a:pt x="0" y="75998"/>
                  </a:lnTo>
                  <a:lnTo>
                    <a:pt x="12829" y="33655"/>
                  </a:lnTo>
                  <a:lnTo>
                    <a:pt x="47038" y="5598"/>
                  </a:lnTo>
                  <a:lnTo>
                    <a:pt x="72030" y="0"/>
                  </a:lnTo>
                  <a:lnTo>
                    <a:pt x="68764" y="1731"/>
                  </a:lnTo>
                  <a:lnTo>
                    <a:pt x="61762" y="9465"/>
                  </a:lnTo>
                  <a:lnTo>
                    <a:pt x="49799" y="46837"/>
                  </a:lnTo>
                  <a:lnTo>
                    <a:pt x="47625" y="75998"/>
                  </a:lnTo>
                  <a:lnTo>
                    <a:pt x="47625" y="1180898"/>
                  </a:lnTo>
                  <a:lnTo>
                    <a:pt x="52435" y="1223240"/>
                  </a:lnTo>
                  <a:lnTo>
                    <a:pt x="68764" y="1255164"/>
                  </a:lnTo>
                  <a:lnTo>
                    <a:pt x="72031" y="1256897"/>
                  </a:lnTo>
                  <a:close/>
                </a:path>
              </a:pathLst>
            </a:custGeom>
            <a:solidFill>
              <a:srgbClr val="F1C71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1" name="object 13">
            <a:extLst>
              <a:ext uri="{FF2B5EF4-FFF2-40B4-BE49-F238E27FC236}">
                <a16:creationId xmlns:a16="http://schemas.microsoft.com/office/drawing/2014/main" id="{E4257EB4-0557-AE79-932E-D880BF633F0C}"/>
              </a:ext>
            </a:extLst>
          </p:cNvPr>
          <p:cNvGrpSpPr/>
          <p:nvPr/>
        </p:nvGrpSpPr>
        <p:grpSpPr>
          <a:xfrm>
            <a:off x="339024" y="3968810"/>
            <a:ext cx="4829175" cy="729058"/>
            <a:chOff x="7058024" y="4286249"/>
            <a:chExt cx="4829175" cy="1257300"/>
          </a:xfrm>
        </p:grpSpPr>
        <p:sp>
          <p:nvSpPr>
            <p:cNvPr id="32" name="object 14">
              <a:extLst>
                <a:ext uri="{FF2B5EF4-FFF2-40B4-BE49-F238E27FC236}">
                  <a16:creationId xmlns:a16="http://schemas.microsoft.com/office/drawing/2014/main" id="{9E744F8D-C024-98DD-4160-9C6D6D3E6ECA}"/>
                </a:ext>
              </a:extLst>
            </p:cNvPr>
            <p:cNvSpPr/>
            <p:nvPr/>
          </p:nvSpPr>
          <p:spPr>
            <a:xfrm>
              <a:off x="7081837" y="4286249"/>
              <a:ext cx="4805680" cy="1257300"/>
            </a:xfrm>
            <a:custGeom>
              <a:avLst/>
              <a:gdLst/>
              <a:ahLst/>
              <a:cxnLst/>
              <a:rect l="l" t="t" r="r" b="b"/>
              <a:pathLst>
                <a:path w="4805680" h="1257300">
                  <a:moveTo>
                    <a:pt x="4734165" y="1257299"/>
                  </a:moveTo>
                  <a:lnTo>
                    <a:pt x="48947" y="1257299"/>
                  </a:lnTo>
                  <a:lnTo>
                    <a:pt x="45540" y="1256811"/>
                  </a:lnTo>
                  <a:lnTo>
                    <a:pt x="12910" y="1231442"/>
                  </a:lnTo>
                  <a:lnTo>
                    <a:pt x="335" y="1191058"/>
                  </a:lnTo>
                  <a:lnTo>
                    <a:pt x="0" y="1186103"/>
                  </a:lnTo>
                  <a:lnTo>
                    <a:pt x="0" y="1181099"/>
                  </a:lnTo>
                  <a:lnTo>
                    <a:pt x="0" y="71196"/>
                  </a:lnTo>
                  <a:lnTo>
                    <a:pt x="10739" y="29704"/>
                  </a:lnTo>
                  <a:lnTo>
                    <a:pt x="38793" y="2439"/>
                  </a:lnTo>
                  <a:lnTo>
                    <a:pt x="48947" y="0"/>
                  </a:lnTo>
                  <a:lnTo>
                    <a:pt x="4734165" y="0"/>
                  </a:lnTo>
                  <a:lnTo>
                    <a:pt x="4775654" y="15621"/>
                  </a:lnTo>
                  <a:lnTo>
                    <a:pt x="4801475" y="51661"/>
                  </a:lnTo>
                  <a:lnTo>
                    <a:pt x="4805360" y="71196"/>
                  </a:lnTo>
                  <a:lnTo>
                    <a:pt x="4805360" y="1186103"/>
                  </a:lnTo>
                  <a:lnTo>
                    <a:pt x="4789738" y="1227593"/>
                  </a:lnTo>
                  <a:lnTo>
                    <a:pt x="4753698" y="1253413"/>
                  </a:lnTo>
                  <a:lnTo>
                    <a:pt x="4739119" y="1256811"/>
                  </a:lnTo>
                  <a:lnTo>
                    <a:pt x="4734165" y="1257299"/>
                  </a:lnTo>
                  <a:close/>
                </a:path>
              </a:pathLst>
            </a:custGeom>
            <a:solidFill>
              <a:srgbClr val="F9F6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3" name="object 15">
              <a:extLst>
                <a:ext uri="{FF2B5EF4-FFF2-40B4-BE49-F238E27FC236}">
                  <a16:creationId xmlns:a16="http://schemas.microsoft.com/office/drawing/2014/main" id="{0E44A444-00C3-6F6D-D5E5-66122D0FB597}"/>
                </a:ext>
              </a:extLst>
            </p:cNvPr>
            <p:cNvSpPr/>
            <p:nvPr/>
          </p:nvSpPr>
          <p:spPr>
            <a:xfrm>
              <a:off x="7058024" y="4286450"/>
              <a:ext cx="72390" cy="1257300"/>
            </a:xfrm>
            <a:custGeom>
              <a:avLst/>
              <a:gdLst/>
              <a:ahLst/>
              <a:cxnLst/>
              <a:rect l="l" t="t" r="r" b="b"/>
              <a:pathLst>
                <a:path w="72390" h="1257300">
                  <a:moveTo>
                    <a:pt x="72031" y="1256897"/>
                  </a:moveTo>
                  <a:lnTo>
                    <a:pt x="33857" y="1244267"/>
                  </a:lnTo>
                  <a:lnTo>
                    <a:pt x="5800" y="1210058"/>
                  </a:lnTo>
                  <a:lnTo>
                    <a:pt x="0" y="1180898"/>
                  </a:lnTo>
                  <a:lnTo>
                    <a:pt x="0" y="75998"/>
                  </a:lnTo>
                  <a:lnTo>
                    <a:pt x="12829" y="33655"/>
                  </a:lnTo>
                  <a:lnTo>
                    <a:pt x="47038" y="5598"/>
                  </a:lnTo>
                  <a:lnTo>
                    <a:pt x="72030" y="0"/>
                  </a:lnTo>
                  <a:lnTo>
                    <a:pt x="68764" y="1731"/>
                  </a:lnTo>
                  <a:lnTo>
                    <a:pt x="61762" y="9465"/>
                  </a:lnTo>
                  <a:lnTo>
                    <a:pt x="49799" y="46837"/>
                  </a:lnTo>
                  <a:lnTo>
                    <a:pt x="47625" y="75998"/>
                  </a:lnTo>
                  <a:lnTo>
                    <a:pt x="47625" y="1180898"/>
                  </a:lnTo>
                  <a:lnTo>
                    <a:pt x="52435" y="1223240"/>
                  </a:lnTo>
                  <a:lnTo>
                    <a:pt x="68764" y="1255164"/>
                  </a:lnTo>
                  <a:lnTo>
                    <a:pt x="72031" y="1256897"/>
                  </a:lnTo>
                  <a:close/>
                </a:path>
              </a:pathLst>
            </a:custGeom>
            <a:solidFill>
              <a:srgbClr val="F1C71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6" name="object 13">
            <a:extLst>
              <a:ext uri="{FF2B5EF4-FFF2-40B4-BE49-F238E27FC236}">
                <a16:creationId xmlns:a16="http://schemas.microsoft.com/office/drawing/2014/main" id="{FBC4D855-D650-2E01-4D8B-66596060440D}"/>
              </a:ext>
            </a:extLst>
          </p:cNvPr>
          <p:cNvGrpSpPr/>
          <p:nvPr/>
        </p:nvGrpSpPr>
        <p:grpSpPr>
          <a:xfrm>
            <a:off x="328026" y="5690874"/>
            <a:ext cx="4829175" cy="729058"/>
            <a:chOff x="7058024" y="4286249"/>
            <a:chExt cx="4829175" cy="1257300"/>
          </a:xfrm>
        </p:grpSpPr>
        <p:sp>
          <p:nvSpPr>
            <p:cNvPr id="37" name="object 14">
              <a:extLst>
                <a:ext uri="{FF2B5EF4-FFF2-40B4-BE49-F238E27FC236}">
                  <a16:creationId xmlns:a16="http://schemas.microsoft.com/office/drawing/2014/main" id="{A771119A-A633-35E5-ABED-35827AA05749}"/>
                </a:ext>
              </a:extLst>
            </p:cNvPr>
            <p:cNvSpPr/>
            <p:nvPr/>
          </p:nvSpPr>
          <p:spPr>
            <a:xfrm>
              <a:off x="7081837" y="4286249"/>
              <a:ext cx="4805680" cy="1257300"/>
            </a:xfrm>
            <a:custGeom>
              <a:avLst/>
              <a:gdLst/>
              <a:ahLst/>
              <a:cxnLst/>
              <a:rect l="l" t="t" r="r" b="b"/>
              <a:pathLst>
                <a:path w="4805680" h="1257300">
                  <a:moveTo>
                    <a:pt x="4734165" y="1257299"/>
                  </a:moveTo>
                  <a:lnTo>
                    <a:pt x="48947" y="1257299"/>
                  </a:lnTo>
                  <a:lnTo>
                    <a:pt x="45540" y="1256811"/>
                  </a:lnTo>
                  <a:lnTo>
                    <a:pt x="12910" y="1231442"/>
                  </a:lnTo>
                  <a:lnTo>
                    <a:pt x="335" y="1191058"/>
                  </a:lnTo>
                  <a:lnTo>
                    <a:pt x="0" y="1186103"/>
                  </a:lnTo>
                  <a:lnTo>
                    <a:pt x="0" y="1181099"/>
                  </a:lnTo>
                  <a:lnTo>
                    <a:pt x="0" y="71196"/>
                  </a:lnTo>
                  <a:lnTo>
                    <a:pt x="10739" y="29704"/>
                  </a:lnTo>
                  <a:lnTo>
                    <a:pt x="38793" y="2439"/>
                  </a:lnTo>
                  <a:lnTo>
                    <a:pt x="48947" y="0"/>
                  </a:lnTo>
                  <a:lnTo>
                    <a:pt x="4734165" y="0"/>
                  </a:lnTo>
                  <a:lnTo>
                    <a:pt x="4775654" y="15621"/>
                  </a:lnTo>
                  <a:lnTo>
                    <a:pt x="4801475" y="51661"/>
                  </a:lnTo>
                  <a:lnTo>
                    <a:pt x="4805360" y="71196"/>
                  </a:lnTo>
                  <a:lnTo>
                    <a:pt x="4805360" y="1186103"/>
                  </a:lnTo>
                  <a:lnTo>
                    <a:pt x="4789738" y="1227593"/>
                  </a:lnTo>
                  <a:lnTo>
                    <a:pt x="4753698" y="1253413"/>
                  </a:lnTo>
                  <a:lnTo>
                    <a:pt x="4739119" y="1256811"/>
                  </a:lnTo>
                  <a:lnTo>
                    <a:pt x="4734165" y="1257299"/>
                  </a:lnTo>
                  <a:close/>
                </a:path>
              </a:pathLst>
            </a:custGeom>
            <a:solidFill>
              <a:srgbClr val="F9F6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38" name="object 15">
              <a:extLst>
                <a:ext uri="{FF2B5EF4-FFF2-40B4-BE49-F238E27FC236}">
                  <a16:creationId xmlns:a16="http://schemas.microsoft.com/office/drawing/2014/main" id="{903ED3A8-054B-0D03-CAAE-07E170A7CCFF}"/>
                </a:ext>
              </a:extLst>
            </p:cNvPr>
            <p:cNvSpPr/>
            <p:nvPr/>
          </p:nvSpPr>
          <p:spPr>
            <a:xfrm>
              <a:off x="7058024" y="4286450"/>
              <a:ext cx="72390" cy="1257300"/>
            </a:xfrm>
            <a:custGeom>
              <a:avLst/>
              <a:gdLst/>
              <a:ahLst/>
              <a:cxnLst/>
              <a:rect l="l" t="t" r="r" b="b"/>
              <a:pathLst>
                <a:path w="72390" h="1257300">
                  <a:moveTo>
                    <a:pt x="72031" y="1256897"/>
                  </a:moveTo>
                  <a:lnTo>
                    <a:pt x="33857" y="1244267"/>
                  </a:lnTo>
                  <a:lnTo>
                    <a:pt x="5800" y="1210058"/>
                  </a:lnTo>
                  <a:lnTo>
                    <a:pt x="0" y="1180898"/>
                  </a:lnTo>
                  <a:lnTo>
                    <a:pt x="0" y="75998"/>
                  </a:lnTo>
                  <a:lnTo>
                    <a:pt x="12829" y="33655"/>
                  </a:lnTo>
                  <a:lnTo>
                    <a:pt x="47038" y="5598"/>
                  </a:lnTo>
                  <a:lnTo>
                    <a:pt x="72030" y="0"/>
                  </a:lnTo>
                  <a:lnTo>
                    <a:pt x="68764" y="1731"/>
                  </a:lnTo>
                  <a:lnTo>
                    <a:pt x="61762" y="9465"/>
                  </a:lnTo>
                  <a:lnTo>
                    <a:pt x="49799" y="46837"/>
                  </a:lnTo>
                  <a:lnTo>
                    <a:pt x="47625" y="75998"/>
                  </a:lnTo>
                  <a:lnTo>
                    <a:pt x="47625" y="1180898"/>
                  </a:lnTo>
                  <a:lnTo>
                    <a:pt x="52435" y="1223240"/>
                  </a:lnTo>
                  <a:lnTo>
                    <a:pt x="68764" y="1255164"/>
                  </a:lnTo>
                  <a:lnTo>
                    <a:pt x="72031" y="1256897"/>
                  </a:lnTo>
                  <a:close/>
                </a:path>
              </a:pathLst>
            </a:custGeom>
            <a:solidFill>
              <a:srgbClr val="F1C71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39" name="object 13">
            <a:extLst>
              <a:ext uri="{FF2B5EF4-FFF2-40B4-BE49-F238E27FC236}">
                <a16:creationId xmlns:a16="http://schemas.microsoft.com/office/drawing/2014/main" id="{F4B38DD9-848B-912E-E8A9-306DBDB0450D}"/>
              </a:ext>
            </a:extLst>
          </p:cNvPr>
          <p:cNvGrpSpPr/>
          <p:nvPr/>
        </p:nvGrpSpPr>
        <p:grpSpPr>
          <a:xfrm>
            <a:off x="328026" y="4834577"/>
            <a:ext cx="4829175" cy="729058"/>
            <a:chOff x="7058024" y="4286249"/>
            <a:chExt cx="4829175" cy="1257300"/>
          </a:xfrm>
        </p:grpSpPr>
        <p:sp>
          <p:nvSpPr>
            <p:cNvPr id="40" name="object 14">
              <a:extLst>
                <a:ext uri="{FF2B5EF4-FFF2-40B4-BE49-F238E27FC236}">
                  <a16:creationId xmlns:a16="http://schemas.microsoft.com/office/drawing/2014/main" id="{2A5EA8CD-1C63-0CF3-1049-EC42670EF2AE}"/>
                </a:ext>
              </a:extLst>
            </p:cNvPr>
            <p:cNvSpPr/>
            <p:nvPr/>
          </p:nvSpPr>
          <p:spPr>
            <a:xfrm>
              <a:off x="7081837" y="4286249"/>
              <a:ext cx="4805680" cy="1257300"/>
            </a:xfrm>
            <a:custGeom>
              <a:avLst/>
              <a:gdLst/>
              <a:ahLst/>
              <a:cxnLst/>
              <a:rect l="l" t="t" r="r" b="b"/>
              <a:pathLst>
                <a:path w="4805680" h="1257300">
                  <a:moveTo>
                    <a:pt x="4734165" y="1257299"/>
                  </a:moveTo>
                  <a:lnTo>
                    <a:pt x="48947" y="1257299"/>
                  </a:lnTo>
                  <a:lnTo>
                    <a:pt x="45540" y="1256811"/>
                  </a:lnTo>
                  <a:lnTo>
                    <a:pt x="12910" y="1231442"/>
                  </a:lnTo>
                  <a:lnTo>
                    <a:pt x="335" y="1191058"/>
                  </a:lnTo>
                  <a:lnTo>
                    <a:pt x="0" y="1186103"/>
                  </a:lnTo>
                  <a:lnTo>
                    <a:pt x="0" y="1181099"/>
                  </a:lnTo>
                  <a:lnTo>
                    <a:pt x="0" y="71196"/>
                  </a:lnTo>
                  <a:lnTo>
                    <a:pt x="10739" y="29704"/>
                  </a:lnTo>
                  <a:lnTo>
                    <a:pt x="38793" y="2439"/>
                  </a:lnTo>
                  <a:lnTo>
                    <a:pt x="48947" y="0"/>
                  </a:lnTo>
                  <a:lnTo>
                    <a:pt x="4734165" y="0"/>
                  </a:lnTo>
                  <a:lnTo>
                    <a:pt x="4775654" y="15621"/>
                  </a:lnTo>
                  <a:lnTo>
                    <a:pt x="4801475" y="51661"/>
                  </a:lnTo>
                  <a:lnTo>
                    <a:pt x="4805360" y="71196"/>
                  </a:lnTo>
                  <a:lnTo>
                    <a:pt x="4805360" y="1186103"/>
                  </a:lnTo>
                  <a:lnTo>
                    <a:pt x="4789738" y="1227593"/>
                  </a:lnTo>
                  <a:lnTo>
                    <a:pt x="4753698" y="1253413"/>
                  </a:lnTo>
                  <a:lnTo>
                    <a:pt x="4739119" y="1256811"/>
                  </a:lnTo>
                  <a:lnTo>
                    <a:pt x="4734165" y="1257299"/>
                  </a:lnTo>
                  <a:close/>
                </a:path>
              </a:pathLst>
            </a:custGeom>
            <a:solidFill>
              <a:srgbClr val="F9F6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1" name="object 15">
              <a:extLst>
                <a:ext uri="{FF2B5EF4-FFF2-40B4-BE49-F238E27FC236}">
                  <a16:creationId xmlns:a16="http://schemas.microsoft.com/office/drawing/2014/main" id="{6E31E798-5F15-BD7B-2BD3-1C157F19EF1A}"/>
                </a:ext>
              </a:extLst>
            </p:cNvPr>
            <p:cNvSpPr/>
            <p:nvPr/>
          </p:nvSpPr>
          <p:spPr>
            <a:xfrm>
              <a:off x="7058024" y="4286450"/>
              <a:ext cx="72390" cy="1257300"/>
            </a:xfrm>
            <a:custGeom>
              <a:avLst/>
              <a:gdLst/>
              <a:ahLst/>
              <a:cxnLst/>
              <a:rect l="l" t="t" r="r" b="b"/>
              <a:pathLst>
                <a:path w="72390" h="1257300">
                  <a:moveTo>
                    <a:pt x="72031" y="1256897"/>
                  </a:moveTo>
                  <a:lnTo>
                    <a:pt x="33857" y="1244267"/>
                  </a:lnTo>
                  <a:lnTo>
                    <a:pt x="5800" y="1210058"/>
                  </a:lnTo>
                  <a:lnTo>
                    <a:pt x="0" y="1180898"/>
                  </a:lnTo>
                  <a:lnTo>
                    <a:pt x="0" y="75998"/>
                  </a:lnTo>
                  <a:lnTo>
                    <a:pt x="12829" y="33655"/>
                  </a:lnTo>
                  <a:lnTo>
                    <a:pt x="47038" y="5598"/>
                  </a:lnTo>
                  <a:lnTo>
                    <a:pt x="72030" y="0"/>
                  </a:lnTo>
                  <a:lnTo>
                    <a:pt x="68764" y="1731"/>
                  </a:lnTo>
                  <a:lnTo>
                    <a:pt x="61762" y="9465"/>
                  </a:lnTo>
                  <a:lnTo>
                    <a:pt x="49799" y="46837"/>
                  </a:lnTo>
                  <a:lnTo>
                    <a:pt x="47625" y="75998"/>
                  </a:lnTo>
                  <a:lnTo>
                    <a:pt x="47625" y="1180898"/>
                  </a:lnTo>
                  <a:lnTo>
                    <a:pt x="52435" y="1223240"/>
                  </a:lnTo>
                  <a:lnTo>
                    <a:pt x="68764" y="1255164"/>
                  </a:lnTo>
                  <a:lnTo>
                    <a:pt x="72031" y="1256897"/>
                  </a:lnTo>
                  <a:close/>
                </a:path>
              </a:pathLst>
            </a:custGeom>
            <a:solidFill>
              <a:srgbClr val="F1C71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5" name="object 13">
            <a:extLst>
              <a:ext uri="{FF2B5EF4-FFF2-40B4-BE49-F238E27FC236}">
                <a16:creationId xmlns:a16="http://schemas.microsoft.com/office/drawing/2014/main" id="{081CB6D1-B6A1-27E8-F903-39A0270B4A08}"/>
              </a:ext>
            </a:extLst>
          </p:cNvPr>
          <p:cNvGrpSpPr/>
          <p:nvPr/>
        </p:nvGrpSpPr>
        <p:grpSpPr>
          <a:xfrm>
            <a:off x="5492794" y="1893773"/>
            <a:ext cx="4829175" cy="729058"/>
            <a:chOff x="7058024" y="4286249"/>
            <a:chExt cx="4829175" cy="1257300"/>
          </a:xfrm>
        </p:grpSpPr>
        <p:sp>
          <p:nvSpPr>
            <p:cNvPr id="46" name="object 14">
              <a:extLst>
                <a:ext uri="{FF2B5EF4-FFF2-40B4-BE49-F238E27FC236}">
                  <a16:creationId xmlns:a16="http://schemas.microsoft.com/office/drawing/2014/main" id="{4F85DA89-BC2C-79D9-A3A1-531FC9A0DE69}"/>
                </a:ext>
              </a:extLst>
            </p:cNvPr>
            <p:cNvSpPr/>
            <p:nvPr/>
          </p:nvSpPr>
          <p:spPr>
            <a:xfrm>
              <a:off x="7081837" y="4286249"/>
              <a:ext cx="4805680" cy="1257300"/>
            </a:xfrm>
            <a:custGeom>
              <a:avLst/>
              <a:gdLst/>
              <a:ahLst/>
              <a:cxnLst/>
              <a:rect l="l" t="t" r="r" b="b"/>
              <a:pathLst>
                <a:path w="4805680" h="1257300">
                  <a:moveTo>
                    <a:pt x="4734165" y="1257299"/>
                  </a:moveTo>
                  <a:lnTo>
                    <a:pt x="48947" y="1257299"/>
                  </a:lnTo>
                  <a:lnTo>
                    <a:pt x="45540" y="1256811"/>
                  </a:lnTo>
                  <a:lnTo>
                    <a:pt x="12910" y="1231442"/>
                  </a:lnTo>
                  <a:lnTo>
                    <a:pt x="335" y="1191058"/>
                  </a:lnTo>
                  <a:lnTo>
                    <a:pt x="0" y="1186103"/>
                  </a:lnTo>
                  <a:lnTo>
                    <a:pt x="0" y="1181099"/>
                  </a:lnTo>
                  <a:lnTo>
                    <a:pt x="0" y="71196"/>
                  </a:lnTo>
                  <a:lnTo>
                    <a:pt x="10739" y="29704"/>
                  </a:lnTo>
                  <a:lnTo>
                    <a:pt x="38793" y="2439"/>
                  </a:lnTo>
                  <a:lnTo>
                    <a:pt x="48947" y="0"/>
                  </a:lnTo>
                  <a:lnTo>
                    <a:pt x="4734165" y="0"/>
                  </a:lnTo>
                  <a:lnTo>
                    <a:pt x="4775654" y="15621"/>
                  </a:lnTo>
                  <a:lnTo>
                    <a:pt x="4801475" y="51661"/>
                  </a:lnTo>
                  <a:lnTo>
                    <a:pt x="4805360" y="71196"/>
                  </a:lnTo>
                  <a:lnTo>
                    <a:pt x="4805360" y="1186103"/>
                  </a:lnTo>
                  <a:lnTo>
                    <a:pt x="4789738" y="1227593"/>
                  </a:lnTo>
                  <a:lnTo>
                    <a:pt x="4753698" y="1253413"/>
                  </a:lnTo>
                  <a:lnTo>
                    <a:pt x="4739119" y="1256811"/>
                  </a:lnTo>
                  <a:lnTo>
                    <a:pt x="4734165" y="1257299"/>
                  </a:lnTo>
                  <a:close/>
                </a:path>
              </a:pathLst>
            </a:custGeom>
            <a:solidFill>
              <a:srgbClr val="F9F6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47" name="object 15">
              <a:extLst>
                <a:ext uri="{FF2B5EF4-FFF2-40B4-BE49-F238E27FC236}">
                  <a16:creationId xmlns:a16="http://schemas.microsoft.com/office/drawing/2014/main" id="{DEAF7A79-146B-4404-5361-637EA5A38065}"/>
                </a:ext>
              </a:extLst>
            </p:cNvPr>
            <p:cNvSpPr/>
            <p:nvPr/>
          </p:nvSpPr>
          <p:spPr>
            <a:xfrm>
              <a:off x="7058024" y="4286450"/>
              <a:ext cx="72390" cy="1257300"/>
            </a:xfrm>
            <a:custGeom>
              <a:avLst/>
              <a:gdLst/>
              <a:ahLst/>
              <a:cxnLst/>
              <a:rect l="l" t="t" r="r" b="b"/>
              <a:pathLst>
                <a:path w="72390" h="1257300">
                  <a:moveTo>
                    <a:pt x="72031" y="1256897"/>
                  </a:moveTo>
                  <a:lnTo>
                    <a:pt x="33857" y="1244267"/>
                  </a:lnTo>
                  <a:lnTo>
                    <a:pt x="5800" y="1210058"/>
                  </a:lnTo>
                  <a:lnTo>
                    <a:pt x="0" y="1180898"/>
                  </a:lnTo>
                  <a:lnTo>
                    <a:pt x="0" y="75998"/>
                  </a:lnTo>
                  <a:lnTo>
                    <a:pt x="12829" y="33655"/>
                  </a:lnTo>
                  <a:lnTo>
                    <a:pt x="47038" y="5598"/>
                  </a:lnTo>
                  <a:lnTo>
                    <a:pt x="72030" y="0"/>
                  </a:lnTo>
                  <a:lnTo>
                    <a:pt x="68764" y="1731"/>
                  </a:lnTo>
                  <a:lnTo>
                    <a:pt x="61762" y="9465"/>
                  </a:lnTo>
                  <a:lnTo>
                    <a:pt x="49799" y="46837"/>
                  </a:lnTo>
                  <a:lnTo>
                    <a:pt x="47625" y="75998"/>
                  </a:lnTo>
                  <a:lnTo>
                    <a:pt x="47625" y="1180898"/>
                  </a:lnTo>
                  <a:lnTo>
                    <a:pt x="52435" y="1223240"/>
                  </a:lnTo>
                  <a:lnTo>
                    <a:pt x="68764" y="1255164"/>
                  </a:lnTo>
                  <a:lnTo>
                    <a:pt x="72031" y="1256897"/>
                  </a:lnTo>
                  <a:close/>
                </a:path>
              </a:pathLst>
            </a:custGeom>
            <a:solidFill>
              <a:srgbClr val="F1C71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48" name="object 13">
            <a:extLst>
              <a:ext uri="{FF2B5EF4-FFF2-40B4-BE49-F238E27FC236}">
                <a16:creationId xmlns:a16="http://schemas.microsoft.com/office/drawing/2014/main" id="{3DFF4C37-CC08-B7C0-BF28-602F80804D2F}"/>
              </a:ext>
            </a:extLst>
          </p:cNvPr>
          <p:cNvGrpSpPr/>
          <p:nvPr/>
        </p:nvGrpSpPr>
        <p:grpSpPr>
          <a:xfrm>
            <a:off x="5492794" y="2655773"/>
            <a:ext cx="4829175" cy="729058"/>
            <a:chOff x="7058024" y="4286249"/>
            <a:chExt cx="4829175" cy="1257300"/>
          </a:xfrm>
        </p:grpSpPr>
        <p:sp>
          <p:nvSpPr>
            <p:cNvPr id="49" name="object 14">
              <a:extLst>
                <a:ext uri="{FF2B5EF4-FFF2-40B4-BE49-F238E27FC236}">
                  <a16:creationId xmlns:a16="http://schemas.microsoft.com/office/drawing/2014/main" id="{EBA5CC89-C3A8-BB5F-34A6-0C59F769C956}"/>
                </a:ext>
              </a:extLst>
            </p:cNvPr>
            <p:cNvSpPr/>
            <p:nvPr/>
          </p:nvSpPr>
          <p:spPr>
            <a:xfrm>
              <a:off x="7081837" y="4286249"/>
              <a:ext cx="4805680" cy="1257300"/>
            </a:xfrm>
            <a:custGeom>
              <a:avLst/>
              <a:gdLst/>
              <a:ahLst/>
              <a:cxnLst/>
              <a:rect l="l" t="t" r="r" b="b"/>
              <a:pathLst>
                <a:path w="4805680" h="1257300">
                  <a:moveTo>
                    <a:pt x="4734165" y="1257299"/>
                  </a:moveTo>
                  <a:lnTo>
                    <a:pt x="48947" y="1257299"/>
                  </a:lnTo>
                  <a:lnTo>
                    <a:pt x="45540" y="1256811"/>
                  </a:lnTo>
                  <a:lnTo>
                    <a:pt x="12910" y="1231442"/>
                  </a:lnTo>
                  <a:lnTo>
                    <a:pt x="335" y="1191058"/>
                  </a:lnTo>
                  <a:lnTo>
                    <a:pt x="0" y="1186103"/>
                  </a:lnTo>
                  <a:lnTo>
                    <a:pt x="0" y="1181099"/>
                  </a:lnTo>
                  <a:lnTo>
                    <a:pt x="0" y="71196"/>
                  </a:lnTo>
                  <a:lnTo>
                    <a:pt x="10739" y="29704"/>
                  </a:lnTo>
                  <a:lnTo>
                    <a:pt x="38793" y="2439"/>
                  </a:lnTo>
                  <a:lnTo>
                    <a:pt x="48947" y="0"/>
                  </a:lnTo>
                  <a:lnTo>
                    <a:pt x="4734165" y="0"/>
                  </a:lnTo>
                  <a:lnTo>
                    <a:pt x="4775654" y="15621"/>
                  </a:lnTo>
                  <a:lnTo>
                    <a:pt x="4801475" y="51661"/>
                  </a:lnTo>
                  <a:lnTo>
                    <a:pt x="4805360" y="71196"/>
                  </a:lnTo>
                  <a:lnTo>
                    <a:pt x="4805360" y="1186103"/>
                  </a:lnTo>
                  <a:lnTo>
                    <a:pt x="4789738" y="1227593"/>
                  </a:lnTo>
                  <a:lnTo>
                    <a:pt x="4753698" y="1253413"/>
                  </a:lnTo>
                  <a:lnTo>
                    <a:pt x="4739119" y="1256811"/>
                  </a:lnTo>
                  <a:lnTo>
                    <a:pt x="4734165" y="1257299"/>
                  </a:lnTo>
                  <a:close/>
                </a:path>
              </a:pathLst>
            </a:custGeom>
            <a:solidFill>
              <a:srgbClr val="F9F6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0" name="object 15">
              <a:extLst>
                <a:ext uri="{FF2B5EF4-FFF2-40B4-BE49-F238E27FC236}">
                  <a16:creationId xmlns:a16="http://schemas.microsoft.com/office/drawing/2014/main" id="{FD8F3B7C-ED45-5865-1E7C-E55837023881}"/>
                </a:ext>
              </a:extLst>
            </p:cNvPr>
            <p:cNvSpPr/>
            <p:nvPr/>
          </p:nvSpPr>
          <p:spPr>
            <a:xfrm>
              <a:off x="7058024" y="4286450"/>
              <a:ext cx="72390" cy="1257300"/>
            </a:xfrm>
            <a:custGeom>
              <a:avLst/>
              <a:gdLst/>
              <a:ahLst/>
              <a:cxnLst/>
              <a:rect l="l" t="t" r="r" b="b"/>
              <a:pathLst>
                <a:path w="72390" h="1257300">
                  <a:moveTo>
                    <a:pt x="72031" y="1256897"/>
                  </a:moveTo>
                  <a:lnTo>
                    <a:pt x="33857" y="1244267"/>
                  </a:lnTo>
                  <a:lnTo>
                    <a:pt x="5800" y="1210058"/>
                  </a:lnTo>
                  <a:lnTo>
                    <a:pt x="0" y="1180898"/>
                  </a:lnTo>
                  <a:lnTo>
                    <a:pt x="0" y="75998"/>
                  </a:lnTo>
                  <a:lnTo>
                    <a:pt x="12829" y="33655"/>
                  </a:lnTo>
                  <a:lnTo>
                    <a:pt x="47038" y="5598"/>
                  </a:lnTo>
                  <a:lnTo>
                    <a:pt x="72030" y="0"/>
                  </a:lnTo>
                  <a:lnTo>
                    <a:pt x="68764" y="1731"/>
                  </a:lnTo>
                  <a:lnTo>
                    <a:pt x="61762" y="9465"/>
                  </a:lnTo>
                  <a:lnTo>
                    <a:pt x="49799" y="46837"/>
                  </a:lnTo>
                  <a:lnTo>
                    <a:pt x="47625" y="75998"/>
                  </a:lnTo>
                  <a:lnTo>
                    <a:pt x="47625" y="1180898"/>
                  </a:lnTo>
                  <a:lnTo>
                    <a:pt x="52435" y="1223240"/>
                  </a:lnTo>
                  <a:lnTo>
                    <a:pt x="68764" y="1255164"/>
                  </a:lnTo>
                  <a:lnTo>
                    <a:pt x="72031" y="1256897"/>
                  </a:lnTo>
                  <a:close/>
                </a:path>
              </a:pathLst>
            </a:custGeom>
            <a:solidFill>
              <a:srgbClr val="F1C71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1" name="object 13">
            <a:extLst>
              <a:ext uri="{FF2B5EF4-FFF2-40B4-BE49-F238E27FC236}">
                <a16:creationId xmlns:a16="http://schemas.microsoft.com/office/drawing/2014/main" id="{8D3D042B-0632-1BC1-2638-725C30A4B969}"/>
              </a:ext>
            </a:extLst>
          </p:cNvPr>
          <p:cNvGrpSpPr/>
          <p:nvPr/>
        </p:nvGrpSpPr>
        <p:grpSpPr>
          <a:xfrm>
            <a:off x="5486400" y="3417773"/>
            <a:ext cx="4829175" cy="729058"/>
            <a:chOff x="7058024" y="4286249"/>
            <a:chExt cx="4829175" cy="1257300"/>
          </a:xfrm>
        </p:grpSpPr>
        <p:sp>
          <p:nvSpPr>
            <p:cNvPr id="52" name="object 14">
              <a:extLst>
                <a:ext uri="{FF2B5EF4-FFF2-40B4-BE49-F238E27FC236}">
                  <a16:creationId xmlns:a16="http://schemas.microsoft.com/office/drawing/2014/main" id="{FD7DF28F-A7B7-828E-DA0A-F461F40C6A70}"/>
                </a:ext>
              </a:extLst>
            </p:cNvPr>
            <p:cNvSpPr/>
            <p:nvPr/>
          </p:nvSpPr>
          <p:spPr>
            <a:xfrm>
              <a:off x="7081837" y="4286249"/>
              <a:ext cx="4805680" cy="1257300"/>
            </a:xfrm>
            <a:custGeom>
              <a:avLst/>
              <a:gdLst/>
              <a:ahLst/>
              <a:cxnLst/>
              <a:rect l="l" t="t" r="r" b="b"/>
              <a:pathLst>
                <a:path w="4805680" h="1257300">
                  <a:moveTo>
                    <a:pt x="4734165" y="1257299"/>
                  </a:moveTo>
                  <a:lnTo>
                    <a:pt x="48947" y="1257299"/>
                  </a:lnTo>
                  <a:lnTo>
                    <a:pt x="45540" y="1256811"/>
                  </a:lnTo>
                  <a:lnTo>
                    <a:pt x="12910" y="1231442"/>
                  </a:lnTo>
                  <a:lnTo>
                    <a:pt x="335" y="1191058"/>
                  </a:lnTo>
                  <a:lnTo>
                    <a:pt x="0" y="1186103"/>
                  </a:lnTo>
                  <a:lnTo>
                    <a:pt x="0" y="1181099"/>
                  </a:lnTo>
                  <a:lnTo>
                    <a:pt x="0" y="71196"/>
                  </a:lnTo>
                  <a:lnTo>
                    <a:pt x="10739" y="29704"/>
                  </a:lnTo>
                  <a:lnTo>
                    <a:pt x="38793" y="2439"/>
                  </a:lnTo>
                  <a:lnTo>
                    <a:pt x="48947" y="0"/>
                  </a:lnTo>
                  <a:lnTo>
                    <a:pt x="4734165" y="0"/>
                  </a:lnTo>
                  <a:lnTo>
                    <a:pt x="4775654" y="15621"/>
                  </a:lnTo>
                  <a:lnTo>
                    <a:pt x="4801475" y="51661"/>
                  </a:lnTo>
                  <a:lnTo>
                    <a:pt x="4805360" y="71196"/>
                  </a:lnTo>
                  <a:lnTo>
                    <a:pt x="4805360" y="1186103"/>
                  </a:lnTo>
                  <a:lnTo>
                    <a:pt x="4789738" y="1227593"/>
                  </a:lnTo>
                  <a:lnTo>
                    <a:pt x="4753698" y="1253413"/>
                  </a:lnTo>
                  <a:lnTo>
                    <a:pt x="4739119" y="1256811"/>
                  </a:lnTo>
                  <a:lnTo>
                    <a:pt x="4734165" y="1257299"/>
                  </a:lnTo>
                  <a:close/>
                </a:path>
              </a:pathLst>
            </a:custGeom>
            <a:solidFill>
              <a:srgbClr val="F9F6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3" name="object 15">
              <a:extLst>
                <a:ext uri="{FF2B5EF4-FFF2-40B4-BE49-F238E27FC236}">
                  <a16:creationId xmlns:a16="http://schemas.microsoft.com/office/drawing/2014/main" id="{EB77CF10-16C6-6C71-75DF-D499ACCEEA58}"/>
                </a:ext>
              </a:extLst>
            </p:cNvPr>
            <p:cNvSpPr/>
            <p:nvPr/>
          </p:nvSpPr>
          <p:spPr>
            <a:xfrm>
              <a:off x="7058024" y="4286450"/>
              <a:ext cx="72390" cy="1257300"/>
            </a:xfrm>
            <a:custGeom>
              <a:avLst/>
              <a:gdLst/>
              <a:ahLst/>
              <a:cxnLst/>
              <a:rect l="l" t="t" r="r" b="b"/>
              <a:pathLst>
                <a:path w="72390" h="1257300">
                  <a:moveTo>
                    <a:pt x="72031" y="1256897"/>
                  </a:moveTo>
                  <a:lnTo>
                    <a:pt x="33857" y="1244267"/>
                  </a:lnTo>
                  <a:lnTo>
                    <a:pt x="5800" y="1210058"/>
                  </a:lnTo>
                  <a:lnTo>
                    <a:pt x="0" y="1180898"/>
                  </a:lnTo>
                  <a:lnTo>
                    <a:pt x="0" y="75998"/>
                  </a:lnTo>
                  <a:lnTo>
                    <a:pt x="12829" y="33655"/>
                  </a:lnTo>
                  <a:lnTo>
                    <a:pt x="47038" y="5598"/>
                  </a:lnTo>
                  <a:lnTo>
                    <a:pt x="72030" y="0"/>
                  </a:lnTo>
                  <a:lnTo>
                    <a:pt x="68764" y="1731"/>
                  </a:lnTo>
                  <a:lnTo>
                    <a:pt x="61762" y="9465"/>
                  </a:lnTo>
                  <a:lnTo>
                    <a:pt x="49799" y="46837"/>
                  </a:lnTo>
                  <a:lnTo>
                    <a:pt x="47625" y="75998"/>
                  </a:lnTo>
                  <a:lnTo>
                    <a:pt x="47625" y="1180898"/>
                  </a:lnTo>
                  <a:lnTo>
                    <a:pt x="52435" y="1223240"/>
                  </a:lnTo>
                  <a:lnTo>
                    <a:pt x="68764" y="1255164"/>
                  </a:lnTo>
                  <a:lnTo>
                    <a:pt x="72031" y="1256897"/>
                  </a:lnTo>
                  <a:close/>
                </a:path>
              </a:pathLst>
            </a:custGeom>
            <a:solidFill>
              <a:srgbClr val="F1C71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4" name="object 13">
            <a:extLst>
              <a:ext uri="{FF2B5EF4-FFF2-40B4-BE49-F238E27FC236}">
                <a16:creationId xmlns:a16="http://schemas.microsoft.com/office/drawing/2014/main" id="{A03A6691-2660-55B7-C86A-63FEB33BE58B}"/>
              </a:ext>
            </a:extLst>
          </p:cNvPr>
          <p:cNvGrpSpPr/>
          <p:nvPr/>
        </p:nvGrpSpPr>
        <p:grpSpPr>
          <a:xfrm>
            <a:off x="5492794" y="4199437"/>
            <a:ext cx="4829175" cy="729058"/>
            <a:chOff x="7058024" y="4286249"/>
            <a:chExt cx="4829175" cy="1257300"/>
          </a:xfrm>
        </p:grpSpPr>
        <p:sp>
          <p:nvSpPr>
            <p:cNvPr id="55" name="object 14">
              <a:extLst>
                <a:ext uri="{FF2B5EF4-FFF2-40B4-BE49-F238E27FC236}">
                  <a16:creationId xmlns:a16="http://schemas.microsoft.com/office/drawing/2014/main" id="{19A4F5A9-50A1-E2BF-83BF-42246CD4992B}"/>
                </a:ext>
              </a:extLst>
            </p:cNvPr>
            <p:cNvSpPr/>
            <p:nvPr/>
          </p:nvSpPr>
          <p:spPr>
            <a:xfrm>
              <a:off x="7081837" y="4286249"/>
              <a:ext cx="4805680" cy="1257300"/>
            </a:xfrm>
            <a:custGeom>
              <a:avLst/>
              <a:gdLst/>
              <a:ahLst/>
              <a:cxnLst/>
              <a:rect l="l" t="t" r="r" b="b"/>
              <a:pathLst>
                <a:path w="4805680" h="1257300">
                  <a:moveTo>
                    <a:pt x="4734165" y="1257299"/>
                  </a:moveTo>
                  <a:lnTo>
                    <a:pt x="48947" y="1257299"/>
                  </a:lnTo>
                  <a:lnTo>
                    <a:pt x="45540" y="1256811"/>
                  </a:lnTo>
                  <a:lnTo>
                    <a:pt x="12910" y="1231442"/>
                  </a:lnTo>
                  <a:lnTo>
                    <a:pt x="335" y="1191058"/>
                  </a:lnTo>
                  <a:lnTo>
                    <a:pt x="0" y="1186103"/>
                  </a:lnTo>
                  <a:lnTo>
                    <a:pt x="0" y="1181099"/>
                  </a:lnTo>
                  <a:lnTo>
                    <a:pt x="0" y="71196"/>
                  </a:lnTo>
                  <a:lnTo>
                    <a:pt x="10739" y="29704"/>
                  </a:lnTo>
                  <a:lnTo>
                    <a:pt x="38793" y="2439"/>
                  </a:lnTo>
                  <a:lnTo>
                    <a:pt x="48947" y="0"/>
                  </a:lnTo>
                  <a:lnTo>
                    <a:pt x="4734165" y="0"/>
                  </a:lnTo>
                  <a:lnTo>
                    <a:pt x="4775654" y="15621"/>
                  </a:lnTo>
                  <a:lnTo>
                    <a:pt x="4801475" y="51661"/>
                  </a:lnTo>
                  <a:lnTo>
                    <a:pt x="4805360" y="71196"/>
                  </a:lnTo>
                  <a:lnTo>
                    <a:pt x="4805360" y="1186103"/>
                  </a:lnTo>
                  <a:lnTo>
                    <a:pt x="4789738" y="1227593"/>
                  </a:lnTo>
                  <a:lnTo>
                    <a:pt x="4753698" y="1253413"/>
                  </a:lnTo>
                  <a:lnTo>
                    <a:pt x="4739119" y="1256811"/>
                  </a:lnTo>
                  <a:lnTo>
                    <a:pt x="4734165" y="1257299"/>
                  </a:lnTo>
                  <a:close/>
                </a:path>
              </a:pathLst>
            </a:custGeom>
            <a:solidFill>
              <a:srgbClr val="F9F6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6" name="object 15">
              <a:extLst>
                <a:ext uri="{FF2B5EF4-FFF2-40B4-BE49-F238E27FC236}">
                  <a16:creationId xmlns:a16="http://schemas.microsoft.com/office/drawing/2014/main" id="{BAA997A1-35C5-DE83-7527-043EC0631227}"/>
                </a:ext>
              </a:extLst>
            </p:cNvPr>
            <p:cNvSpPr/>
            <p:nvPr/>
          </p:nvSpPr>
          <p:spPr>
            <a:xfrm>
              <a:off x="7058024" y="4286450"/>
              <a:ext cx="72390" cy="1257300"/>
            </a:xfrm>
            <a:custGeom>
              <a:avLst/>
              <a:gdLst/>
              <a:ahLst/>
              <a:cxnLst/>
              <a:rect l="l" t="t" r="r" b="b"/>
              <a:pathLst>
                <a:path w="72390" h="1257300">
                  <a:moveTo>
                    <a:pt x="72031" y="1256897"/>
                  </a:moveTo>
                  <a:lnTo>
                    <a:pt x="33857" y="1244267"/>
                  </a:lnTo>
                  <a:lnTo>
                    <a:pt x="5800" y="1210058"/>
                  </a:lnTo>
                  <a:lnTo>
                    <a:pt x="0" y="1180898"/>
                  </a:lnTo>
                  <a:lnTo>
                    <a:pt x="0" y="75998"/>
                  </a:lnTo>
                  <a:lnTo>
                    <a:pt x="12829" y="33655"/>
                  </a:lnTo>
                  <a:lnTo>
                    <a:pt x="47038" y="5598"/>
                  </a:lnTo>
                  <a:lnTo>
                    <a:pt x="72030" y="0"/>
                  </a:lnTo>
                  <a:lnTo>
                    <a:pt x="68764" y="1731"/>
                  </a:lnTo>
                  <a:lnTo>
                    <a:pt x="61762" y="9465"/>
                  </a:lnTo>
                  <a:lnTo>
                    <a:pt x="49799" y="46837"/>
                  </a:lnTo>
                  <a:lnTo>
                    <a:pt x="47625" y="75998"/>
                  </a:lnTo>
                  <a:lnTo>
                    <a:pt x="47625" y="1180898"/>
                  </a:lnTo>
                  <a:lnTo>
                    <a:pt x="52435" y="1223240"/>
                  </a:lnTo>
                  <a:lnTo>
                    <a:pt x="68764" y="1255164"/>
                  </a:lnTo>
                  <a:lnTo>
                    <a:pt x="72031" y="1256897"/>
                  </a:lnTo>
                  <a:close/>
                </a:path>
              </a:pathLst>
            </a:custGeom>
            <a:solidFill>
              <a:srgbClr val="F1C71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57" name="object 13">
            <a:extLst>
              <a:ext uri="{FF2B5EF4-FFF2-40B4-BE49-F238E27FC236}">
                <a16:creationId xmlns:a16="http://schemas.microsoft.com/office/drawing/2014/main" id="{EDB9D62A-E0FC-D3DB-E483-2533C9FDA3A3}"/>
              </a:ext>
            </a:extLst>
          </p:cNvPr>
          <p:cNvGrpSpPr/>
          <p:nvPr/>
        </p:nvGrpSpPr>
        <p:grpSpPr>
          <a:xfrm>
            <a:off x="5492794" y="5747148"/>
            <a:ext cx="4829175" cy="729058"/>
            <a:chOff x="7058024" y="4286249"/>
            <a:chExt cx="4829175" cy="1257300"/>
          </a:xfrm>
        </p:grpSpPr>
        <p:sp>
          <p:nvSpPr>
            <p:cNvPr id="58" name="object 14">
              <a:extLst>
                <a:ext uri="{FF2B5EF4-FFF2-40B4-BE49-F238E27FC236}">
                  <a16:creationId xmlns:a16="http://schemas.microsoft.com/office/drawing/2014/main" id="{4E7DDE8F-6092-BF28-3932-C63BBB89BECA}"/>
                </a:ext>
              </a:extLst>
            </p:cNvPr>
            <p:cNvSpPr/>
            <p:nvPr/>
          </p:nvSpPr>
          <p:spPr>
            <a:xfrm>
              <a:off x="7081837" y="4286249"/>
              <a:ext cx="4805680" cy="1257300"/>
            </a:xfrm>
            <a:custGeom>
              <a:avLst/>
              <a:gdLst/>
              <a:ahLst/>
              <a:cxnLst/>
              <a:rect l="l" t="t" r="r" b="b"/>
              <a:pathLst>
                <a:path w="4805680" h="1257300">
                  <a:moveTo>
                    <a:pt x="4734165" y="1257299"/>
                  </a:moveTo>
                  <a:lnTo>
                    <a:pt x="48947" y="1257299"/>
                  </a:lnTo>
                  <a:lnTo>
                    <a:pt x="45540" y="1256811"/>
                  </a:lnTo>
                  <a:lnTo>
                    <a:pt x="12910" y="1231442"/>
                  </a:lnTo>
                  <a:lnTo>
                    <a:pt x="335" y="1191058"/>
                  </a:lnTo>
                  <a:lnTo>
                    <a:pt x="0" y="1186103"/>
                  </a:lnTo>
                  <a:lnTo>
                    <a:pt x="0" y="1181099"/>
                  </a:lnTo>
                  <a:lnTo>
                    <a:pt x="0" y="71196"/>
                  </a:lnTo>
                  <a:lnTo>
                    <a:pt x="10739" y="29704"/>
                  </a:lnTo>
                  <a:lnTo>
                    <a:pt x="38793" y="2439"/>
                  </a:lnTo>
                  <a:lnTo>
                    <a:pt x="48947" y="0"/>
                  </a:lnTo>
                  <a:lnTo>
                    <a:pt x="4734165" y="0"/>
                  </a:lnTo>
                  <a:lnTo>
                    <a:pt x="4775654" y="15621"/>
                  </a:lnTo>
                  <a:lnTo>
                    <a:pt x="4801475" y="51661"/>
                  </a:lnTo>
                  <a:lnTo>
                    <a:pt x="4805360" y="71196"/>
                  </a:lnTo>
                  <a:lnTo>
                    <a:pt x="4805360" y="1186103"/>
                  </a:lnTo>
                  <a:lnTo>
                    <a:pt x="4789738" y="1227593"/>
                  </a:lnTo>
                  <a:lnTo>
                    <a:pt x="4753698" y="1253413"/>
                  </a:lnTo>
                  <a:lnTo>
                    <a:pt x="4739119" y="1256811"/>
                  </a:lnTo>
                  <a:lnTo>
                    <a:pt x="4734165" y="1257299"/>
                  </a:lnTo>
                  <a:close/>
                </a:path>
              </a:pathLst>
            </a:custGeom>
            <a:solidFill>
              <a:srgbClr val="F9F6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9" name="object 15">
              <a:extLst>
                <a:ext uri="{FF2B5EF4-FFF2-40B4-BE49-F238E27FC236}">
                  <a16:creationId xmlns:a16="http://schemas.microsoft.com/office/drawing/2014/main" id="{0AE43AA9-0E87-20DA-29A8-860DCFB4E594}"/>
                </a:ext>
              </a:extLst>
            </p:cNvPr>
            <p:cNvSpPr/>
            <p:nvPr/>
          </p:nvSpPr>
          <p:spPr>
            <a:xfrm>
              <a:off x="7058024" y="4286450"/>
              <a:ext cx="72390" cy="1257300"/>
            </a:xfrm>
            <a:custGeom>
              <a:avLst/>
              <a:gdLst/>
              <a:ahLst/>
              <a:cxnLst/>
              <a:rect l="l" t="t" r="r" b="b"/>
              <a:pathLst>
                <a:path w="72390" h="1257300">
                  <a:moveTo>
                    <a:pt x="72031" y="1256897"/>
                  </a:moveTo>
                  <a:lnTo>
                    <a:pt x="33857" y="1244267"/>
                  </a:lnTo>
                  <a:lnTo>
                    <a:pt x="5800" y="1210058"/>
                  </a:lnTo>
                  <a:lnTo>
                    <a:pt x="0" y="1180898"/>
                  </a:lnTo>
                  <a:lnTo>
                    <a:pt x="0" y="75998"/>
                  </a:lnTo>
                  <a:lnTo>
                    <a:pt x="12829" y="33655"/>
                  </a:lnTo>
                  <a:lnTo>
                    <a:pt x="47038" y="5598"/>
                  </a:lnTo>
                  <a:lnTo>
                    <a:pt x="72030" y="0"/>
                  </a:lnTo>
                  <a:lnTo>
                    <a:pt x="68764" y="1731"/>
                  </a:lnTo>
                  <a:lnTo>
                    <a:pt x="61762" y="9465"/>
                  </a:lnTo>
                  <a:lnTo>
                    <a:pt x="49799" y="46837"/>
                  </a:lnTo>
                  <a:lnTo>
                    <a:pt x="47625" y="75998"/>
                  </a:lnTo>
                  <a:lnTo>
                    <a:pt x="47625" y="1180898"/>
                  </a:lnTo>
                  <a:lnTo>
                    <a:pt x="52435" y="1223240"/>
                  </a:lnTo>
                  <a:lnTo>
                    <a:pt x="68764" y="1255164"/>
                  </a:lnTo>
                  <a:lnTo>
                    <a:pt x="72031" y="1256897"/>
                  </a:lnTo>
                  <a:close/>
                </a:path>
              </a:pathLst>
            </a:custGeom>
            <a:solidFill>
              <a:srgbClr val="F1C71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grpSp>
        <p:nvGrpSpPr>
          <p:cNvPr id="60" name="object 13">
            <a:extLst>
              <a:ext uri="{FF2B5EF4-FFF2-40B4-BE49-F238E27FC236}">
                <a16:creationId xmlns:a16="http://schemas.microsoft.com/office/drawing/2014/main" id="{7433CA26-EFD3-34C4-AA1E-F41CB942CBDC}"/>
              </a:ext>
            </a:extLst>
          </p:cNvPr>
          <p:cNvGrpSpPr/>
          <p:nvPr/>
        </p:nvGrpSpPr>
        <p:grpSpPr>
          <a:xfrm>
            <a:off x="5499188" y="4985148"/>
            <a:ext cx="4829175" cy="729058"/>
            <a:chOff x="7058024" y="4286249"/>
            <a:chExt cx="4829175" cy="1257300"/>
          </a:xfrm>
        </p:grpSpPr>
        <p:sp>
          <p:nvSpPr>
            <p:cNvPr id="61" name="object 14">
              <a:extLst>
                <a:ext uri="{FF2B5EF4-FFF2-40B4-BE49-F238E27FC236}">
                  <a16:creationId xmlns:a16="http://schemas.microsoft.com/office/drawing/2014/main" id="{FE69A747-E2DB-2163-2394-D794ECF6A2C0}"/>
                </a:ext>
              </a:extLst>
            </p:cNvPr>
            <p:cNvSpPr/>
            <p:nvPr/>
          </p:nvSpPr>
          <p:spPr>
            <a:xfrm>
              <a:off x="7081837" y="4286249"/>
              <a:ext cx="4805680" cy="1257300"/>
            </a:xfrm>
            <a:custGeom>
              <a:avLst/>
              <a:gdLst/>
              <a:ahLst/>
              <a:cxnLst/>
              <a:rect l="l" t="t" r="r" b="b"/>
              <a:pathLst>
                <a:path w="4805680" h="1257300">
                  <a:moveTo>
                    <a:pt x="4734165" y="1257299"/>
                  </a:moveTo>
                  <a:lnTo>
                    <a:pt x="48947" y="1257299"/>
                  </a:lnTo>
                  <a:lnTo>
                    <a:pt x="45540" y="1256811"/>
                  </a:lnTo>
                  <a:lnTo>
                    <a:pt x="12910" y="1231442"/>
                  </a:lnTo>
                  <a:lnTo>
                    <a:pt x="335" y="1191058"/>
                  </a:lnTo>
                  <a:lnTo>
                    <a:pt x="0" y="1186103"/>
                  </a:lnTo>
                  <a:lnTo>
                    <a:pt x="0" y="1181099"/>
                  </a:lnTo>
                  <a:lnTo>
                    <a:pt x="0" y="71196"/>
                  </a:lnTo>
                  <a:lnTo>
                    <a:pt x="10739" y="29704"/>
                  </a:lnTo>
                  <a:lnTo>
                    <a:pt x="38793" y="2439"/>
                  </a:lnTo>
                  <a:lnTo>
                    <a:pt x="48947" y="0"/>
                  </a:lnTo>
                  <a:lnTo>
                    <a:pt x="4734165" y="0"/>
                  </a:lnTo>
                  <a:lnTo>
                    <a:pt x="4775654" y="15621"/>
                  </a:lnTo>
                  <a:lnTo>
                    <a:pt x="4801475" y="51661"/>
                  </a:lnTo>
                  <a:lnTo>
                    <a:pt x="4805360" y="71196"/>
                  </a:lnTo>
                  <a:lnTo>
                    <a:pt x="4805360" y="1186103"/>
                  </a:lnTo>
                  <a:lnTo>
                    <a:pt x="4789738" y="1227593"/>
                  </a:lnTo>
                  <a:lnTo>
                    <a:pt x="4753698" y="1253413"/>
                  </a:lnTo>
                  <a:lnTo>
                    <a:pt x="4739119" y="1256811"/>
                  </a:lnTo>
                  <a:lnTo>
                    <a:pt x="4734165" y="1257299"/>
                  </a:lnTo>
                  <a:close/>
                </a:path>
              </a:pathLst>
            </a:custGeom>
            <a:solidFill>
              <a:srgbClr val="F9F6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2" name="object 15">
              <a:extLst>
                <a:ext uri="{FF2B5EF4-FFF2-40B4-BE49-F238E27FC236}">
                  <a16:creationId xmlns:a16="http://schemas.microsoft.com/office/drawing/2014/main" id="{5668B557-DB9A-D6A9-716F-902E0E94879D}"/>
                </a:ext>
              </a:extLst>
            </p:cNvPr>
            <p:cNvSpPr/>
            <p:nvPr/>
          </p:nvSpPr>
          <p:spPr>
            <a:xfrm>
              <a:off x="7058024" y="4286450"/>
              <a:ext cx="72390" cy="1257300"/>
            </a:xfrm>
            <a:custGeom>
              <a:avLst/>
              <a:gdLst/>
              <a:ahLst/>
              <a:cxnLst/>
              <a:rect l="l" t="t" r="r" b="b"/>
              <a:pathLst>
                <a:path w="72390" h="1257300">
                  <a:moveTo>
                    <a:pt x="72031" y="1256897"/>
                  </a:moveTo>
                  <a:lnTo>
                    <a:pt x="33857" y="1244267"/>
                  </a:lnTo>
                  <a:lnTo>
                    <a:pt x="5800" y="1210058"/>
                  </a:lnTo>
                  <a:lnTo>
                    <a:pt x="0" y="1180898"/>
                  </a:lnTo>
                  <a:lnTo>
                    <a:pt x="0" y="75998"/>
                  </a:lnTo>
                  <a:lnTo>
                    <a:pt x="12829" y="33655"/>
                  </a:lnTo>
                  <a:lnTo>
                    <a:pt x="47038" y="5598"/>
                  </a:lnTo>
                  <a:lnTo>
                    <a:pt x="72030" y="0"/>
                  </a:lnTo>
                  <a:lnTo>
                    <a:pt x="68764" y="1731"/>
                  </a:lnTo>
                  <a:lnTo>
                    <a:pt x="61762" y="9465"/>
                  </a:lnTo>
                  <a:lnTo>
                    <a:pt x="49799" y="46837"/>
                  </a:lnTo>
                  <a:lnTo>
                    <a:pt x="47625" y="75998"/>
                  </a:lnTo>
                  <a:lnTo>
                    <a:pt x="47625" y="1180898"/>
                  </a:lnTo>
                  <a:lnTo>
                    <a:pt x="52435" y="1223240"/>
                  </a:lnTo>
                  <a:lnTo>
                    <a:pt x="68764" y="1255164"/>
                  </a:lnTo>
                  <a:lnTo>
                    <a:pt x="72031" y="1256897"/>
                  </a:lnTo>
                  <a:close/>
                </a:path>
              </a:pathLst>
            </a:custGeom>
            <a:solidFill>
              <a:srgbClr val="F1C71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3" name="TextBox 62">
            <a:extLst>
              <a:ext uri="{FF2B5EF4-FFF2-40B4-BE49-F238E27FC236}">
                <a16:creationId xmlns:a16="http://schemas.microsoft.com/office/drawing/2014/main" id="{D8FD4D9E-F916-CDF2-EA9E-139AC49A6791}"/>
              </a:ext>
            </a:extLst>
          </p:cNvPr>
          <p:cNvSpPr txBox="1"/>
          <p:nvPr/>
        </p:nvSpPr>
        <p:spPr>
          <a:xfrm>
            <a:off x="411414" y="1503064"/>
            <a:ext cx="2438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1. Project Overview</a:t>
            </a:r>
            <a:endParaRPr lang="en-IN" dirty="0"/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501E6F02-8760-2367-8CAF-5510DC4D315B}"/>
              </a:ext>
            </a:extLst>
          </p:cNvPr>
          <p:cNvSpPr txBox="1"/>
          <p:nvPr/>
        </p:nvSpPr>
        <p:spPr>
          <a:xfrm>
            <a:off x="390204" y="2387472"/>
            <a:ext cx="2438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2. A</a:t>
            </a:r>
            <a:r>
              <a:rPr lang="en-IN" b="1" dirty="0"/>
              <a:t>genda</a:t>
            </a:r>
            <a:endParaRPr lang="en-IN" dirty="0"/>
          </a:p>
        </p:txBody>
      </p:sp>
      <p:sp>
        <p:nvSpPr>
          <p:cNvPr id="65" name="TextBox 64">
            <a:extLst>
              <a:ext uri="{FF2B5EF4-FFF2-40B4-BE49-F238E27FC236}">
                <a16:creationId xmlns:a16="http://schemas.microsoft.com/office/drawing/2014/main" id="{7B1589CD-2645-7661-8C99-3315687DB39E}"/>
              </a:ext>
            </a:extLst>
          </p:cNvPr>
          <p:cNvSpPr txBox="1"/>
          <p:nvPr/>
        </p:nvSpPr>
        <p:spPr>
          <a:xfrm>
            <a:off x="400849" y="3149196"/>
            <a:ext cx="34913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3. KPI 1 – Attrition Rate by Department</a:t>
            </a:r>
            <a:endParaRPr lang="en-IN" dirty="0"/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75D8C4A1-8E52-4D06-15E5-6D41CB732CA4}"/>
              </a:ext>
            </a:extLst>
          </p:cNvPr>
          <p:cNvSpPr txBox="1"/>
          <p:nvPr/>
        </p:nvSpPr>
        <p:spPr>
          <a:xfrm>
            <a:off x="427141" y="4019135"/>
            <a:ext cx="349136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fr-FR" b="1" dirty="0"/>
              <a:t>4. KPI 2 – </a:t>
            </a:r>
            <a:r>
              <a:rPr lang="en-US" b="1" dirty="0"/>
              <a:t>Average Hourly Rate by Research Scientist</a:t>
            </a:r>
            <a:endParaRPr lang="en-IN" dirty="0"/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id="{8123C3FC-00B8-5B82-D24C-5D0089776742}"/>
              </a:ext>
            </a:extLst>
          </p:cNvPr>
          <p:cNvSpPr txBox="1"/>
          <p:nvPr/>
        </p:nvSpPr>
        <p:spPr>
          <a:xfrm>
            <a:off x="400416" y="4831817"/>
            <a:ext cx="428917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5. KPI 3 – Attrition by Income Category</a:t>
            </a:r>
            <a:endParaRPr lang="en-IN" dirty="0"/>
          </a:p>
        </p:txBody>
      </p:sp>
      <p:sp>
        <p:nvSpPr>
          <p:cNvPr id="68" name="TextBox 67">
            <a:extLst>
              <a:ext uri="{FF2B5EF4-FFF2-40B4-BE49-F238E27FC236}">
                <a16:creationId xmlns:a16="http://schemas.microsoft.com/office/drawing/2014/main" id="{15951ED4-EA14-402D-37D7-B56DC6D8326C}"/>
              </a:ext>
            </a:extLst>
          </p:cNvPr>
          <p:cNvSpPr txBox="1"/>
          <p:nvPr/>
        </p:nvSpPr>
        <p:spPr>
          <a:xfrm>
            <a:off x="411414" y="5732237"/>
            <a:ext cx="43001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6. KPI 4 – </a:t>
            </a:r>
            <a:r>
              <a:rPr lang="en-US" b="1" dirty="0"/>
              <a:t>Avg Working Years by Department</a:t>
            </a:r>
            <a:endParaRPr lang="en-IN" dirty="0"/>
          </a:p>
        </p:txBody>
      </p:sp>
      <p:sp>
        <p:nvSpPr>
          <p:cNvPr id="69" name="TextBox 68">
            <a:extLst>
              <a:ext uri="{FF2B5EF4-FFF2-40B4-BE49-F238E27FC236}">
                <a16:creationId xmlns:a16="http://schemas.microsoft.com/office/drawing/2014/main" id="{EC30C4DC-765F-4E69-2CA0-25A55135A560}"/>
              </a:ext>
            </a:extLst>
          </p:cNvPr>
          <p:cNvSpPr txBox="1"/>
          <p:nvPr/>
        </p:nvSpPr>
        <p:spPr>
          <a:xfrm>
            <a:off x="5593173" y="2073695"/>
            <a:ext cx="43001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9. Power BI Dashboard Overview</a:t>
            </a:r>
            <a:endParaRPr lang="en-IN" dirty="0"/>
          </a:p>
        </p:txBody>
      </p:sp>
      <p:sp>
        <p:nvSpPr>
          <p:cNvPr id="70" name="TextBox 69">
            <a:extLst>
              <a:ext uri="{FF2B5EF4-FFF2-40B4-BE49-F238E27FC236}">
                <a16:creationId xmlns:a16="http://schemas.microsoft.com/office/drawing/2014/main" id="{22C367B4-AAB8-B6F9-D673-266DC4EE259D}"/>
              </a:ext>
            </a:extLst>
          </p:cNvPr>
          <p:cNvSpPr txBox="1"/>
          <p:nvPr/>
        </p:nvSpPr>
        <p:spPr>
          <a:xfrm>
            <a:off x="5588997" y="2825715"/>
            <a:ext cx="43001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10. SQL Queries Used</a:t>
            </a:r>
            <a:endParaRPr lang="en-IN" dirty="0"/>
          </a:p>
        </p:txBody>
      </p:sp>
      <p:sp>
        <p:nvSpPr>
          <p:cNvPr id="71" name="TextBox 70">
            <a:extLst>
              <a:ext uri="{FF2B5EF4-FFF2-40B4-BE49-F238E27FC236}">
                <a16:creationId xmlns:a16="http://schemas.microsoft.com/office/drawing/2014/main" id="{2F23C292-5376-2E0C-2A78-342003643819}"/>
              </a:ext>
            </a:extLst>
          </p:cNvPr>
          <p:cNvSpPr txBox="1"/>
          <p:nvPr/>
        </p:nvSpPr>
        <p:spPr>
          <a:xfrm>
            <a:off x="5601226" y="3602657"/>
            <a:ext cx="43001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11. Tableau Dashboard Overview</a:t>
            </a:r>
            <a:endParaRPr lang="en-IN" dirty="0"/>
          </a:p>
        </p:txBody>
      </p:sp>
      <p:sp>
        <p:nvSpPr>
          <p:cNvPr id="72" name="TextBox 71">
            <a:extLst>
              <a:ext uri="{FF2B5EF4-FFF2-40B4-BE49-F238E27FC236}">
                <a16:creationId xmlns:a16="http://schemas.microsoft.com/office/drawing/2014/main" id="{5C7C5A03-EFB1-4B0F-DB37-59D2502C3670}"/>
              </a:ext>
            </a:extLst>
          </p:cNvPr>
          <p:cNvSpPr txBox="1"/>
          <p:nvPr/>
        </p:nvSpPr>
        <p:spPr>
          <a:xfrm>
            <a:off x="5601226" y="4350244"/>
            <a:ext cx="430017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12. Excel Dashboard Overview</a:t>
            </a:r>
            <a:endParaRPr lang="en-IN" dirty="0"/>
          </a:p>
        </p:txBody>
      </p:sp>
      <p:sp>
        <p:nvSpPr>
          <p:cNvPr id="73" name="TextBox 72">
            <a:extLst>
              <a:ext uri="{FF2B5EF4-FFF2-40B4-BE49-F238E27FC236}">
                <a16:creationId xmlns:a16="http://schemas.microsoft.com/office/drawing/2014/main" id="{A63FB602-BB6E-D53C-B41B-02F43596E7A3}"/>
              </a:ext>
            </a:extLst>
          </p:cNvPr>
          <p:cNvSpPr txBox="1"/>
          <p:nvPr/>
        </p:nvSpPr>
        <p:spPr>
          <a:xfrm>
            <a:off x="5582576" y="5026511"/>
            <a:ext cx="496799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13. Business Conclusions &amp;                    Recommendations</a:t>
            </a:r>
            <a:endParaRPr lang="en-IN" dirty="0"/>
          </a:p>
        </p:txBody>
      </p:sp>
      <p:sp>
        <p:nvSpPr>
          <p:cNvPr id="74" name="TextBox 73">
            <a:extLst>
              <a:ext uri="{FF2B5EF4-FFF2-40B4-BE49-F238E27FC236}">
                <a16:creationId xmlns:a16="http://schemas.microsoft.com/office/drawing/2014/main" id="{A6DB2A85-A77D-4B00-4D4A-D171FC3DEAC7}"/>
              </a:ext>
            </a:extLst>
          </p:cNvPr>
          <p:cNvSpPr txBox="1"/>
          <p:nvPr/>
        </p:nvSpPr>
        <p:spPr>
          <a:xfrm>
            <a:off x="5588997" y="5747031"/>
            <a:ext cx="43001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14. Challenges Faced &amp; How We Overcame Them</a:t>
            </a:r>
            <a:endParaRPr lang="en-IN" dirty="0"/>
          </a:p>
        </p:txBody>
      </p:sp>
      <p:sp>
        <p:nvSpPr>
          <p:cNvPr id="75" name="object 22">
            <a:extLst>
              <a:ext uri="{FF2B5EF4-FFF2-40B4-BE49-F238E27FC236}">
                <a16:creationId xmlns:a16="http://schemas.microsoft.com/office/drawing/2014/main" id="{DA530838-E094-024E-422B-D76C833E7C08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10106868" y="6552406"/>
            <a:ext cx="1793240" cy="184666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r>
              <a:rPr lang="en-US" dirty="0"/>
              <a:t>HR Analytics</a:t>
            </a:r>
            <a:endParaRPr lang="en-IN" dirty="0">
              <a:effectLst/>
            </a:endParaRPr>
          </a:p>
        </p:txBody>
      </p:sp>
      <p:grpSp>
        <p:nvGrpSpPr>
          <p:cNvPr id="5" name="object 13">
            <a:extLst>
              <a:ext uri="{FF2B5EF4-FFF2-40B4-BE49-F238E27FC236}">
                <a16:creationId xmlns:a16="http://schemas.microsoft.com/office/drawing/2014/main" id="{88240B46-33C7-6DC7-9116-73B2BDE16C0F}"/>
              </a:ext>
            </a:extLst>
          </p:cNvPr>
          <p:cNvGrpSpPr/>
          <p:nvPr/>
        </p:nvGrpSpPr>
        <p:grpSpPr>
          <a:xfrm>
            <a:off x="5492794" y="1131773"/>
            <a:ext cx="4829175" cy="729058"/>
            <a:chOff x="7058024" y="4286249"/>
            <a:chExt cx="4829175" cy="1257300"/>
          </a:xfrm>
        </p:grpSpPr>
        <p:sp>
          <p:nvSpPr>
            <p:cNvPr id="8" name="object 14">
              <a:extLst>
                <a:ext uri="{FF2B5EF4-FFF2-40B4-BE49-F238E27FC236}">
                  <a16:creationId xmlns:a16="http://schemas.microsoft.com/office/drawing/2014/main" id="{A28B81DB-BAD6-7DCD-8B6F-25E523580F03}"/>
                </a:ext>
              </a:extLst>
            </p:cNvPr>
            <p:cNvSpPr/>
            <p:nvPr/>
          </p:nvSpPr>
          <p:spPr>
            <a:xfrm>
              <a:off x="7081837" y="4286249"/>
              <a:ext cx="4805680" cy="1257300"/>
            </a:xfrm>
            <a:custGeom>
              <a:avLst/>
              <a:gdLst/>
              <a:ahLst/>
              <a:cxnLst/>
              <a:rect l="l" t="t" r="r" b="b"/>
              <a:pathLst>
                <a:path w="4805680" h="1257300">
                  <a:moveTo>
                    <a:pt x="4734165" y="1257299"/>
                  </a:moveTo>
                  <a:lnTo>
                    <a:pt x="48947" y="1257299"/>
                  </a:lnTo>
                  <a:lnTo>
                    <a:pt x="45540" y="1256811"/>
                  </a:lnTo>
                  <a:lnTo>
                    <a:pt x="12910" y="1231442"/>
                  </a:lnTo>
                  <a:lnTo>
                    <a:pt x="335" y="1191058"/>
                  </a:lnTo>
                  <a:lnTo>
                    <a:pt x="0" y="1186103"/>
                  </a:lnTo>
                  <a:lnTo>
                    <a:pt x="0" y="1181099"/>
                  </a:lnTo>
                  <a:lnTo>
                    <a:pt x="0" y="71196"/>
                  </a:lnTo>
                  <a:lnTo>
                    <a:pt x="10739" y="29704"/>
                  </a:lnTo>
                  <a:lnTo>
                    <a:pt x="38793" y="2439"/>
                  </a:lnTo>
                  <a:lnTo>
                    <a:pt x="48947" y="0"/>
                  </a:lnTo>
                  <a:lnTo>
                    <a:pt x="4734165" y="0"/>
                  </a:lnTo>
                  <a:lnTo>
                    <a:pt x="4775654" y="15621"/>
                  </a:lnTo>
                  <a:lnTo>
                    <a:pt x="4801475" y="51661"/>
                  </a:lnTo>
                  <a:lnTo>
                    <a:pt x="4805360" y="71196"/>
                  </a:lnTo>
                  <a:lnTo>
                    <a:pt x="4805360" y="1186103"/>
                  </a:lnTo>
                  <a:lnTo>
                    <a:pt x="4789738" y="1227593"/>
                  </a:lnTo>
                  <a:lnTo>
                    <a:pt x="4753698" y="1253413"/>
                  </a:lnTo>
                  <a:lnTo>
                    <a:pt x="4739119" y="1256811"/>
                  </a:lnTo>
                  <a:lnTo>
                    <a:pt x="4734165" y="1257299"/>
                  </a:lnTo>
                  <a:close/>
                </a:path>
              </a:pathLst>
            </a:custGeom>
            <a:solidFill>
              <a:srgbClr val="F9F6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15">
              <a:extLst>
                <a:ext uri="{FF2B5EF4-FFF2-40B4-BE49-F238E27FC236}">
                  <a16:creationId xmlns:a16="http://schemas.microsoft.com/office/drawing/2014/main" id="{8EB586CD-69CB-B660-28DA-5CFF406CA4FB}"/>
                </a:ext>
              </a:extLst>
            </p:cNvPr>
            <p:cNvSpPr/>
            <p:nvPr/>
          </p:nvSpPr>
          <p:spPr>
            <a:xfrm>
              <a:off x="7058024" y="4286450"/>
              <a:ext cx="72390" cy="1257300"/>
            </a:xfrm>
            <a:custGeom>
              <a:avLst/>
              <a:gdLst/>
              <a:ahLst/>
              <a:cxnLst/>
              <a:rect l="l" t="t" r="r" b="b"/>
              <a:pathLst>
                <a:path w="72390" h="1257300">
                  <a:moveTo>
                    <a:pt x="72031" y="1256897"/>
                  </a:moveTo>
                  <a:lnTo>
                    <a:pt x="33857" y="1244267"/>
                  </a:lnTo>
                  <a:lnTo>
                    <a:pt x="5800" y="1210058"/>
                  </a:lnTo>
                  <a:lnTo>
                    <a:pt x="0" y="1180898"/>
                  </a:lnTo>
                  <a:lnTo>
                    <a:pt x="0" y="75998"/>
                  </a:lnTo>
                  <a:lnTo>
                    <a:pt x="12829" y="33655"/>
                  </a:lnTo>
                  <a:lnTo>
                    <a:pt x="47038" y="5598"/>
                  </a:lnTo>
                  <a:lnTo>
                    <a:pt x="72030" y="0"/>
                  </a:lnTo>
                  <a:lnTo>
                    <a:pt x="68764" y="1731"/>
                  </a:lnTo>
                  <a:lnTo>
                    <a:pt x="61762" y="9465"/>
                  </a:lnTo>
                  <a:lnTo>
                    <a:pt x="49799" y="46837"/>
                  </a:lnTo>
                  <a:lnTo>
                    <a:pt x="47625" y="75998"/>
                  </a:lnTo>
                  <a:lnTo>
                    <a:pt x="47625" y="1180898"/>
                  </a:lnTo>
                  <a:lnTo>
                    <a:pt x="52435" y="1223240"/>
                  </a:lnTo>
                  <a:lnTo>
                    <a:pt x="68764" y="1255164"/>
                  </a:lnTo>
                  <a:lnTo>
                    <a:pt x="72031" y="1256897"/>
                  </a:lnTo>
                  <a:close/>
                </a:path>
              </a:pathLst>
            </a:custGeom>
            <a:solidFill>
              <a:srgbClr val="F1C71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TextBox 9">
            <a:extLst>
              <a:ext uri="{FF2B5EF4-FFF2-40B4-BE49-F238E27FC236}">
                <a16:creationId xmlns:a16="http://schemas.microsoft.com/office/drawing/2014/main" id="{F7875488-70E3-3DE6-47F0-628CCC711215}"/>
              </a:ext>
            </a:extLst>
          </p:cNvPr>
          <p:cNvSpPr txBox="1"/>
          <p:nvPr/>
        </p:nvSpPr>
        <p:spPr>
          <a:xfrm>
            <a:off x="5593173" y="1207973"/>
            <a:ext cx="43001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8. KPI 6 – </a:t>
            </a:r>
            <a:r>
              <a:rPr lang="en-US" b="1" dirty="0"/>
              <a:t>Attrition vs Years Since Promotion</a:t>
            </a:r>
            <a:endParaRPr lang="en-IN" dirty="0"/>
          </a:p>
        </p:txBody>
      </p:sp>
      <p:grpSp>
        <p:nvGrpSpPr>
          <p:cNvPr id="11" name="object 13">
            <a:extLst>
              <a:ext uri="{FF2B5EF4-FFF2-40B4-BE49-F238E27FC236}">
                <a16:creationId xmlns:a16="http://schemas.microsoft.com/office/drawing/2014/main" id="{2DCE2BB8-1D28-0739-2442-38FE4B54A443}"/>
              </a:ext>
            </a:extLst>
          </p:cNvPr>
          <p:cNvGrpSpPr/>
          <p:nvPr/>
        </p:nvGrpSpPr>
        <p:grpSpPr>
          <a:xfrm>
            <a:off x="5492794" y="369773"/>
            <a:ext cx="4829175" cy="729058"/>
            <a:chOff x="7058024" y="4286249"/>
            <a:chExt cx="4829175" cy="1257300"/>
          </a:xfrm>
        </p:grpSpPr>
        <p:sp>
          <p:nvSpPr>
            <p:cNvPr id="12" name="object 14">
              <a:extLst>
                <a:ext uri="{FF2B5EF4-FFF2-40B4-BE49-F238E27FC236}">
                  <a16:creationId xmlns:a16="http://schemas.microsoft.com/office/drawing/2014/main" id="{440AE757-7E7A-17D0-E1C4-C9A8A212825F}"/>
                </a:ext>
              </a:extLst>
            </p:cNvPr>
            <p:cNvSpPr/>
            <p:nvPr/>
          </p:nvSpPr>
          <p:spPr>
            <a:xfrm>
              <a:off x="7081837" y="4286249"/>
              <a:ext cx="4805680" cy="1257300"/>
            </a:xfrm>
            <a:custGeom>
              <a:avLst/>
              <a:gdLst/>
              <a:ahLst/>
              <a:cxnLst/>
              <a:rect l="l" t="t" r="r" b="b"/>
              <a:pathLst>
                <a:path w="4805680" h="1257300">
                  <a:moveTo>
                    <a:pt x="4734165" y="1257299"/>
                  </a:moveTo>
                  <a:lnTo>
                    <a:pt x="48947" y="1257299"/>
                  </a:lnTo>
                  <a:lnTo>
                    <a:pt x="45540" y="1256811"/>
                  </a:lnTo>
                  <a:lnTo>
                    <a:pt x="12910" y="1231442"/>
                  </a:lnTo>
                  <a:lnTo>
                    <a:pt x="335" y="1191058"/>
                  </a:lnTo>
                  <a:lnTo>
                    <a:pt x="0" y="1186103"/>
                  </a:lnTo>
                  <a:lnTo>
                    <a:pt x="0" y="1181099"/>
                  </a:lnTo>
                  <a:lnTo>
                    <a:pt x="0" y="71196"/>
                  </a:lnTo>
                  <a:lnTo>
                    <a:pt x="10739" y="29704"/>
                  </a:lnTo>
                  <a:lnTo>
                    <a:pt x="38793" y="2439"/>
                  </a:lnTo>
                  <a:lnTo>
                    <a:pt x="48947" y="0"/>
                  </a:lnTo>
                  <a:lnTo>
                    <a:pt x="4734165" y="0"/>
                  </a:lnTo>
                  <a:lnTo>
                    <a:pt x="4775654" y="15621"/>
                  </a:lnTo>
                  <a:lnTo>
                    <a:pt x="4801475" y="51661"/>
                  </a:lnTo>
                  <a:lnTo>
                    <a:pt x="4805360" y="71196"/>
                  </a:lnTo>
                  <a:lnTo>
                    <a:pt x="4805360" y="1186103"/>
                  </a:lnTo>
                  <a:lnTo>
                    <a:pt x="4789738" y="1227593"/>
                  </a:lnTo>
                  <a:lnTo>
                    <a:pt x="4753698" y="1253413"/>
                  </a:lnTo>
                  <a:lnTo>
                    <a:pt x="4739119" y="1256811"/>
                  </a:lnTo>
                  <a:lnTo>
                    <a:pt x="4734165" y="1257299"/>
                  </a:lnTo>
                  <a:close/>
                </a:path>
              </a:pathLst>
            </a:custGeom>
            <a:solidFill>
              <a:srgbClr val="F9F6E7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3" name="object 15">
              <a:extLst>
                <a:ext uri="{FF2B5EF4-FFF2-40B4-BE49-F238E27FC236}">
                  <a16:creationId xmlns:a16="http://schemas.microsoft.com/office/drawing/2014/main" id="{8CAAF33A-B865-15D7-DA59-0246C4DB8543}"/>
                </a:ext>
              </a:extLst>
            </p:cNvPr>
            <p:cNvSpPr/>
            <p:nvPr/>
          </p:nvSpPr>
          <p:spPr>
            <a:xfrm>
              <a:off x="7058024" y="4286450"/>
              <a:ext cx="72390" cy="1257300"/>
            </a:xfrm>
            <a:custGeom>
              <a:avLst/>
              <a:gdLst/>
              <a:ahLst/>
              <a:cxnLst/>
              <a:rect l="l" t="t" r="r" b="b"/>
              <a:pathLst>
                <a:path w="72390" h="1257300">
                  <a:moveTo>
                    <a:pt x="72031" y="1256897"/>
                  </a:moveTo>
                  <a:lnTo>
                    <a:pt x="33857" y="1244267"/>
                  </a:lnTo>
                  <a:lnTo>
                    <a:pt x="5800" y="1210058"/>
                  </a:lnTo>
                  <a:lnTo>
                    <a:pt x="0" y="1180898"/>
                  </a:lnTo>
                  <a:lnTo>
                    <a:pt x="0" y="75998"/>
                  </a:lnTo>
                  <a:lnTo>
                    <a:pt x="12829" y="33655"/>
                  </a:lnTo>
                  <a:lnTo>
                    <a:pt x="47038" y="5598"/>
                  </a:lnTo>
                  <a:lnTo>
                    <a:pt x="72030" y="0"/>
                  </a:lnTo>
                  <a:lnTo>
                    <a:pt x="68764" y="1731"/>
                  </a:lnTo>
                  <a:lnTo>
                    <a:pt x="61762" y="9465"/>
                  </a:lnTo>
                  <a:lnTo>
                    <a:pt x="49799" y="46837"/>
                  </a:lnTo>
                  <a:lnTo>
                    <a:pt x="47625" y="75998"/>
                  </a:lnTo>
                  <a:lnTo>
                    <a:pt x="47625" y="1180898"/>
                  </a:lnTo>
                  <a:lnTo>
                    <a:pt x="52435" y="1223240"/>
                  </a:lnTo>
                  <a:lnTo>
                    <a:pt x="68764" y="1255164"/>
                  </a:lnTo>
                  <a:lnTo>
                    <a:pt x="72031" y="1256897"/>
                  </a:lnTo>
                  <a:close/>
                </a:path>
              </a:pathLst>
            </a:custGeom>
            <a:solidFill>
              <a:srgbClr val="F1C71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4" name="TextBox 13">
            <a:extLst>
              <a:ext uri="{FF2B5EF4-FFF2-40B4-BE49-F238E27FC236}">
                <a16:creationId xmlns:a16="http://schemas.microsoft.com/office/drawing/2014/main" id="{E26C97E9-E389-DCD6-2127-0D753F6EA4D2}"/>
              </a:ext>
            </a:extLst>
          </p:cNvPr>
          <p:cNvSpPr txBox="1"/>
          <p:nvPr/>
        </p:nvSpPr>
        <p:spPr>
          <a:xfrm>
            <a:off x="5593173" y="445973"/>
            <a:ext cx="430017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/>
              <a:t>7. KPI 5 – </a:t>
            </a:r>
            <a:r>
              <a:rPr lang="en-US" b="1" dirty="0"/>
              <a:t>Work-Life Balance by Job Role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285917170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78E5D7C-A1C0-541E-86EB-0388A3181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>
            <a:extLst>
              <a:ext uri="{FF2B5EF4-FFF2-40B4-BE49-F238E27FC236}">
                <a16:creationId xmlns:a16="http://schemas.microsoft.com/office/drawing/2014/main" id="{36F6EA7B-6A66-C0CD-EC2B-71536A10190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9024" y="380206"/>
            <a:ext cx="5147376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dirty="0"/>
              <a:t>KPI 1 – Attrition Rate by Department</a:t>
            </a:r>
          </a:p>
        </p:txBody>
      </p:sp>
      <p:sp>
        <p:nvSpPr>
          <p:cNvPr id="14" name="object 22">
            <a:extLst>
              <a:ext uri="{FF2B5EF4-FFF2-40B4-BE49-F238E27FC236}">
                <a16:creationId xmlns:a16="http://schemas.microsoft.com/office/drawing/2014/main" id="{D84C48DB-9B75-A349-9FA0-35E52A05BBB8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10106868" y="6501376"/>
            <a:ext cx="1793240" cy="184666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lang="en-US" spc="-10" dirty="0"/>
              <a:t>HR Analytics</a:t>
            </a:r>
          </a:p>
        </p:txBody>
      </p:sp>
      <p:grpSp>
        <p:nvGrpSpPr>
          <p:cNvPr id="13" name="object 13">
            <a:extLst>
              <a:ext uri="{FF2B5EF4-FFF2-40B4-BE49-F238E27FC236}">
                <a16:creationId xmlns:a16="http://schemas.microsoft.com/office/drawing/2014/main" id="{A4039ECC-44C4-F8D8-E82C-AAA8CB95E78C}"/>
              </a:ext>
            </a:extLst>
          </p:cNvPr>
          <p:cNvGrpSpPr/>
          <p:nvPr/>
        </p:nvGrpSpPr>
        <p:grpSpPr>
          <a:xfrm>
            <a:off x="6701790" y="1678664"/>
            <a:ext cx="5033010" cy="2206742"/>
            <a:chOff x="7058024" y="4286251"/>
            <a:chExt cx="4829493" cy="1257499"/>
          </a:xfrm>
        </p:grpSpPr>
        <p:sp>
          <p:nvSpPr>
            <p:cNvPr id="15" name="object 14">
              <a:extLst>
                <a:ext uri="{FF2B5EF4-FFF2-40B4-BE49-F238E27FC236}">
                  <a16:creationId xmlns:a16="http://schemas.microsoft.com/office/drawing/2014/main" id="{F230276C-3F27-36D5-26FA-C5D6150AF3FC}"/>
                </a:ext>
              </a:extLst>
            </p:cNvPr>
            <p:cNvSpPr/>
            <p:nvPr/>
          </p:nvSpPr>
          <p:spPr>
            <a:xfrm>
              <a:off x="7081837" y="4286251"/>
              <a:ext cx="4805680" cy="1257300"/>
            </a:xfrm>
            <a:custGeom>
              <a:avLst/>
              <a:gdLst/>
              <a:ahLst/>
              <a:cxnLst/>
              <a:rect l="l" t="t" r="r" b="b"/>
              <a:pathLst>
                <a:path w="4805680" h="1257300">
                  <a:moveTo>
                    <a:pt x="4734165" y="1257299"/>
                  </a:moveTo>
                  <a:lnTo>
                    <a:pt x="48947" y="1257299"/>
                  </a:lnTo>
                  <a:lnTo>
                    <a:pt x="45540" y="1256811"/>
                  </a:lnTo>
                  <a:lnTo>
                    <a:pt x="12910" y="1231442"/>
                  </a:lnTo>
                  <a:lnTo>
                    <a:pt x="335" y="1191058"/>
                  </a:lnTo>
                  <a:lnTo>
                    <a:pt x="0" y="1186103"/>
                  </a:lnTo>
                  <a:lnTo>
                    <a:pt x="0" y="1181099"/>
                  </a:lnTo>
                  <a:lnTo>
                    <a:pt x="0" y="71196"/>
                  </a:lnTo>
                  <a:lnTo>
                    <a:pt x="10739" y="29704"/>
                  </a:lnTo>
                  <a:lnTo>
                    <a:pt x="38793" y="2439"/>
                  </a:lnTo>
                  <a:lnTo>
                    <a:pt x="48947" y="0"/>
                  </a:lnTo>
                  <a:lnTo>
                    <a:pt x="4734165" y="0"/>
                  </a:lnTo>
                  <a:lnTo>
                    <a:pt x="4775654" y="15621"/>
                  </a:lnTo>
                  <a:lnTo>
                    <a:pt x="4801475" y="51661"/>
                  </a:lnTo>
                  <a:lnTo>
                    <a:pt x="4805360" y="71196"/>
                  </a:lnTo>
                  <a:lnTo>
                    <a:pt x="4805360" y="1186103"/>
                  </a:lnTo>
                  <a:lnTo>
                    <a:pt x="4789738" y="1227593"/>
                  </a:lnTo>
                  <a:lnTo>
                    <a:pt x="4753698" y="1253413"/>
                  </a:lnTo>
                  <a:lnTo>
                    <a:pt x="4739119" y="1256811"/>
                  </a:lnTo>
                  <a:lnTo>
                    <a:pt x="4734165" y="1257299"/>
                  </a:lnTo>
                  <a:close/>
                </a:path>
              </a:pathLst>
            </a:custGeom>
            <a:solidFill>
              <a:srgbClr val="F9F6E7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6" name="object 15">
              <a:extLst>
                <a:ext uri="{FF2B5EF4-FFF2-40B4-BE49-F238E27FC236}">
                  <a16:creationId xmlns:a16="http://schemas.microsoft.com/office/drawing/2014/main" id="{A5661017-ED5A-53CB-FAFA-68C9F0B450AE}"/>
                </a:ext>
              </a:extLst>
            </p:cNvPr>
            <p:cNvSpPr/>
            <p:nvPr/>
          </p:nvSpPr>
          <p:spPr>
            <a:xfrm>
              <a:off x="7058024" y="4286450"/>
              <a:ext cx="72390" cy="1257300"/>
            </a:xfrm>
            <a:custGeom>
              <a:avLst/>
              <a:gdLst/>
              <a:ahLst/>
              <a:cxnLst/>
              <a:rect l="l" t="t" r="r" b="b"/>
              <a:pathLst>
                <a:path w="72390" h="1257300">
                  <a:moveTo>
                    <a:pt x="72031" y="1256897"/>
                  </a:moveTo>
                  <a:lnTo>
                    <a:pt x="33857" y="1244267"/>
                  </a:lnTo>
                  <a:lnTo>
                    <a:pt x="5800" y="1210058"/>
                  </a:lnTo>
                  <a:lnTo>
                    <a:pt x="0" y="1180898"/>
                  </a:lnTo>
                  <a:lnTo>
                    <a:pt x="0" y="75998"/>
                  </a:lnTo>
                  <a:lnTo>
                    <a:pt x="12829" y="33655"/>
                  </a:lnTo>
                  <a:lnTo>
                    <a:pt x="47038" y="5598"/>
                  </a:lnTo>
                  <a:lnTo>
                    <a:pt x="72030" y="0"/>
                  </a:lnTo>
                  <a:lnTo>
                    <a:pt x="68764" y="1731"/>
                  </a:lnTo>
                  <a:lnTo>
                    <a:pt x="61762" y="9465"/>
                  </a:lnTo>
                  <a:lnTo>
                    <a:pt x="49799" y="46837"/>
                  </a:lnTo>
                  <a:lnTo>
                    <a:pt x="47625" y="75998"/>
                  </a:lnTo>
                  <a:lnTo>
                    <a:pt x="47625" y="1180898"/>
                  </a:lnTo>
                  <a:lnTo>
                    <a:pt x="52435" y="1223240"/>
                  </a:lnTo>
                  <a:lnTo>
                    <a:pt x="68764" y="1255164"/>
                  </a:lnTo>
                  <a:lnTo>
                    <a:pt x="72031" y="1256897"/>
                  </a:lnTo>
                  <a:close/>
                </a:path>
              </a:pathLst>
            </a:custGeom>
            <a:solidFill>
              <a:srgbClr val="F1C71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DCD6A231-8014-D0D1-70CD-A106E5F4C3C2}"/>
              </a:ext>
            </a:extLst>
          </p:cNvPr>
          <p:cNvSpPr txBox="1"/>
          <p:nvPr/>
        </p:nvSpPr>
        <p:spPr>
          <a:xfrm>
            <a:off x="6941026" y="1831064"/>
            <a:ext cx="4530403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b="1" dirty="0"/>
              <a:t>Key Observations</a:t>
            </a:r>
          </a:p>
          <a:p>
            <a:pPr algn="just"/>
            <a:endParaRPr lang="en-US" sz="1600" b="1" dirty="0"/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/>
              <a:t>Sales and HR departments show higher attrition rates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/>
              <a:t>R&amp;D and Software departments have relatively stable employees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/>
              <a:t>Department workload and pressure may influence attrition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8" name="object 13">
            <a:extLst>
              <a:ext uri="{FF2B5EF4-FFF2-40B4-BE49-F238E27FC236}">
                <a16:creationId xmlns:a16="http://schemas.microsoft.com/office/drawing/2014/main" id="{73F5C49D-659E-3F3E-B0FD-EE1271FC3041}"/>
              </a:ext>
            </a:extLst>
          </p:cNvPr>
          <p:cNvGrpSpPr/>
          <p:nvPr/>
        </p:nvGrpSpPr>
        <p:grpSpPr>
          <a:xfrm>
            <a:off x="6701791" y="4243733"/>
            <a:ext cx="5033009" cy="1407668"/>
            <a:chOff x="7058024" y="4286251"/>
            <a:chExt cx="4829493" cy="1257499"/>
          </a:xfrm>
        </p:grpSpPr>
        <p:sp>
          <p:nvSpPr>
            <p:cNvPr id="19" name="object 14">
              <a:extLst>
                <a:ext uri="{FF2B5EF4-FFF2-40B4-BE49-F238E27FC236}">
                  <a16:creationId xmlns:a16="http://schemas.microsoft.com/office/drawing/2014/main" id="{FE31C285-1889-4364-6DE1-1AEA1B8EC06D}"/>
                </a:ext>
              </a:extLst>
            </p:cNvPr>
            <p:cNvSpPr/>
            <p:nvPr/>
          </p:nvSpPr>
          <p:spPr>
            <a:xfrm>
              <a:off x="7081837" y="4286251"/>
              <a:ext cx="4805680" cy="1257300"/>
            </a:xfrm>
            <a:custGeom>
              <a:avLst/>
              <a:gdLst/>
              <a:ahLst/>
              <a:cxnLst/>
              <a:rect l="l" t="t" r="r" b="b"/>
              <a:pathLst>
                <a:path w="4805680" h="1257300">
                  <a:moveTo>
                    <a:pt x="4734165" y="1257299"/>
                  </a:moveTo>
                  <a:lnTo>
                    <a:pt x="48947" y="1257299"/>
                  </a:lnTo>
                  <a:lnTo>
                    <a:pt x="45540" y="1256811"/>
                  </a:lnTo>
                  <a:lnTo>
                    <a:pt x="12910" y="1231442"/>
                  </a:lnTo>
                  <a:lnTo>
                    <a:pt x="335" y="1191058"/>
                  </a:lnTo>
                  <a:lnTo>
                    <a:pt x="0" y="1186103"/>
                  </a:lnTo>
                  <a:lnTo>
                    <a:pt x="0" y="1181099"/>
                  </a:lnTo>
                  <a:lnTo>
                    <a:pt x="0" y="71196"/>
                  </a:lnTo>
                  <a:lnTo>
                    <a:pt x="10739" y="29704"/>
                  </a:lnTo>
                  <a:lnTo>
                    <a:pt x="38793" y="2439"/>
                  </a:lnTo>
                  <a:lnTo>
                    <a:pt x="48947" y="0"/>
                  </a:lnTo>
                  <a:lnTo>
                    <a:pt x="4734165" y="0"/>
                  </a:lnTo>
                  <a:lnTo>
                    <a:pt x="4775654" y="15621"/>
                  </a:lnTo>
                  <a:lnTo>
                    <a:pt x="4801475" y="51661"/>
                  </a:lnTo>
                  <a:lnTo>
                    <a:pt x="4805360" y="71196"/>
                  </a:lnTo>
                  <a:lnTo>
                    <a:pt x="4805360" y="1186103"/>
                  </a:lnTo>
                  <a:lnTo>
                    <a:pt x="4789738" y="1227593"/>
                  </a:lnTo>
                  <a:lnTo>
                    <a:pt x="4753698" y="1253413"/>
                  </a:lnTo>
                  <a:lnTo>
                    <a:pt x="4739119" y="1256811"/>
                  </a:lnTo>
                  <a:lnTo>
                    <a:pt x="4734165" y="1257299"/>
                  </a:lnTo>
                  <a:close/>
                </a:path>
              </a:pathLst>
            </a:custGeom>
            <a:solidFill>
              <a:srgbClr val="F9F6E7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0" name="object 15">
              <a:extLst>
                <a:ext uri="{FF2B5EF4-FFF2-40B4-BE49-F238E27FC236}">
                  <a16:creationId xmlns:a16="http://schemas.microsoft.com/office/drawing/2014/main" id="{31561105-95D8-12AF-E47A-6386ECFC8178}"/>
                </a:ext>
              </a:extLst>
            </p:cNvPr>
            <p:cNvSpPr/>
            <p:nvPr/>
          </p:nvSpPr>
          <p:spPr>
            <a:xfrm>
              <a:off x="7058024" y="4286450"/>
              <a:ext cx="72390" cy="1257300"/>
            </a:xfrm>
            <a:custGeom>
              <a:avLst/>
              <a:gdLst/>
              <a:ahLst/>
              <a:cxnLst/>
              <a:rect l="l" t="t" r="r" b="b"/>
              <a:pathLst>
                <a:path w="72390" h="1257300">
                  <a:moveTo>
                    <a:pt x="72031" y="1256897"/>
                  </a:moveTo>
                  <a:lnTo>
                    <a:pt x="33857" y="1244267"/>
                  </a:lnTo>
                  <a:lnTo>
                    <a:pt x="5800" y="1210058"/>
                  </a:lnTo>
                  <a:lnTo>
                    <a:pt x="0" y="1180898"/>
                  </a:lnTo>
                  <a:lnTo>
                    <a:pt x="0" y="75998"/>
                  </a:lnTo>
                  <a:lnTo>
                    <a:pt x="12829" y="33655"/>
                  </a:lnTo>
                  <a:lnTo>
                    <a:pt x="47038" y="5598"/>
                  </a:lnTo>
                  <a:lnTo>
                    <a:pt x="72030" y="0"/>
                  </a:lnTo>
                  <a:lnTo>
                    <a:pt x="68764" y="1731"/>
                  </a:lnTo>
                  <a:lnTo>
                    <a:pt x="61762" y="9465"/>
                  </a:lnTo>
                  <a:lnTo>
                    <a:pt x="49799" y="46837"/>
                  </a:lnTo>
                  <a:lnTo>
                    <a:pt x="47625" y="75998"/>
                  </a:lnTo>
                  <a:lnTo>
                    <a:pt x="47625" y="1180898"/>
                  </a:lnTo>
                  <a:lnTo>
                    <a:pt x="52435" y="1223240"/>
                  </a:lnTo>
                  <a:lnTo>
                    <a:pt x="68764" y="1255164"/>
                  </a:lnTo>
                  <a:lnTo>
                    <a:pt x="72031" y="1256897"/>
                  </a:lnTo>
                  <a:close/>
                </a:path>
              </a:pathLst>
            </a:custGeom>
            <a:solidFill>
              <a:srgbClr val="F1C71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5B06D0A3-7FF3-0ED0-03F4-20B8A3736D2B}"/>
              </a:ext>
            </a:extLst>
          </p:cNvPr>
          <p:cNvSpPr txBox="1"/>
          <p:nvPr/>
        </p:nvSpPr>
        <p:spPr>
          <a:xfrm>
            <a:off x="6941026" y="4266406"/>
            <a:ext cx="4488974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400" b="1" cap="all" dirty="0"/>
              <a:t>Business Insight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/>
              <a:t>High attrition in certain departments indicates role-specific challenges like workload and pressure.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/>
              <a:t>Targeted retention strategies and better management support can reduce employee turnover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863CAB40-7902-4EE5-BE8D-D1B36FF2D8B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7200" y="1806148"/>
            <a:ext cx="5715759" cy="3733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058625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18A4DA1-E735-2E09-DD7A-3173D60875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>
            <a:extLst>
              <a:ext uri="{FF2B5EF4-FFF2-40B4-BE49-F238E27FC236}">
                <a16:creationId xmlns:a16="http://schemas.microsoft.com/office/drawing/2014/main" id="{E7A1694F-C7DD-D6D1-3738-75DB99C59E4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9024" y="380206"/>
            <a:ext cx="5147376" cy="4283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dirty="0"/>
              <a:t>KPI 2 – KPI 2: Avg Hourly Rate</a:t>
            </a:r>
          </a:p>
        </p:txBody>
      </p:sp>
      <p:sp>
        <p:nvSpPr>
          <p:cNvPr id="14" name="object 22">
            <a:extLst>
              <a:ext uri="{FF2B5EF4-FFF2-40B4-BE49-F238E27FC236}">
                <a16:creationId xmlns:a16="http://schemas.microsoft.com/office/drawing/2014/main" id="{1B33E12A-6371-DF48-90AE-AEFF20766694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10106868" y="6501376"/>
            <a:ext cx="1793240" cy="184666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lang="en-US" spc="-10" dirty="0"/>
              <a:t>HR Analytics</a:t>
            </a:r>
          </a:p>
        </p:txBody>
      </p:sp>
      <p:grpSp>
        <p:nvGrpSpPr>
          <p:cNvPr id="13" name="object 13">
            <a:extLst>
              <a:ext uri="{FF2B5EF4-FFF2-40B4-BE49-F238E27FC236}">
                <a16:creationId xmlns:a16="http://schemas.microsoft.com/office/drawing/2014/main" id="{BF16135F-5CF6-2B71-D3C6-36466B6F5D1E}"/>
              </a:ext>
            </a:extLst>
          </p:cNvPr>
          <p:cNvGrpSpPr/>
          <p:nvPr/>
        </p:nvGrpSpPr>
        <p:grpSpPr>
          <a:xfrm>
            <a:off x="6701790" y="1678664"/>
            <a:ext cx="5033010" cy="2054342"/>
            <a:chOff x="7058024" y="4286251"/>
            <a:chExt cx="4829493" cy="1257499"/>
          </a:xfrm>
        </p:grpSpPr>
        <p:sp>
          <p:nvSpPr>
            <p:cNvPr id="15" name="object 14">
              <a:extLst>
                <a:ext uri="{FF2B5EF4-FFF2-40B4-BE49-F238E27FC236}">
                  <a16:creationId xmlns:a16="http://schemas.microsoft.com/office/drawing/2014/main" id="{40BC4515-D3D2-0052-8953-9A292A11FED9}"/>
                </a:ext>
              </a:extLst>
            </p:cNvPr>
            <p:cNvSpPr/>
            <p:nvPr/>
          </p:nvSpPr>
          <p:spPr>
            <a:xfrm>
              <a:off x="7081837" y="4286251"/>
              <a:ext cx="4805680" cy="1257300"/>
            </a:xfrm>
            <a:custGeom>
              <a:avLst/>
              <a:gdLst/>
              <a:ahLst/>
              <a:cxnLst/>
              <a:rect l="l" t="t" r="r" b="b"/>
              <a:pathLst>
                <a:path w="4805680" h="1257300">
                  <a:moveTo>
                    <a:pt x="4734165" y="1257299"/>
                  </a:moveTo>
                  <a:lnTo>
                    <a:pt x="48947" y="1257299"/>
                  </a:lnTo>
                  <a:lnTo>
                    <a:pt x="45540" y="1256811"/>
                  </a:lnTo>
                  <a:lnTo>
                    <a:pt x="12910" y="1231442"/>
                  </a:lnTo>
                  <a:lnTo>
                    <a:pt x="335" y="1191058"/>
                  </a:lnTo>
                  <a:lnTo>
                    <a:pt x="0" y="1186103"/>
                  </a:lnTo>
                  <a:lnTo>
                    <a:pt x="0" y="1181099"/>
                  </a:lnTo>
                  <a:lnTo>
                    <a:pt x="0" y="71196"/>
                  </a:lnTo>
                  <a:lnTo>
                    <a:pt x="10739" y="29704"/>
                  </a:lnTo>
                  <a:lnTo>
                    <a:pt x="38793" y="2439"/>
                  </a:lnTo>
                  <a:lnTo>
                    <a:pt x="48947" y="0"/>
                  </a:lnTo>
                  <a:lnTo>
                    <a:pt x="4734165" y="0"/>
                  </a:lnTo>
                  <a:lnTo>
                    <a:pt x="4775654" y="15621"/>
                  </a:lnTo>
                  <a:lnTo>
                    <a:pt x="4801475" y="51661"/>
                  </a:lnTo>
                  <a:lnTo>
                    <a:pt x="4805360" y="71196"/>
                  </a:lnTo>
                  <a:lnTo>
                    <a:pt x="4805360" y="1186103"/>
                  </a:lnTo>
                  <a:lnTo>
                    <a:pt x="4789738" y="1227593"/>
                  </a:lnTo>
                  <a:lnTo>
                    <a:pt x="4753698" y="1253413"/>
                  </a:lnTo>
                  <a:lnTo>
                    <a:pt x="4739119" y="1256811"/>
                  </a:lnTo>
                  <a:lnTo>
                    <a:pt x="4734165" y="1257299"/>
                  </a:lnTo>
                  <a:close/>
                </a:path>
              </a:pathLst>
            </a:custGeom>
            <a:solidFill>
              <a:srgbClr val="F9F6E7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6" name="object 15">
              <a:extLst>
                <a:ext uri="{FF2B5EF4-FFF2-40B4-BE49-F238E27FC236}">
                  <a16:creationId xmlns:a16="http://schemas.microsoft.com/office/drawing/2014/main" id="{CA180A09-C1C6-3B2A-774A-FADCDB5ED6A7}"/>
                </a:ext>
              </a:extLst>
            </p:cNvPr>
            <p:cNvSpPr/>
            <p:nvPr/>
          </p:nvSpPr>
          <p:spPr>
            <a:xfrm>
              <a:off x="7058024" y="4286450"/>
              <a:ext cx="72390" cy="1257300"/>
            </a:xfrm>
            <a:custGeom>
              <a:avLst/>
              <a:gdLst/>
              <a:ahLst/>
              <a:cxnLst/>
              <a:rect l="l" t="t" r="r" b="b"/>
              <a:pathLst>
                <a:path w="72390" h="1257300">
                  <a:moveTo>
                    <a:pt x="72031" y="1256897"/>
                  </a:moveTo>
                  <a:lnTo>
                    <a:pt x="33857" y="1244267"/>
                  </a:lnTo>
                  <a:lnTo>
                    <a:pt x="5800" y="1210058"/>
                  </a:lnTo>
                  <a:lnTo>
                    <a:pt x="0" y="1180898"/>
                  </a:lnTo>
                  <a:lnTo>
                    <a:pt x="0" y="75998"/>
                  </a:lnTo>
                  <a:lnTo>
                    <a:pt x="12829" y="33655"/>
                  </a:lnTo>
                  <a:lnTo>
                    <a:pt x="47038" y="5598"/>
                  </a:lnTo>
                  <a:lnTo>
                    <a:pt x="72030" y="0"/>
                  </a:lnTo>
                  <a:lnTo>
                    <a:pt x="68764" y="1731"/>
                  </a:lnTo>
                  <a:lnTo>
                    <a:pt x="61762" y="9465"/>
                  </a:lnTo>
                  <a:lnTo>
                    <a:pt x="49799" y="46837"/>
                  </a:lnTo>
                  <a:lnTo>
                    <a:pt x="47625" y="75998"/>
                  </a:lnTo>
                  <a:lnTo>
                    <a:pt x="47625" y="1180898"/>
                  </a:lnTo>
                  <a:lnTo>
                    <a:pt x="52435" y="1223240"/>
                  </a:lnTo>
                  <a:lnTo>
                    <a:pt x="68764" y="1255164"/>
                  </a:lnTo>
                  <a:lnTo>
                    <a:pt x="72031" y="1256897"/>
                  </a:lnTo>
                  <a:close/>
                </a:path>
              </a:pathLst>
            </a:custGeom>
            <a:solidFill>
              <a:srgbClr val="F1C71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92504DC4-1768-FB50-2AAF-AA530F4A4974}"/>
              </a:ext>
            </a:extLst>
          </p:cNvPr>
          <p:cNvSpPr txBox="1"/>
          <p:nvPr/>
        </p:nvSpPr>
        <p:spPr>
          <a:xfrm>
            <a:off x="6941026" y="1831064"/>
            <a:ext cx="4530403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Key Observations</a:t>
            </a:r>
          </a:p>
          <a:p>
            <a:pPr algn="just"/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/>
              <a:t>Average hourly rate varies significantly across job roles and departments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/>
              <a:t>Higher-paying roles generally show better retention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/>
              <a:t>Some roles may be underpaid compared to workload.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8" name="object 13">
            <a:extLst>
              <a:ext uri="{FF2B5EF4-FFF2-40B4-BE49-F238E27FC236}">
                <a16:creationId xmlns:a16="http://schemas.microsoft.com/office/drawing/2014/main" id="{78B46019-7AE8-F6E4-B896-878558F8BABA}"/>
              </a:ext>
            </a:extLst>
          </p:cNvPr>
          <p:cNvGrpSpPr/>
          <p:nvPr/>
        </p:nvGrpSpPr>
        <p:grpSpPr>
          <a:xfrm>
            <a:off x="6701791" y="4243733"/>
            <a:ext cx="5033009" cy="1231106"/>
            <a:chOff x="7058024" y="4286251"/>
            <a:chExt cx="4829493" cy="1257499"/>
          </a:xfrm>
        </p:grpSpPr>
        <p:sp>
          <p:nvSpPr>
            <p:cNvPr id="19" name="object 14">
              <a:extLst>
                <a:ext uri="{FF2B5EF4-FFF2-40B4-BE49-F238E27FC236}">
                  <a16:creationId xmlns:a16="http://schemas.microsoft.com/office/drawing/2014/main" id="{BCED0331-9E13-4D68-08DB-DDB4D1EF6FE8}"/>
                </a:ext>
              </a:extLst>
            </p:cNvPr>
            <p:cNvSpPr/>
            <p:nvPr/>
          </p:nvSpPr>
          <p:spPr>
            <a:xfrm>
              <a:off x="7081837" y="4286251"/>
              <a:ext cx="4805680" cy="1257300"/>
            </a:xfrm>
            <a:custGeom>
              <a:avLst/>
              <a:gdLst/>
              <a:ahLst/>
              <a:cxnLst/>
              <a:rect l="l" t="t" r="r" b="b"/>
              <a:pathLst>
                <a:path w="4805680" h="1257300">
                  <a:moveTo>
                    <a:pt x="4734165" y="1257299"/>
                  </a:moveTo>
                  <a:lnTo>
                    <a:pt x="48947" y="1257299"/>
                  </a:lnTo>
                  <a:lnTo>
                    <a:pt x="45540" y="1256811"/>
                  </a:lnTo>
                  <a:lnTo>
                    <a:pt x="12910" y="1231442"/>
                  </a:lnTo>
                  <a:lnTo>
                    <a:pt x="335" y="1191058"/>
                  </a:lnTo>
                  <a:lnTo>
                    <a:pt x="0" y="1186103"/>
                  </a:lnTo>
                  <a:lnTo>
                    <a:pt x="0" y="1181099"/>
                  </a:lnTo>
                  <a:lnTo>
                    <a:pt x="0" y="71196"/>
                  </a:lnTo>
                  <a:lnTo>
                    <a:pt x="10739" y="29704"/>
                  </a:lnTo>
                  <a:lnTo>
                    <a:pt x="38793" y="2439"/>
                  </a:lnTo>
                  <a:lnTo>
                    <a:pt x="48947" y="0"/>
                  </a:lnTo>
                  <a:lnTo>
                    <a:pt x="4734165" y="0"/>
                  </a:lnTo>
                  <a:lnTo>
                    <a:pt x="4775654" y="15621"/>
                  </a:lnTo>
                  <a:lnTo>
                    <a:pt x="4801475" y="51661"/>
                  </a:lnTo>
                  <a:lnTo>
                    <a:pt x="4805360" y="71196"/>
                  </a:lnTo>
                  <a:lnTo>
                    <a:pt x="4805360" y="1186103"/>
                  </a:lnTo>
                  <a:lnTo>
                    <a:pt x="4789738" y="1227593"/>
                  </a:lnTo>
                  <a:lnTo>
                    <a:pt x="4753698" y="1253413"/>
                  </a:lnTo>
                  <a:lnTo>
                    <a:pt x="4739119" y="1256811"/>
                  </a:lnTo>
                  <a:lnTo>
                    <a:pt x="4734165" y="1257299"/>
                  </a:lnTo>
                  <a:close/>
                </a:path>
              </a:pathLst>
            </a:custGeom>
            <a:solidFill>
              <a:srgbClr val="F9F6E7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0" name="object 15">
              <a:extLst>
                <a:ext uri="{FF2B5EF4-FFF2-40B4-BE49-F238E27FC236}">
                  <a16:creationId xmlns:a16="http://schemas.microsoft.com/office/drawing/2014/main" id="{7F940B38-A5BB-350E-C4A8-6EADABDDE2DE}"/>
                </a:ext>
              </a:extLst>
            </p:cNvPr>
            <p:cNvSpPr/>
            <p:nvPr/>
          </p:nvSpPr>
          <p:spPr>
            <a:xfrm>
              <a:off x="7058024" y="4286450"/>
              <a:ext cx="72390" cy="1257300"/>
            </a:xfrm>
            <a:custGeom>
              <a:avLst/>
              <a:gdLst/>
              <a:ahLst/>
              <a:cxnLst/>
              <a:rect l="l" t="t" r="r" b="b"/>
              <a:pathLst>
                <a:path w="72390" h="1257300">
                  <a:moveTo>
                    <a:pt x="72031" y="1256897"/>
                  </a:moveTo>
                  <a:lnTo>
                    <a:pt x="33857" y="1244267"/>
                  </a:lnTo>
                  <a:lnTo>
                    <a:pt x="5800" y="1210058"/>
                  </a:lnTo>
                  <a:lnTo>
                    <a:pt x="0" y="1180898"/>
                  </a:lnTo>
                  <a:lnTo>
                    <a:pt x="0" y="75998"/>
                  </a:lnTo>
                  <a:lnTo>
                    <a:pt x="12829" y="33655"/>
                  </a:lnTo>
                  <a:lnTo>
                    <a:pt x="47038" y="5598"/>
                  </a:lnTo>
                  <a:lnTo>
                    <a:pt x="72030" y="0"/>
                  </a:lnTo>
                  <a:lnTo>
                    <a:pt x="68764" y="1731"/>
                  </a:lnTo>
                  <a:lnTo>
                    <a:pt x="61762" y="9465"/>
                  </a:lnTo>
                  <a:lnTo>
                    <a:pt x="49799" y="46837"/>
                  </a:lnTo>
                  <a:lnTo>
                    <a:pt x="47625" y="75998"/>
                  </a:lnTo>
                  <a:lnTo>
                    <a:pt x="47625" y="1180898"/>
                  </a:lnTo>
                  <a:lnTo>
                    <a:pt x="52435" y="1223240"/>
                  </a:lnTo>
                  <a:lnTo>
                    <a:pt x="68764" y="1255164"/>
                  </a:lnTo>
                  <a:lnTo>
                    <a:pt x="72031" y="1256897"/>
                  </a:lnTo>
                  <a:close/>
                </a:path>
              </a:pathLst>
            </a:custGeom>
            <a:solidFill>
              <a:srgbClr val="F1C71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7DEF74DD-E27E-B725-3FC2-62D62550F95C}"/>
              </a:ext>
            </a:extLst>
          </p:cNvPr>
          <p:cNvSpPr txBox="1"/>
          <p:nvPr/>
        </p:nvSpPr>
        <p:spPr>
          <a:xfrm>
            <a:off x="6941026" y="4266406"/>
            <a:ext cx="448897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400" b="1" cap="all" dirty="0">
                <a:latin typeface="Arial" panose="020B0604020202020204" pitchFamily="34" charset="0"/>
                <a:cs typeface="Arial" panose="020B0604020202020204" pitchFamily="34" charset="0"/>
              </a:rPr>
              <a:t>Business Insight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/>
              <a:t>Differences in pay across roles may lead to dissatisfaction and higher attrition.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/>
              <a:t>Ensuring fair and competitive salaries can improve motivation and retention.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425F70C-9DC9-468E-A904-6CA5F3073F2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5130" y="1848025"/>
            <a:ext cx="5447927" cy="34942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9701531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BC70FAB-235E-C53C-EE37-1A2FDFB87F2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>
            <a:extLst>
              <a:ext uri="{FF2B5EF4-FFF2-40B4-BE49-F238E27FC236}">
                <a16:creationId xmlns:a16="http://schemas.microsoft.com/office/drawing/2014/main" id="{D0EC0263-5890-8A63-5F41-6F6ECB411220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9024" y="380206"/>
            <a:ext cx="5147376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dirty="0"/>
              <a:t>KPI 3 – </a:t>
            </a:r>
            <a:r>
              <a:rPr lang="en-IN" dirty="0"/>
              <a:t>Attrition by Income Category</a:t>
            </a:r>
            <a:endParaRPr lang="en-US" dirty="0"/>
          </a:p>
        </p:txBody>
      </p:sp>
      <p:sp>
        <p:nvSpPr>
          <p:cNvPr id="14" name="object 22">
            <a:extLst>
              <a:ext uri="{FF2B5EF4-FFF2-40B4-BE49-F238E27FC236}">
                <a16:creationId xmlns:a16="http://schemas.microsoft.com/office/drawing/2014/main" id="{8397D85E-0835-4D50-A7BB-B9EED5D7B8A4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10106868" y="6501376"/>
            <a:ext cx="1793240" cy="184666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lang="en-US" spc="-10" dirty="0"/>
              <a:t>HR Analytics</a:t>
            </a:r>
          </a:p>
        </p:txBody>
      </p:sp>
      <p:grpSp>
        <p:nvGrpSpPr>
          <p:cNvPr id="13" name="object 13">
            <a:extLst>
              <a:ext uri="{FF2B5EF4-FFF2-40B4-BE49-F238E27FC236}">
                <a16:creationId xmlns:a16="http://schemas.microsoft.com/office/drawing/2014/main" id="{EF303725-9006-5A91-77C6-2439860819E3}"/>
              </a:ext>
            </a:extLst>
          </p:cNvPr>
          <p:cNvGrpSpPr/>
          <p:nvPr/>
        </p:nvGrpSpPr>
        <p:grpSpPr>
          <a:xfrm>
            <a:off x="6701790" y="1678664"/>
            <a:ext cx="5033010" cy="1978142"/>
            <a:chOff x="7058024" y="4286251"/>
            <a:chExt cx="4829493" cy="1257499"/>
          </a:xfrm>
        </p:grpSpPr>
        <p:sp>
          <p:nvSpPr>
            <p:cNvPr id="15" name="object 14">
              <a:extLst>
                <a:ext uri="{FF2B5EF4-FFF2-40B4-BE49-F238E27FC236}">
                  <a16:creationId xmlns:a16="http://schemas.microsoft.com/office/drawing/2014/main" id="{BC8947DC-A978-BEE2-C630-1B79937513EF}"/>
                </a:ext>
              </a:extLst>
            </p:cNvPr>
            <p:cNvSpPr/>
            <p:nvPr/>
          </p:nvSpPr>
          <p:spPr>
            <a:xfrm>
              <a:off x="7081837" y="4286251"/>
              <a:ext cx="4805680" cy="1257300"/>
            </a:xfrm>
            <a:custGeom>
              <a:avLst/>
              <a:gdLst/>
              <a:ahLst/>
              <a:cxnLst/>
              <a:rect l="l" t="t" r="r" b="b"/>
              <a:pathLst>
                <a:path w="4805680" h="1257300">
                  <a:moveTo>
                    <a:pt x="4734165" y="1257299"/>
                  </a:moveTo>
                  <a:lnTo>
                    <a:pt x="48947" y="1257299"/>
                  </a:lnTo>
                  <a:lnTo>
                    <a:pt x="45540" y="1256811"/>
                  </a:lnTo>
                  <a:lnTo>
                    <a:pt x="12910" y="1231442"/>
                  </a:lnTo>
                  <a:lnTo>
                    <a:pt x="335" y="1191058"/>
                  </a:lnTo>
                  <a:lnTo>
                    <a:pt x="0" y="1186103"/>
                  </a:lnTo>
                  <a:lnTo>
                    <a:pt x="0" y="1181099"/>
                  </a:lnTo>
                  <a:lnTo>
                    <a:pt x="0" y="71196"/>
                  </a:lnTo>
                  <a:lnTo>
                    <a:pt x="10739" y="29704"/>
                  </a:lnTo>
                  <a:lnTo>
                    <a:pt x="38793" y="2439"/>
                  </a:lnTo>
                  <a:lnTo>
                    <a:pt x="48947" y="0"/>
                  </a:lnTo>
                  <a:lnTo>
                    <a:pt x="4734165" y="0"/>
                  </a:lnTo>
                  <a:lnTo>
                    <a:pt x="4775654" y="15621"/>
                  </a:lnTo>
                  <a:lnTo>
                    <a:pt x="4801475" y="51661"/>
                  </a:lnTo>
                  <a:lnTo>
                    <a:pt x="4805360" y="71196"/>
                  </a:lnTo>
                  <a:lnTo>
                    <a:pt x="4805360" y="1186103"/>
                  </a:lnTo>
                  <a:lnTo>
                    <a:pt x="4789738" y="1227593"/>
                  </a:lnTo>
                  <a:lnTo>
                    <a:pt x="4753698" y="1253413"/>
                  </a:lnTo>
                  <a:lnTo>
                    <a:pt x="4739119" y="1256811"/>
                  </a:lnTo>
                  <a:lnTo>
                    <a:pt x="4734165" y="1257299"/>
                  </a:lnTo>
                  <a:close/>
                </a:path>
              </a:pathLst>
            </a:custGeom>
            <a:solidFill>
              <a:srgbClr val="F9F6E7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6" name="object 15">
              <a:extLst>
                <a:ext uri="{FF2B5EF4-FFF2-40B4-BE49-F238E27FC236}">
                  <a16:creationId xmlns:a16="http://schemas.microsoft.com/office/drawing/2014/main" id="{681221F0-5869-F8C8-7EEB-F66B9E737852}"/>
                </a:ext>
              </a:extLst>
            </p:cNvPr>
            <p:cNvSpPr/>
            <p:nvPr/>
          </p:nvSpPr>
          <p:spPr>
            <a:xfrm>
              <a:off x="7058024" y="4286450"/>
              <a:ext cx="72390" cy="1257300"/>
            </a:xfrm>
            <a:custGeom>
              <a:avLst/>
              <a:gdLst/>
              <a:ahLst/>
              <a:cxnLst/>
              <a:rect l="l" t="t" r="r" b="b"/>
              <a:pathLst>
                <a:path w="72390" h="1257300">
                  <a:moveTo>
                    <a:pt x="72031" y="1256897"/>
                  </a:moveTo>
                  <a:lnTo>
                    <a:pt x="33857" y="1244267"/>
                  </a:lnTo>
                  <a:lnTo>
                    <a:pt x="5800" y="1210058"/>
                  </a:lnTo>
                  <a:lnTo>
                    <a:pt x="0" y="1180898"/>
                  </a:lnTo>
                  <a:lnTo>
                    <a:pt x="0" y="75998"/>
                  </a:lnTo>
                  <a:lnTo>
                    <a:pt x="12829" y="33655"/>
                  </a:lnTo>
                  <a:lnTo>
                    <a:pt x="47038" y="5598"/>
                  </a:lnTo>
                  <a:lnTo>
                    <a:pt x="72030" y="0"/>
                  </a:lnTo>
                  <a:lnTo>
                    <a:pt x="68764" y="1731"/>
                  </a:lnTo>
                  <a:lnTo>
                    <a:pt x="61762" y="9465"/>
                  </a:lnTo>
                  <a:lnTo>
                    <a:pt x="49799" y="46837"/>
                  </a:lnTo>
                  <a:lnTo>
                    <a:pt x="47625" y="75998"/>
                  </a:lnTo>
                  <a:lnTo>
                    <a:pt x="47625" y="1180898"/>
                  </a:lnTo>
                  <a:lnTo>
                    <a:pt x="52435" y="1223240"/>
                  </a:lnTo>
                  <a:lnTo>
                    <a:pt x="68764" y="1255164"/>
                  </a:lnTo>
                  <a:lnTo>
                    <a:pt x="72031" y="1256897"/>
                  </a:lnTo>
                  <a:close/>
                </a:path>
              </a:pathLst>
            </a:custGeom>
            <a:solidFill>
              <a:srgbClr val="F1C71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2DD65FE1-AA26-445A-D620-F819D60C1ED1}"/>
              </a:ext>
            </a:extLst>
          </p:cNvPr>
          <p:cNvSpPr txBox="1"/>
          <p:nvPr/>
        </p:nvSpPr>
        <p:spPr>
          <a:xfrm>
            <a:off x="6941026" y="1831064"/>
            <a:ext cx="4530403" cy="166199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Key Observations</a:t>
            </a:r>
          </a:p>
          <a:p>
            <a:pPr algn="just"/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/>
              <a:t>Employees in the low-income category have the highest attrition rate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/>
              <a:t>Medium-income group shows moderate attrition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/>
              <a:t>High-income employees are more stable and less likely to leave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8" name="object 13">
            <a:extLst>
              <a:ext uri="{FF2B5EF4-FFF2-40B4-BE49-F238E27FC236}">
                <a16:creationId xmlns:a16="http://schemas.microsoft.com/office/drawing/2014/main" id="{28BD5A62-D8A7-AEC8-830F-F537DD289049}"/>
              </a:ext>
            </a:extLst>
          </p:cNvPr>
          <p:cNvGrpSpPr/>
          <p:nvPr/>
        </p:nvGrpSpPr>
        <p:grpSpPr>
          <a:xfrm>
            <a:off x="6701791" y="4243733"/>
            <a:ext cx="5033009" cy="1318073"/>
            <a:chOff x="7058024" y="4286251"/>
            <a:chExt cx="4829493" cy="1257499"/>
          </a:xfrm>
        </p:grpSpPr>
        <p:sp>
          <p:nvSpPr>
            <p:cNvPr id="19" name="object 14">
              <a:extLst>
                <a:ext uri="{FF2B5EF4-FFF2-40B4-BE49-F238E27FC236}">
                  <a16:creationId xmlns:a16="http://schemas.microsoft.com/office/drawing/2014/main" id="{59312C10-A5DD-81C9-C7C2-9F51ED7948E5}"/>
                </a:ext>
              </a:extLst>
            </p:cNvPr>
            <p:cNvSpPr/>
            <p:nvPr/>
          </p:nvSpPr>
          <p:spPr>
            <a:xfrm>
              <a:off x="7081837" y="4286251"/>
              <a:ext cx="4805680" cy="1257300"/>
            </a:xfrm>
            <a:custGeom>
              <a:avLst/>
              <a:gdLst/>
              <a:ahLst/>
              <a:cxnLst/>
              <a:rect l="l" t="t" r="r" b="b"/>
              <a:pathLst>
                <a:path w="4805680" h="1257300">
                  <a:moveTo>
                    <a:pt x="4734165" y="1257299"/>
                  </a:moveTo>
                  <a:lnTo>
                    <a:pt x="48947" y="1257299"/>
                  </a:lnTo>
                  <a:lnTo>
                    <a:pt x="45540" y="1256811"/>
                  </a:lnTo>
                  <a:lnTo>
                    <a:pt x="12910" y="1231442"/>
                  </a:lnTo>
                  <a:lnTo>
                    <a:pt x="335" y="1191058"/>
                  </a:lnTo>
                  <a:lnTo>
                    <a:pt x="0" y="1186103"/>
                  </a:lnTo>
                  <a:lnTo>
                    <a:pt x="0" y="1181099"/>
                  </a:lnTo>
                  <a:lnTo>
                    <a:pt x="0" y="71196"/>
                  </a:lnTo>
                  <a:lnTo>
                    <a:pt x="10739" y="29704"/>
                  </a:lnTo>
                  <a:lnTo>
                    <a:pt x="38793" y="2439"/>
                  </a:lnTo>
                  <a:lnTo>
                    <a:pt x="48947" y="0"/>
                  </a:lnTo>
                  <a:lnTo>
                    <a:pt x="4734165" y="0"/>
                  </a:lnTo>
                  <a:lnTo>
                    <a:pt x="4775654" y="15621"/>
                  </a:lnTo>
                  <a:lnTo>
                    <a:pt x="4801475" y="51661"/>
                  </a:lnTo>
                  <a:lnTo>
                    <a:pt x="4805360" y="71196"/>
                  </a:lnTo>
                  <a:lnTo>
                    <a:pt x="4805360" y="1186103"/>
                  </a:lnTo>
                  <a:lnTo>
                    <a:pt x="4789738" y="1227593"/>
                  </a:lnTo>
                  <a:lnTo>
                    <a:pt x="4753698" y="1253413"/>
                  </a:lnTo>
                  <a:lnTo>
                    <a:pt x="4739119" y="1256811"/>
                  </a:lnTo>
                  <a:lnTo>
                    <a:pt x="4734165" y="1257299"/>
                  </a:lnTo>
                  <a:close/>
                </a:path>
              </a:pathLst>
            </a:custGeom>
            <a:solidFill>
              <a:srgbClr val="F9F6E7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0" name="object 15">
              <a:extLst>
                <a:ext uri="{FF2B5EF4-FFF2-40B4-BE49-F238E27FC236}">
                  <a16:creationId xmlns:a16="http://schemas.microsoft.com/office/drawing/2014/main" id="{0FB6A8F7-D3BC-B8DD-AE13-86347EFBC6F7}"/>
                </a:ext>
              </a:extLst>
            </p:cNvPr>
            <p:cNvSpPr/>
            <p:nvPr/>
          </p:nvSpPr>
          <p:spPr>
            <a:xfrm>
              <a:off x="7058024" y="4286450"/>
              <a:ext cx="72390" cy="1257300"/>
            </a:xfrm>
            <a:custGeom>
              <a:avLst/>
              <a:gdLst/>
              <a:ahLst/>
              <a:cxnLst/>
              <a:rect l="l" t="t" r="r" b="b"/>
              <a:pathLst>
                <a:path w="72390" h="1257300">
                  <a:moveTo>
                    <a:pt x="72031" y="1256897"/>
                  </a:moveTo>
                  <a:lnTo>
                    <a:pt x="33857" y="1244267"/>
                  </a:lnTo>
                  <a:lnTo>
                    <a:pt x="5800" y="1210058"/>
                  </a:lnTo>
                  <a:lnTo>
                    <a:pt x="0" y="1180898"/>
                  </a:lnTo>
                  <a:lnTo>
                    <a:pt x="0" y="75998"/>
                  </a:lnTo>
                  <a:lnTo>
                    <a:pt x="12829" y="33655"/>
                  </a:lnTo>
                  <a:lnTo>
                    <a:pt x="47038" y="5598"/>
                  </a:lnTo>
                  <a:lnTo>
                    <a:pt x="72030" y="0"/>
                  </a:lnTo>
                  <a:lnTo>
                    <a:pt x="68764" y="1731"/>
                  </a:lnTo>
                  <a:lnTo>
                    <a:pt x="61762" y="9465"/>
                  </a:lnTo>
                  <a:lnTo>
                    <a:pt x="49799" y="46837"/>
                  </a:lnTo>
                  <a:lnTo>
                    <a:pt x="47625" y="75998"/>
                  </a:lnTo>
                  <a:lnTo>
                    <a:pt x="47625" y="1180898"/>
                  </a:lnTo>
                  <a:lnTo>
                    <a:pt x="52435" y="1223240"/>
                  </a:lnTo>
                  <a:lnTo>
                    <a:pt x="68764" y="1255164"/>
                  </a:lnTo>
                  <a:lnTo>
                    <a:pt x="72031" y="1256897"/>
                  </a:lnTo>
                  <a:close/>
                </a:path>
              </a:pathLst>
            </a:custGeom>
            <a:solidFill>
              <a:srgbClr val="F1C71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6B435CF6-FB51-8D44-B724-4635AA260988}"/>
              </a:ext>
            </a:extLst>
          </p:cNvPr>
          <p:cNvSpPr txBox="1"/>
          <p:nvPr/>
        </p:nvSpPr>
        <p:spPr>
          <a:xfrm>
            <a:off x="6941026" y="4342606"/>
            <a:ext cx="448897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400" b="1" cap="all" dirty="0">
                <a:latin typeface="Arial" panose="020B0604020202020204" pitchFamily="34" charset="0"/>
                <a:cs typeface="Arial" panose="020B0604020202020204" pitchFamily="34" charset="0"/>
              </a:rPr>
              <a:t>Business Insight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/>
              <a:t>Higher attrition in low-income groups shows salary is a key factor in employee exits.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/>
              <a:t>Improving compensation and benefits can help retain employees.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4C0D26D3-6819-42E6-AB57-A1E649A1AE9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89380" y="1831064"/>
            <a:ext cx="5147377" cy="36269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6862463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6CA1BA8-E155-B1CB-B676-0D300D8A288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>
            <a:extLst>
              <a:ext uri="{FF2B5EF4-FFF2-40B4-BE49-F238E27FC236}">
                <a16:creationId xmlns:a16="http://schemas.microsoft.com/office/drawing/2014/main" id="{D9F3E58C-13EE-A2C6-DD29-A70C597134B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9024" y="380206"/>
            <a:ext cx="5147376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dirty="0"/>
              <a:t>KPI 4 – Average Working Years by Department</a:t>
            </a:r>
          </a:p>
        </p:txBody>
      </p:sp>
      <p:sp>
        <p:nvSpPr>
          <p:cNvPr id="14" name="object 22">
            <a:extLst>
              <a:ext uri="{FF2B5EF4-FFF2-40B4-BE49-F238E27FC236}">
                <a16:creationId xmlns:a16="http://schemas.microsoft.com/office/drawing/2014/main" id="{19BE1767-6743-4CFE-D1C0-C7B079482805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10106868" y="6501376"/>
            <a:ext cx="1793240" cy="184666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lang="en-US" spc="-10" dirty="0"/>
              <a:t>HR Analytics</a:t>
            </a:r>
          </a:p>
        </p:txBody>
      </p:sp>
      <p:grpSp>
        <p:nvGrpSpPr>
          <p:cNvPr id="13" name="object 13">
            <a:extLst>
              <a:ext uri="{FF2B5EF4-FFF2-40B4-BE49-F238E27FC236}">
                <a16:creationId xmlns:a16="http://schemas.microsoft.com/office/drawing/2014/main" id="{21A06E5E-C340-B05D-E7FE-88697E110353}"/>
              </a:ext>
            </a:extLst>
          </p:cNvPr>
          <p:cNvGrpSpPr/>
          <p:nvPr/>
        </p:nvGrpSpPr>
        <p:grpSpPr>
          <a:xfrm>
            <a:off x="6701790" y="1678664"/>
            <a:ext cx="5033010" cy="2130542"/>
            <a:chOff x="7058024" y="4286251"/>
            <a:chExt cx="4829493" cy="1257499"/>
          </a:xfrm>
        </p:grpSpPr>
        <p:sp>
          <p:nvSpPr>
            <p:cNvPr id="15" name="object 14">
              <a:extLst>
                <a:ext uri="{FF2B5EF4-FFF2-40B4-BE49-F238E27FC236}">
                  <a16:creationId xmlns:a16="http://schemas.microsoft.com/office/drawing/2014/main" id="{92D61F34-AD84-0228-1F35-827AC773C369}"/>
                </a:ext>
              </a:extLst>
            </p:cNvPr>
            <p:cNvSpPr/>
            <p:nvPr/>
          </p:nvSpPr>
          <p:spPr>
            <a:xfrm>
              <a:off x="7081837" y="4286251"/>
              <a:ext cx="4805680" cy="1257300"/>
            </a:xfrm>
            <a:custGeom>
              <a:avLst/>
              <a:gdLst/>
              <a:ahLst/>
              <a:cxnLst/>
              <a:rect l="l" t="t" r="r" b="b"/>
              <a:pathLst>
                <a:path w="4805680" h="1257300">
                  <a:moveTo>
                    <a:pt x="4734165" y="1257299"/>
                  </a:moveTo>
                  <a:lnTo>
                    <a:pt x="48947" y="1257299"/>
                  </a:lnTo>
                  <a:lnTo>
                    <a:pt x="45540" y="1256811"/>
                  </a:lnTo>
                  <a:lnTo>
                    <a:pt x="12910" y="1231442"/>
                  </a:lnTo>
                  <a:lnTo>
                    <a:pt x="335" y="1191058"/>
                  </a:lnTo>
                  <a:lnTo>
                    <a:pt x="0" y="1186103"/>
                  </a:lnTo>
                  <a:lnTo>
                    <a:pt x="0" y="1181099"/>
                  </a:lnTo>
                  <a:lnTo>
                    <a:pt x="0" y="71196"/>
                  </a:lnTo>
                  <a:lnTo>
                    <a:pt x="10739" y="29704"/>
                  </a:lnTo>
                  <a:lnTo>
                    <a:pt x="38793" y="2439"/>
                  </a:lnTo>
                  <a:lnTo>
                    <a:pt x="48947" y="0"/>
                  </a:lnTo>
                  <a:lnTo>
                    <a:pt x="4734165" y="0"/>
                  </a:lnTo>
                  <a:lnTo>
                    <a:pt x="4775654" y="15621"/>
                  </a:lnTo>
                  <a:lnTo>
                    <a:pt x="4801475" y="51661"/>
                  </a:lnTo>
                  <a:lnTo>
                    <a:pt x="4805360" y="71196"/>
                  </a:lnTo>
                  <a:lnTo>
                    <a:pt x="4805360" y="1186103"/>
                  </a:lnTo>
                  <a:lnTo>
                    <a:pt x="4789738" y="1227593"/>
                  </a:lnTo>
                  <a:lnTo>
                    <a:pt x="4753698" y="1253413"/>
                  </a:lnTo>
                  <a:lnTo>
                    <a:pt x="4739119" y="1256811"/>
                  </a:lnTo>
                  <a:lnTo>
                    <a:pt x="4734165" y="1257299"/>
                  </a:lnTo>
                  <a:close/>
                </a:path>
              </a:pathLst>
            </a:custGeom>
            <a:solidFill>
              <a:srgbClr val="F9F6E7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6" name="object 15">
              <a:extLst>
                <a:ext uri="{FF2B5EF4-FFF2-40B4-BE49-F238E27FC236}">
                  <a16:creationId xmlns:a16="http://schemas.microsoft.com/office/drawing/2014/main" id="{B727C905-1F10-0AE2-958C-260D574BB171}"/>
                </a:ext>
              </a:extLst>
            </p:cNvPr>
            <p:cNvSpPr/>
            <p:nvPr/>
          </p:nvSpPr>
          <p:spPr>
            <a:xfrm>
              <a:off x="7058024" y="4286450"/>
              <a:ext cx="72390" cy="1257300"/>
            </a:xfrm>
            <a:custGeom>
              <a:avLst/>
              <a:gdLst/>
              <a:ahLst/>
              <a:cxnLst/>
              <a:rect l="l" t="t" r="r" b="b"/>
              <a:pathLst>
                <a:path w="72390" h="1257300">
                  <a:moveTo>
                    <a:pt x="72031" y="1256897"/>
                  </a:moveTo>
                  <a:lnTo>
                    <a:pt x="33857" y="1244267"/>
                  </a:lnTo>
                  <a:lnTo>
                    <a:pt x="5800" y="1210058"/>
                  </a:lnTo>
                  <a:lnTo>
                    <a:pt x="0" y="1180898"/>
                  </a:lnTo>
                  <a:lnTo>
                    <a:pt x="0" y="75998"/>
                  </a:lnTo>
                  <a:lnTo>
                    <a:pt x="12829" y="33655"/>
                  </a:lnTo>
                  <a:lnTo>
                    <a:pt x="47038" y="5598"/>
                  </a:lnTo>
                  <a:lnTo>
                    <a:pt x="72030" y="0"/>
                  </a:lnTo>
                  <a:lnTo>
                    <a:pt x="68764" y="1731"/>
                  </a:lnTo>
                  <a:lnTo>
                    <a:pt x="61762" y="9465"/>
                  </a:lnTo>
                  <a:lnTo>
                    <a:pt x="49799" y="46837"/>
                  </a:lnTo>
                  <a:lnTo>
                    <a:pt x="47625" y="75998"/>
                  </a:lnTo>
                  <a:lnTo>
                    <a:pt x="47625" y="1180898"/>
                  </a:lnTo>
                  <a:lnTo>
                    <a:pt x="52435" y="1223240"/>
                  </a:lnTo>
                  <a:lnTo>
                    <a:pt x="68764" y="1255164"/>
                  </a:lnTo>
                  <a:lnTo>
                    <a:pt x="72031" y="1256897"/>
                  </a:lnTo>
                  <a:close/>
                </a:path>
              </a:pathLst>
            </a:custGeom>
            <a:solidFill>
              <a:srgbClr val="F1C71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3D9D034F-DD62-F634-7E92-2CD8ACE7F6BB}"/>
              </a:ext>
            </a:extLst>
          </p:cNvPr>
          <p:cNvSpPr txBox="1"/>
          <p:nvPr/>
        </p:nvSpPr>
        <p:spPr>
          <a:xfrm>
            <a:off x="6941026" y="1831064"/>
            <a:ext cx="4530403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Key Observations</a:t>
            </a:r>
          </a:p>
          <a:p>
            <a:pPr algn="just"/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/>
              <a:t>Some departments have higher average tenure, indicating strong retention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/>
              <a:t>Others show lower tenure, suggesting frequent employee exits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/>
              <a:t>Experience level varies significantly across departments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8" name="object 13">
            <a:extLst>
              <a:ext uri="{FF2B5EF4-FFF2-40B4-BE49-F238E27FC236}">
                <a16:creationId xmlns:a16="http://schemas.microsoft.com/office/drawing/2014/main" id="{16EA8EE0-B9AC-837E-5621-C37B539C7210}"/>
              </a:ext>
            </a:extLst>
          </p:cNvPr>
          <p:cNvGrpSpPr/>
          <p:nvPr/>
        </p:nvGrpSpPr>
        <p:grpSpPr>
          <a:xfrm>
            <a:off x="6701791" y="4243733"/>
            <a:ext cx="5033009" cy="1231106"/>
            <a:chOff x="7058024" y="4286251"/>
            <a:chExt cx="4829493" cy="1257499"/>
          </a:xfrm>
        </p:grpSpPr>
        <p:sp>
          <p:nvSpPr>
            <p:cNvPr id="19" name="object 14">
              <a:extLst>
                <a:ext uri="{FF2B5EF4-FFF2-40B4-BE49-F238E27FC236}">
                  <a16:creationId xmlns:a16="http://schemas.microsoft.com/office/drawing/2014/main" id="{2A32CBEC-16A2-B563-8D5E-F9CB42389B5D}"/>
                </a:ext>
              </a:extLst>
            </p:cNvPr>
            <p:cNvSpPr/>
            <p:nvPr/>
          </p:nvSpPr>
          <p:spPr>
            <a:xfrm>
              <a:off x="7081837" y="4286251"/>
              <a:ext cx="4805680" cy="1257300"/>
            </a:xfrm>
            <a:custGeom>
              <a:avLst/>
              <a:gdLst/>
              <a:ahLst/>
              <a:cxnLst/>
              <a:rect l="l" t="t" r="r" b="b"/>
              <a:pathLst>
                <a:path w="4805680" h="1257300">
                  <a:moveTo>
                    <a:pt x="4734165" y="1257299"/>
                  </a:moveTo>
                  <a:lnTo>
                    <a:pt x="48947" y="1257299"/>
                  </a:lnTo>
                  <a:lnTo>
                    <a:pt x="45540" y="1256811"/>
                  </a:lnTo>
                  <a:lnTo>
                    <a:pt x="12910" y="1231442"/>
                  </a:lnTo>
                  <a:lnTo>
                    <a:pt x="335" y="1191058"/>
                  </a:lnTo>
                  <a:lnTo>
                    <a:pt x="0" y="1186103"/>
                  </a:lnTo>
                  <a:lnTo>
                    <a:pt x="0" y="1181099"/>
                  </a:lnTo>
                  <a:lnTo>
                    <a:pt x="0" y="71196"/>
                  </a:lnTo>
                  <a:lnTo>
                    <a:pt x="10739" y="29704"/>
                  </a:lnTo>
                  <a:lnTo>
                    <a:pt x="38793" y="2439"/>
                  </a:lnTo>
                  <a:lnTo>
                    <a:pt x="48947" y="0"/>
                  </a:lnTo>
                  <a:lnTo>
                    <a:pt x="4734165" y="0"/>
                  </a:lnTo>
                  <a:lnTo>
                    <a:pt x="4775654" y="15621"/>
                  </a:lnTo>
                  <a:lnTo>
                    <a:pt x="4801475" y="51661"/>
                  </a:lnTo>
                  <a:lnTo>
                    <a:pt x="4805360" y="71196"/>
                  </a:lnTo>
                  <a:lnTo>
                    <a:pt x="4805360" y="1186103"/>
                  </a:lnTo>
                  <a:lnTo>
                    <a:pt x="4789738" y="1227593"/>
                  </a:lnTo>
                  <a:lnTo>
                    <a:pt x="4753698" y="1253413"/>
                  </a:lnTo>
                  <a:lnTo>
                    <a:pt x="4739119" y="1256811"/>
                  </a:lnTo>
                  <a:lnTo>
                    <a:pt x="4734165" y="1257299"/>
                  </a:lnTo>
                  <a:close/>
                </a:path>
              </a:pathLst>
            </a:custGeom>
            <a:solidFill>
              <a:srgbClr val="F9F6E7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0" name="object 15">
              <a:extLst>
                <a:ext uri="{FF2B5EF4-FFF2-40B4-BE49-F238E27FC236}">
                  <a16:creationId xmlns:a16="http://schemas.microsoft.com/office/drawing/2014/main" id="{AF2A2496-0452-893E-08FC-DAE57A48D590}"/>
                </a:ext>
              </a:extLst>
            </p:cNvPr>
            <p:cNvSpPr/>
            <p:nvPr/>
          </p:nvSpPr>
          <p:spPr>
            <a:xfrm>
              <a:off x="7058024" y="4286450"/>
              <a:ext cx="72390" cy="1257300"/>
            </a:xfrm>
            <a:custGeom>
              <a:avLst/>
              <a:gdLst/>
              <a:ahLst/>
              <a:cxnLst/>
              <a:rect l="l" t="t" r="r" b="b"/>
              <a:pathLst>
                <a:path w="72390" h="1257300">
                  <a:moveTo>
                    <a:pt x="72031" y="1256897"/>
                  </a:moveTo>
                  <a:lnTo>
                    <a:pt x="33857" y="1244267"/>
                  </a:lnTo>
                  <a:lnTo>
                    <a:pt x="5800" y="1210058"/>
                  </a:lnTo>
                  <a:lnTo>
                    <a:pt x="0" y="1180898"/>
                  </a:lnTo>
                  <a:lnTo>
                    <a:pt x="0" y="75998"/>
                  </a:lnTo>
                  <a:lnTo>
                    <a:pt x="12829" y="33655"/>
                  </a:lnTo>
                  <a:lnTo>
                    <a:pt x="47038" y="5598"/>
                  </a:lnTo>
                  <a:lnTo>
                    <a:pt x="72030" y="0"/>
                  </a:lnTo>
                  <a:lnTo>
                    <a:pt x="68764" y="1731"/>
                  </a:lnTo>
                  <a:lnTo>
                    <a:pt x="61762" y="9465"/>
                  </a:lnTo>
                  <a:lnTo>
                    <a:pt x="49799" y="46837"/>
                  </a:lnTo>
                  <a:lnTo>
                    <a:pt x="47625" y="75998"/>
                  </a:lnTo>
                  <a:lnTo>
                    <a:pt x="47625" y="1180898"/>
                  </a:lnTo>
                  <a:lnTo>
                    <a:pt x="52435" y="1223240"/>
                  </a:lnTo>
                  <a:lnTo>
                    <a:pt x="68764" y="1255164"/>
                  </a:lnTo>
                  <a:lnTo>
                    <a:pt x="72031" y="1256897"/>
                  </a:lnTo>
                  <a:close/>
                </a:path>
              </a:pathLst>
            </a:custGeom>
            <a:solidFill>
              <a:srgbClr val="F1C71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F033A275-099D-677C-3A3B-45B2115A0063}"/>
              </a:ext>
            </a:extLst>
          </p:cNvPr>
          <p:cNvSpPr txBox="1"/>
          <p:nvPr/>
        </p:nvSpPr>
        <p:spPr>
          <a:xfrm>
            <a:off x="6941026" y="4342606"/>
            <a:ext cx="448897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400" b="1" cap="all" dirty="0">
                <a:latin typeface="Arial" panose="020B0604020202020204" pitchFamily="34" charset="0"/>
                <a:cs typeface="Arial" panose="020B0604020202020204" pitchFamily="34" charset="0"/>
              </a:rPr>
              <a:t>Business Insight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/>
              <a:t>Departments with higher tenure reflect better work environment and management.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/>
              <a:t>Adopting similar practices can improve retention across the organization</a:t>
            </a:r>
            <a:endParaRPr lang="en-IN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F706121-ECF5-40DD-B86F-D8BE4F48E88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800" y="1980406"/>
            <a:ext cx="5371395" cy="328351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8288373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F375DBB-F499-1360-AA8F-7B42C94065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>
            <a:extLst>
              <a:ext uri="{FF2B5EF4-FFF2-40B4-BE49-F238E27FC236}">
                <a16:creationId xmlns:a16="http://schemas.microsoft.com/office/drawing/2014/main" id="{16CABA04-7438-490B-29CC-50501AA1FAD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9024" y="380206"/>
            <a:ext cx="5147376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dirty="0"/>
              <a:t>KPI 5 – Work-Life Balance by Job Role</a:t>
            </a:r>
          </a:p>
        </p:txBody>
      </p:sp>
      <p:sp>
        <p:nvSpPr>
          <p:cNvPr id="14" name="object 22">
            <a:extLst>
              <a:ext uri="{FF2B5EF4-FFF2-40B4-BE49-F238E27FC236}">
                <a16:creationId xmlns:a16="http://schemas.microsoft.com/office/drawing/2014/main" id="{9D64FE43-CA98-5F0E-B319-C6898017BECE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10106868" y="6501376"/>
            <a:ext cx="1793240" cy="184666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lang="en-US" spc="-10" dirty="0"/>
              <a:t>HR Analytics</a:t>
            </a:r>
          </a:p>
        </p:txBody>
      </p:sp>
      <p:grpSp>
        <p:nvGrpSpPr>
          <p:cNvPr id="13" name="object 13">
            <a:extLst>
              <a:ext uri="{FF2B5EF4-FFF2-40B4-BE49-F238E27FC236}">
                <a16:creationId xmlns:a16="http://schemas.microsoft.com/office/drawing/2014/main" id="{7584B3A5-69D2-904F-260E-1791CF410625}"/>
              </a:ext>
            </a:extLst>
          </p:cNvPr>
          <p:cNvGrpSpPr/>
          <p:nvPr/>
        </p:nvGrpSpPr>
        <p:grpSpPr>
          <a:xfrm>
            <a:off x="6701790" y="1678664"/>
            <a:ext cx="5033010" cy="2455656"/>
            <a:chOff x="7058024" y="4286251"/>
            <a:chExt cx="4829493" cy="1257499"/>
          </a:xfrm>
        </p:grpSpPr>
        <p:sp>
          <p:nvSpPr>
            <p:cNvPr id="15" name="object 14">
              <a:extLst>
                <a:ext uri="{FF2B5EF4-FFF2-40B4-BE49-F238E27FC236}">
                  <a16:creationId xmlns:a16="http://schemas.microsoft.com/office/drawing/2014/main" id="{DC950457-A18A-CC2B-1BBE-4D08562754AF}"/>
                </a:ext>
              </a:extLst>
            </p:cNvPr>
            <p:cNvSpPr/>
            <p:nvPr/>
          </p:nvSpPr>
          <p:spPr>
            <a:xfrm>
              <a:off x="7081837" y="4286251"/>
              <a:ext cx="4805680" cy="1257300"/>
            </a:xfrm>
            <a:custGeom>
              <a:avLst/>
              <a:gdLst/>
              <a:ahLst/>
              <a:cxnLst/>
              <a:rect l="l" t="t" r="r" b="b"/>
              <a:pathLst>
                <a:path w="4805680" h="1257300">
                  <a:moveTo>
                    <a:pt x="4734165" y="1257299"/>
                  </a:moveTo>
                  <a:lnTo>
                    <a:pt x="48947" y="1257299"/>
                  </a:lnTo>
                  <a:lnTo>
                    <a:pt x="45540" y="1256811"/>
                  </a:lnTo>
                  <a:lnTo>
                    <a:pt x="12910" y="1231442"/>
                  </a:lnTo>
                  <a:lnTo>
                    <a:pt x="335" y="1191058"/>
                  </a:lnTo>
                  <a:lnTo>
                    <a:pt x="0" y="1186103"/>
                  </a:lnTo>
                  <a:lnTo>
                    <a:pt x="0" y="1181099"/>
                  </a:lnTo>
                  <a:lnTo>
                    <a:pt x="0" y="71196"/>
                  </a:lnTo>
                  <a:lnTo>
                    <a:pt x="10739" y="29704"/>
                  </a:lnTo>
                  <a:lnTo>
                    <a:pt x="38793" y="2439"/>
                  </a:lnTo>
                  <a:lnTo>
                    <a:pt x="48947" y="0"/>
                  </a:lnTo>
                  <a:lnTo>
                    <a:pt x="4734165" y="0"/>
                  </a:lnTo>
                  <a:lnTo>
                    <a:pt x="4775654" y="15621"/>
                  </a:lnTo>
                  <a:lnTo>
                    <a:pt x="4801475" y="51661"/>
                  </a:lnTo>
                  <a:lnTo>
                    <a:pt x="4805360" y="71196"/>
                  </a:lnTo>
                  <a:lnTo>
                    <a:pt x="4805360" y="1186103"/>
                  </a:lnTo>
                  <a:lnTo>
                    <a:pt x="4789738" y="1227593"/>
                  </a:lnTo>
                  <a:lnTo>
                    <a:pt x="4753698" y="1253413"/>
                  </a:lnTo>
                  <a:lnTo>
                    <a:pt x="4739119" y="1256811"/>
                  </a:lnTo>
                  <a:lnTo>
                    <a:pt x="4734165" y="1257299"/>
                  </a:lnTo>
                  <a:close/>
                </a:path>
              </a:pathLst>
            </a:custGeom>
            <a:solidFill>
              <a:srgbClr val="F9F6E7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6" name="object 15">
              <a:extLst>
                <a:ext uri="{FF2B5EF4-FFF2-40B4-BE49-F238E27FC236}">
                  <a16:creationId xmlns:a16="http://schemas.microsoft.com/office/drawing/2014/main" id="{A0D72223-004C-D238-0F6A-43A82BBE7F7D}"/>
                </a:ext>
              </a:extLst>
            </p:cNvPr>
            <p:cNvSpPr/>
            <p:nvPr/>
          </p:nvSpPr>
          <p:spPr>
            <a:xfrm>
              <a:off x="7058024" y="4286450"/>
              <a:ext cx="72390" cy="1257300"/>
            </a:xfrm>
            <a:custGeom>
              <a:avLst/>
              <a:gdLst/>
              <a:ahLst/>
              <a:cxnLst/>
              <a:rect l="l" t="t" r="r" b="b"/>
              <a:pathLst>
                <a:path w="72390" h="1257300">
                  <a:moveTo>
                    <a:pt x="72031" y="1256897"/>
                  </a:moveTo>
                  <a:lnTo>
                    <a:pt x="33857" y="1244267"/>
                  </a:lnTo>
                  <a:lnTo>
                    <a:pt x="5800" y="1210058"/>
                  </a:lnTo>
                  <a:lnTo>
                    <a:pt x="0" y="1180898"/>
                  </a:lnTo>
                  <a:lnTo>
                    <a:pt x="0" y="75998"/>
                  </a:lnTo>
                  <a:lnTo>
                    <a:pt x="12829" y="33655"/>
                  </a:lnTo>
                  <a:lnTo>
                    <a:pt x="47038" y="5598"/>
                  </a:lnTo>
                  <a:lnTo>
                    <a:pt x="72030" y="0"/>
                  </a:lnTo>
                  <a:lnTo>
                    <a:pt x="68764" y="1731"/>
                  </a:lnTo>
                  <a:lnTo>
                    <a:pt x="61762" y="9465"/>
                  </a:lnTo>
                  <a:lnTo>
                    <a:pt x="49799" y="46837"/>
                  </a:lnTo>
                  <a:lnTo>
                    <a:pt x="47625" y="75998"/>
                  </a:lnTo>
                  <a:lnTo>
                    <a:pt x="47625" y="1180898"/>
                  </a:lnTo>
                  <a:lnTo>
                    <a:pt x="52435" y="1223240"/>
                  </a:lnTo>
                  <a:lnTo>
                    <a:pt x="68764" y="1255164"/>
                  </a:lnTo>
                  <a:lnTo>
                    <a:pt x="72031" y="1256897"/>
                  </a:lnTo>
                  <a:close/>
                </a:path>
              </a:pathLst>
            </a:custGeom>
            <a:solidFill>
              <a:srgbClr val="F1C71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6CA5A14D-2FDD-A042-CEA5-9465EDF9F126}"/>
              </a:ext>
            </a:extLst>
          </p:cNvPr>
          <p:cNvSpPr txBox="1"/>
          <p:nvPr/>
        </p:nvSpPr>
        <p:spPr>
          <a:xfrm>
            <a:off x="6941026" y="1831064"/>
            <a:ext cx="4530403" cy="209288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Key Observations</a:t>
            </a:r>
          </a:p>
          <a:p>
            <a:pPr algn="just"/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/>
              <a:t>Work-life balance varies significantly across job roles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/>
              <a:t>Some roles experience high stress and lower satisfaction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Customer satisfaction is strongly linked to delivery </a:t>
            </a:r>
            <a:r>
              <a:rPr lang="en-US" sz="1400" dirty="0"/>
              <a:t>Balanced roles show better retention and productivity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8" name="object 13">
            <a:extLst>
              <a:ext uri="{FF2B5EF4-FFF2-40B4-BE49-F238E27FC236}">
                <a16:creationId xmlns:a16="http://schemas.microsoft.com/office/drawing/2014/main" id="{F8A261A4-6753-2AEC-AEB7-BEAAE17AB4E0}"/>
              </a:ext>
            </a:extLst>
          </p:cNvPr>
          <p:cNvGrpSpPr/>
          <p:nvPr/>
        </p:nvGrpSpPr>
        <p:grpSpPr>
          <a:xfrm>
            <a:off x="6669709" y="4243733"/>
            <a:ext cx="5033009" cy="1231106"/>
            <a:chOff x="7058024" y="4286251"/>
            <a:chExt cx="4829493" cy="1257499"/>
          </a:xfrm>
        </p:grpSpPr>
        <p:sp>
          <p:nvSpPr>
            <p:cNvPr id="19" name="object 14">
              <a:extLst>
                <a:ext uri="{FF2B5EF4-FFF2-40B4-BE49-F238E27FC236}">
                  <a16:creationId xmlns:a16="http://schemas.microsoft.com/office/drawing/2014/main" id="{8132DB90-69B5-C61B-0069-BEB61E643369}"/>
                </a:ext>
              </a:extLst>
            </p:cNvPr>
            <p:cNvSpPr/>
            <p:nvPr/>
          </p:nvSpPr>
          <p:spPr>
            <a:xfrm>
              <a:off x="7081837" y="4286251"/>
              <a:ext cx="4805680" cy="1257300"/>
            </a:xfrm>
            <a:custGeom>
              <a:avLst/>
              <a:gdLst/>
              <a:ahLst/>
              <a:cxnLst/>
              <a:rect l="l" t="t" r="r" b="b"/>
              <a:pathLst>
                <a:path w="4805680" h="1257300">
                  <a:moveTo>
                    <a:pt x="4734165" y="1257299"/>
                  </a:moveTo>
                  <a:lnTo>
                    <a:pt x="48947" y="1257299"/>
                  </a:lnTo>
                  <a:lnTo>
                    <a:pt x="45540" y="1256811"/>
                  </a:lnTo>
                  <a:lnTo>
                    <a:pt x="12910" y="1231442"/>
                  </a:lnTo>
                  <a:lnTo>
                    <a:pt x="335" y="1191058"/>
                  </a:lnTo>
                  <a:lnTo>
                    <a:pt x="0" y="1186103"/>
                  </a:lnTo>
                  <a:lnTo>
                    <a:pt x="0" y="1181099"/>
                  </a:lnTo>
                  <a:lnTo>
                    <a:pt x="0" y="71196"/>
                  </a:lnTo>
                  <a:lnTo>
                    <a:pt x="10739" y="29704"/>
                  </a:lnTo>
                  <a:lnTo>
                    <a:pt x="38793" y="2439"/>
                  </a:lnTo>
                  <a:lnTo>
                    <a:pt x="48947" y="0"/>
                  </a:lnTo>
                  <a:lnTo>
                    <a:pt x="4734165" y="0"/>
                  </a:lnTo>
                  <a:lnTo>
                    <a:pt x="4775654" y="15621"/>
                  </a:lnTo>
                  <a:lnTo>
                    <a:pt x="4801475" y="51661"/>
                  </a:lnTo>
                  <a:lnTo>
                    <a:pt x="4805360" y="71196"/>
                  </a:lnTo>
                  <a:lnTo>
                    <a:pt x="4805360" y="1186103"/>
                  </a:lnTo>
                  <a:lnTo>
                    <a:pt x="4789738" y="1227593"/>
                  </a:lnTo>
                  <a:lnTo>
                    <a:pt x="4753698" y="1253413"/>
                  </a:lnTo>
                  <a:lnTo>
                    <a:pt x="4739119" y="1256811"/>
                  </a:lnTo>
                  <a:lnTo>
                    <a:pt x="4734165" y="1257299"/>
                  </a:lnTo>
                  <a:close/>
                </a:path>
              </a:pathLst>
            </a:custGeom>
            <a:solidFill>
              <a:srgbClr val="F9F6E7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0" name="object 15">
              <a:extLst>
                <a:ext uri="{FF2B5EF4-FFF2-40B4-BE49-F238E27FC236}">
                  <a16:creationId xmlns:a16="http://schemas.microsoft.com/office/drawing/2014/main" id="{69D66E2F-AED5-F82C-2ECE-09D7886E2920}"/>
                </a:ext>
              </a:extLst>
            </p:cNvPr>
            <p:cNvSpPr/>
            <p:nvPr/>
          </p:nvSpPr>
          <p:spPr>
            <a:xfrm>
              <a:off x="7058024" y="4286450"/>
              <a:ext cx="72390" cy="1257300"/>
            </a:xfrm>
            <a:custGeom>
              <a:avLst/>
              <a:gdLst/>
              <a:ahLst/>
              <a:cxnLst/>
              <a:rect l="l" t="t" r="r" b="b"/>
              <a:pathLst>
                <a:path w="72390" h="1257300">
                  <a:moveTo>
                    <a:pt x="72031" y="1256897"/>
                  </a:moveTo>
                  <a:lnTo>
                    <a:pt x="33857" y="1244267"/>
                  </a:lnTo>
                  <a:lnTo>
                    <a:pt x="5800" y="1210058"/>
                  </a:lnTo>
                  <a:lnTo>
                    <a:pt x="0" y="1180898"/>
                  </a:lnTo>
                  <a:lnTo>
                    <a:pt x="0" y="75998"/>
                  </a:lnTo>
                  <a:lnTo>
                    <a:pt x="12829" y="33655"/>
                  </a:lnTo>
                  <a:lnTo>
                    <a:pt x="47038" y="5598"/>
                  </a:lnTo>
                  <a:lnTo>
                    <a:pt x="72030" y="0"/>
                  </a:lnTo>
                  <a:lnTo>
                    <a:pt x="68764" y="1731"/>
                  </a:lnTo>
                  <a:lnTo>
                    <a:pt x="61762" y="9465"/>
                  </a:lnTo>
                  <a:lnTo>
                    <a:pt x="49799" y="46837"/>
                  </a:lnTo>
                  <a:lnTo>
                    <a:pt x="47625" y="75998"/>
                  </a:lnTo>
                  <a:lnTo>
                    <a:pt x="47625" y="1180898"/>
                  </a:lnTo>
                  <a:lnTo>
                    <a:pt x="52435" y="1223240"/>
                  </a:lnTo>
                  <a:lnTo>
                    <a:pt x="68764" y="1255164"/>
                  </a:lnTo>
                  <a:lnTo>
                    <a:pt x="72031" y="1256897"/>
                  </a:lnTo>
                  <a:close/>
                </a:path>
              </a:pathLst>
            </a:custGeom>
            <a:solidFill>
              <a:srgbClr val="F1C71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2E847F7D-AA7D-1E7A-5665-7C0F1E5698A1}"/>
              </a:ext>
            </a:extLst>
          </p:cNvPr>
          <p:cNvSpPr txBox="1"/>
          <p:nvPr/>
        </p:nvSpPr>
        <p:spPr>
          <a:xfrm>
            <a:off x="6941026" y="4342606"/>
            <a:ext cx="448897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400" b="1" cap="all" dirty="0">
                <a:latin typeface="Arial" panose="020B0604020202020204" pitchFamily="34" charset="0"/>
                <a:cs typeface="Arial" panose="020B0604020202020204" pitchFamily="34" charset="0"/>
              </a:rPr>
              <a:t>Business Insight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/>
              <a:t>Poor work-life balance leads to stress and increased attrition.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/>
              <a:t>Flexible work policies can improve employee satisfaction and productivity.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06D84B9-354E-435F-AA52-4884F173D73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0571" y="1904206"/>
            <a:ext cx="5377983" cy="33946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3433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168247-C6D3-7660-A186-E5B31BD3197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>
            <a:extLst>
              <a:ext uri="{FF2B5EF4-FFF2-40B4-BE49-F238E27FC236}">
                <a16:creationId xmlns:a16="http://schemas.microsoft.com/office/drawing/2014/main" id="{7CF7F78D-C360-2C12-045B-70294A6BEC45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9024" y="380206"/>
            <a:ext cx="5147376" cy="843821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dirty="0"/>
              <a:t>KPI 6 – Attrition vs Years Since Last Promotion</a:t>
            </a:r>
          </a:p>
        </p:txBody>
      </p:sp>
      <p:sp>
        <p:nvSpPr>
          <p:cNvPr id="14" name="object 22">
            <a:extLst>
              <a:ext uri="{FF2B5EF4-FFF2-40B4-BE49-F238E27FC236}">
                <a16:creationId xmlns:a16="http://schemas.microsoft.com/office/drawing/2014/main" id="{C9A335CE-1DD4-AE65-3D5F-DFEEA697C174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10106868" y="6501376"/>
            <a:ext cx="1793240" cy="184666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lang="en-US" spc="-10" dirty="0"/>
              <a:t>HR Analytics</a:t>
            </a:r>
          </a:p>
        </p:txBody>
      </p:sp>
      <p:grpSp>
        <p:nvGrpSpPr>
          <p:cNvPr id="13" name="object 13">
            <a:extLst>
              <a:ext uri="{FF2B5EF4-FFF2-40B4-BE49-F238E27FC236}">
                <a16:creationId xmlns:a16="http://schemas.microsoft.com/office/drawing/2014/main" id="{CEF2B33F-0065-39A6-A195-6AFF97A25A00}"/>
              </a:ext>
            </a:extLst>
          </p:cNvPr>
          <p:cNvGrpSpPr/>
          <p:nvPr/>
        </p:nvGrpSpPr>
        <p:grpSpPr>
          <a:xfrm>
            <a:off x="6701790" y="1599406"/>
            <a:ext cx="5033010" cy="2455656"/>
            <a:chOff x="7058024" y="4286251"/>
            <a:chExt cx="4829493" cy="1257499"/>
          </a:xfrm>
        </p:grpSpPr>
        <p:sp>
          <p:nvSpPr>
            <p:cNvPr id="15" name="object 14">
              <a:extLst>
                <a:ext uri="{FF2B5EF4-FFF2-40B4-BE49-F238E27FC236}">
                  <a16:creationId xmlns:a16="http://schemas.microsoft.com/office/drawing/2014/main" id="{4608AB4A-D535-A2FF-80DC-386225004BAF}"/>
                </a:ext>
              </a:extLst>
            </p:cNvPr>
            <p:cNvSpPr/>
            <p:nvPr/>
          </p:nvSpPr>
          <p:spPr>
            <a:xfrm>
              <a:off x="7081837" y="4286251"/>
              <a:ext cx="4805680" cy="1257300"/>
            </a:xfrm>
            <a:custGeom>
              <a:avLst/>
              <a:gdLst/>
              <a:ahLst/>
              <a:cxnLst/>
              <a:rect l="l" t="t" r="r" b="b"/>
              <a:pathLst>
                <a:path w="4805680" h="1257300">
                  <a:moveTo>
                    <a:pt x="4734165" y="1257299"/>
                  </a:moveTo>
                  <a:lnTo>
                    <a:pt x="48947" y="1257299"/>
                  </a:lnTo>
                  <a:lnTo>
                    <a:pt x="45540" y="1256811"/>
                  </a:lnTo>
                  <a:lnTo>
                    <a:pt x="12910" y="1231442"/>
                  </a:lnTo>
                  <a:lnTo>
                    <a:pt x="335" y="1191058"/>
                  </a:lnTo>
                  <a:lnTo>
                    <a:pt x="0" y="1186103"/>
                  </a:lnTo>
                  <a:lnTo>
                    <a:pt x="0" y="1181099"/>
                  </a:lnTo>
                  <a:lnTo>
                    <a:pt x="0" y="71196"/>
                  </a:lnTo>
                  <a:lnTo>
                    <a:pt x="10739" y="29704"/>
                  </a:lnTo>
                  <a:lnTo>
                    <a:pt x="38793" y="2439"/>
                  </a:lnTo>
                  <a:lnTo>
                    <a:pt x="48947" y="0"/>
                  </a:lnTo>
                  <a:lnTo>
                    <a:pt x="4734165" y="0"/>
                  </a:lnTo>
                  <a:lnTo>
                    <a:pt x="4775654" y="15621"/>
                  </a:lnTo>
                  <a:lnTo>
                    <a:pt x="4801475" y="51661"/>
                  </a:lnTo>
                  <a:lnTo>
                    <a:pt x="4805360" y="71196"/>
                  </a:lnTo>
                  <a:lnTo>
                    <a:pt x="4805360" y="1186103"/>
                  </a:lnTo>
                  <a:lnTo>
                    <a:pt x="4789738" y="1227593"/>
                  </a:lnTo>
                  <a:lnTo>
                    <a:pt x="4753698" y="1253413"/>
                  </a:lnTo>
                  <a:lnTo>
                    <a:pt x="4739119" y="1256811"/>
                  </a:lnTo>
                  <a:lnTo>
                    <a:pt x="4734165" y="1257299"/>
                  </a:lnTo>
                  <a:close/>
                </a:path>
              </a:pathLst>
            </a:custGeom>
            <a:solidFill>
              <a:srgbClr val="F9F6E7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6" name="object 15">
              <a:extLst>
                <a:ext uri="{FF2B5EF4-FFF2-40B4-BE49-F238E27FC236}">
                  <a16:creationId xmlns:a16="http://schemas.microsoft.com/office/drawing/2014/main" id="{0CB2D27C-CBF5-ADA9-F73D-29F5243F7EC2}"/>
                </a:ext>
              </a:extLst>
            </p:cNvPr>
            <p:cNvSpPr/>
            <p:nvPr/>
          </p:nvSpPr>
          <p:spPr>
            <a:xfrm>
              <a:off x="7058024" y="4286450"/>
              <a:ext cx="72390" cy="1257300"/>
            </a:xfrm>
            <a:custGeom>
              <a:avLst/>
              <a:gdLst/>
              <a:ahLst/>
              <a:cxnLst/>
              <a:rect l="l" t="t" r="r" b="b"/>
              <a:pathLst>
                <a:path w="72390" h="1257300">
                  <a:moveTo>
                    <a:pt x="72031" y="1256897"/>
                  </a:moveTo>
                  <a:lnTo>
                    <a:pt x="33857" y="1244267"/>
                  </a:lnTo>
                  <a:lnTo>
                    <a:pt x="5800" y="1210058"/>
                  </a:lnTo>
                  <a:lnTo>
                    <a:pt x="0" y="1180898"/>
                  </a:lnTo>
                  <a:lnTo>
                    <a:pt x="0" y="75998"/>
                  </a:lnTo>
                  <a:lnTo>
                    <a:pt x="12829" y="33655"/>
                  </a:lnTo>
                  <a:lnTo>
                    <a:pt x="47038" y="5598"/>
                  </a:lnTo>
                  <a:lnTo>
                    <a:pt x="72030" y="0"/>
                  </a:lnTo>
                  <a:lnTo>
                    <a:pt x="68764" y="1731"/>
                  </a:lnTo>
                  <a:lnTo>
                    <a:pt x="61762" y="9465"/>
                  </a:lnTo>
                  <a:lnTo>
                    <a:pt x="49799" y="46837"/>
                  </a:lnTo>
                  <a:lnTo>
                    <a:pt x="47625" y="75998"/>
                  </a:lnTo>
                  <a:lnTo>
                    <a:pt x="47625" y="1180898"/>
                  </a:lnTo>
                  <a:lnTo>
                    <a:pt x="52435" y="1223240"/>
                  </a:lnTo>
                  <a:lnTo>
                    <a:pt x="68764" y="1255164"/>
                  </a:lnTo>
                  <a:lnTo>
                    <a:pt x="72031" y="1256897"/>
                  </a:lnTo>
                  <a:close/>
                </a:path>
              </a:pathLst>
            </a:custGeom>
            <a:solidFill>
              <a:srgbClr val="F1C71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7" name="TextBox 16">
            <a:extLst>
              <a:ext uri="{FF2B5EF4-FFF2-40B4-BE49-F238E27FC236}">
                <a16:creationId xmlns:a16="http://schemas.microsoft.com/office/drawing/2014/main" id="{D8F29B97-25C3-0466-57E0-4E44CEDCD988}"/>
              </a:ext>
            </a:extLst>
          </p:cNvPr>
          <p:cNvSpPr txBox="1"/>
          <p:nvPr/>
        </p:nvSpPr>
        <p:spPr>
          <a:xfrm>
            <a:off x="6941026" y="1831064"/>
            <a:ext cx="4530403" cy="187743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600" b="1" dirty="0">
                <a:latin typeface="Arial" panose="020B0604020202020204" pitchFamily="34" charset="0"/>
                <a:cs typeface="Arial" panose="020B0604020202020204" pitchFamily="34" charset="0"/>
              </a:rPr>
              <a:t>Key Observations</a:t>
            </a:r>
          </a:p>
          <a:p>
            <a:pPr algn="just"/>
            <a:endParaRPr lang="en-US" sz="16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/>
              <a:t>Employees with longer gaps since last promotion have higher attrition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/>
              <a:t>Recently promoted employees show higher retention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</a:p>
          <a:p>
            <a:pPr marL="285750" indent="-285750" algn="just">
              <a:buFont typeface="Arial" panose="020B0604020202020204" pitchFamily="34" charset="0"/>
              <a:buChar char="•"/>
            </a:pPr>
            <a:r>
              <a:rPr lang="en-US" sz="1400" dirty="0"/>
              <a:t>Career stagnation is a major reason for employee exits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.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8" name="object 13">
            <a:extLst>
              <a:ext uri="{FF2B5EF4-FFF2-40B4-BE49-F238E27FC236}">
                <a16:creationId xmlns:a16="http://schemas.microsoft.com/office/drawing/2014/main" id="{09CBAE3A-9C2F-BB4C-8974-98AD24880704}"/>
              </a:ext>
            </a:extLst>
          </p:cNvPr>
          <p:cNvGrpSpPr/>
          <p:nvPr/>
        </p:nvGrpSpPr>
        <p:grpSpPr>
          <a:xfrm>
            <a:off x="6669709" y="4243733"/>
            <a:ext cx="5033009" cy="1231106"/>
            <a:chOff x="7058024" y="4286251"/>
            <a:chExt cx="4829493" cy="1257499"/>
          </a:xfrm>
        </p:grpSpPr>
        <p:sp>
          <p:nvSpPr>
            <p:cNvPr id="19" name="object 14">
              <a:extLst>
                <a:ext uri="{FF2B5EF4-FFF2-40B4-BE49-F238E27FC236}">
                  <a16:creationId xmlns:a16="http://schemas.microsoft.com/office/drawing/2014/main" id="{F147EA91-7089-8128-0BA1-E5531E5F4AB3}"/>
                </a:ext>
              </a:extLst>
            </p:cNvPr>
            <p:cNvSpPr/>
            <p:nvPr/>
          </p:nvSpPr>
          <p:spPr>
            <a:xfrm>
              <a:off x="7081837" y="4286251"/>
              <a:ext cx="4805680" cy="1257300"/>
            </a:xfrm>
            <a:custGeom>
              <a:avLst/>
              <a:gdLst/>
              <a:ahLst/>
              <a:cxnLst/>
              <a:rect l="l" t="t" r="r" b="b"/>
              <a:pathLst>
                <a:path w="4805680" h="1257300">
                  <a:moveTo>
                    <a:pt x="4734165" y="1257299"/>
                  </a:moveTo>
                  <a:lnTo>
                    <a:pt x="48947" y="1257299"/>
                  </a:lnTo>
                  <a:lnTo>
                    <a:pt x="45540" y="1256811"/>
                  </a:lnTo>
                  <a:lnTo>
                    <a:pt x="12910" y="1231442"/>
                  </a:lnTo>
                  <a:lnTo>
                    <a:pt x="335" y="1191058"/>
                  </a:lnTo>
                  <a:lnTo>
                    <a:pt x="0" y="1186103"/>
                  </a:lnTo>
                  <a:lnTo>
                    <a:pt x="0" y="1181099"/>
                  </a:lnTo>
                  <a:lnTo>
                    <a:pt x="0" y="71196"/>
                  </a:lnTo>
                  <a:lnTo>
                    <a:pt x="10739" y="29704"/>
                  </a:lnTo>
                  <a:lnTo>
                    <a:pt x="38793" y="2439"/>
                  </a:lnTo>
                  <a:lnTo>
                    <a:pt x="48947" y="0"/>
                  </a:lnTo>
                  <a:lnTo>
                    <a:pt x="4734165" y="0"/>
                  </a:lnTo>
                  <a:lnTo>
                    <a:pt x="4775654" y="15621"/>
                  </a:lnTo>
                  <a:lnTo>
                    <a:pt x="4801475" y="51661"/>
                  </a:lnTo>
                  <a:lnTo>
                    <a:pt x="4805360" y="71196"/>
                  </a:lnTo>
                  <a:lnTo>
                    <a:pt x="4805360" y="1186103"/>
                  </a:lnTo>
                  <a:lnTo>
                    <a:pt x="4789738" y="1227593"/>
                  </a:lnTo>
                  <a:lnTo>
                    <a:pt x="4753698" y="1253413"/>
                  </a:lnTo>
                  <a:lnTo>
                    <a:pt x="4739119" y="1256811"/>
                  </a:lnTo>
                  <a:lnTo>
                    <a:pt x="4734165" y="1257299"/>
                  </a:lnTo>
                  <a:close/>
                </a:path>
              </a:pathLst>
            </a:custGeom>
            <a:solidFill>
              <a:srgbClr val="F9F6E7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20" name="object 15">
              <a:extLst>
                <a:ext uri="{FF2B5EF4-FFF2-40B4-BE49-F238E27FC236}">
                  <a16:creationId xmlns:a16="http://schemas.microsoft.com/office/drawing/2014/main" id="{D19B8672-C825-835A-26F3-5EC72BE1FB40}"/>
                </a:ext>
              </a:extLst>
            </p:cNvPr>
            <p:cNvSpPr/>
            <p:nvPr/>
          </p:nvSpPr>
          <p:spPr>
            <a:xfrm>
              <a:off x="7058024" y="4286450"/>
              <a:ext cx="72390" cy="1257300"/>
            </a:xfrm>
            <a:custGeom>
              <a:avLst/>
              <a:gdLst/>
              <a:ahLst/>
              <a:cxnLst/>
              <a:rect l="l" t="t" r="r" b="b"/>
              <a:pathLst>
                <a:path w="72390" h="1257300">
                  <a:moveTo>
                    <a:pt x="72031" y="1256897"/>
                  </a:moveTo>
                  <a:lnTo>
                    <a:pt x="33857" y="1244267"/>
                  </a:lnTo>
                  <a:lnTo>
                    <a:pt x="5800" y="1210058"/>
                  </a:lnTo>
                  <a:lnTo>
                    <a:pt x="0" y="1180898"/>
                  </a:lnTo>
                  <a:lnTo>
                    <a:pt x="0" y="75998"/>
                  </a:lnTo>
                  <a:lnTo>
                    <a:pt x="12829" y="33655"/>
                  </a:lnTo>
                  <a:lnTo>
                    <a:pt x="47038" y="5598"/>
                  </a:lnTo>
                  <a:lnTo>
                    <a:pt x="72030" y="0"/>
                  </a:lnTo>
                  <a:lnTo>
                    <a:pt x="68764" y="1731"/>
                  </a:lnTo>
                  <a:lnTo>
                    <a:pt x="61762" y="9465"/>
                  </a:lnTo>
                  <a:lnTo>
                    <a:pt x="49799" y="46837"/>
                  </a:lnTo>
                  <a:lnTo>
                    <a:pt x="47625" y="75998"/>
                  </a:lnTo>
                  <a:lnTo>
                    <a:pt x="47625" y="1180898"/>
                  </a:lnTo>
                  <a:lnTo>
                    <a:pt x="52435" y="1223240"/>
                  </a:lnTo>
                  <a:lnTo>
                    <a:pt x="68764" y="1255164"/>
                  </a:lnTo>
                  <a:lnTo>
                    <a:pt x="72031" y="1256897"/>
                  </a:lnTo>
                  <a:close/>
                </a:path>
              </a:pathLst>
            </a:custGeom>
            <a:solidFill>
              <a:srgbClr val="F1C71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1" name="TextBox 20">
            <a:extLst>
              <a:ext uri="{FF2B5EF4-FFF2-40B4-BE49-F238E27FC236}">
                <a16:creationId xmlns:a16="http://schemas.microsoft.com/office/drawing/2014/main" id="{7727D1CC-0948-F302-35D4-76C32F2B0D45}"/>
              </a:ext>
            </a:extLst>
          </p:cNvPr>
          <p:cNvSpPr txBox="1"/>
          <p:nvPr/>
        </p:nvSpPr>
        <p:spPr>
          <a:xfrm>
            <a:off x="6941026" y="4342606"/>
            <a:ext cx="4488974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just"/>
            <a:r>
              <a:rPr lang="en-US" sz="1400" b="1" cap="all" dirty="0">
                <a:latin typeface="Arial" panose="020B0604020202020204" pitchFamily="34" charset="0"/>
                <a:cs typeface="Arial" panose="020B0604020202020204" pitchFamily="34" charset="0"/>
              </a:rPr>
              <a:t>Business Insight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/>
              <a:t>Employees without promotions are more likely to leave.</a:t>
            </a:r>
          </a:p>
          <a:p>
            <a:pPr marL="285750" indent="-285750" algn="l">
              <a:buFont typeface="Arial" panose="020B0604020202020204" pitchFamily="34" charset="0"/>
              <a:buChar char="•"/>
            </a:pPr>
            <a:r>
              <a:rPr lang="en-US" sz="1400" dirty="0"/>
              <a:t>Providing career growth opportunities helps retain talent.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360F033-02A9-467D-ABF2-E2E8E63F0C2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92025" y="1756326"/>
            <a:ext cx="5203975" cy="371831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70323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ACF4793D-587A-4B1B-FAA7-9DAA9ACC47C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>
            <a:extLst>
              <a:ext uri="{FF2B5EF4-FFF2-40B4-BE49-F238E27FC236}">
                <a16:creationId xmlns:a16="http://schemas.microsoft.com/office/drawing/2014/main" id="{071449BA-5F19-BF20-D1B0-9943480A8B7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9024" y="380206"/>
            <a:ext cx="5147376" cy="4283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dirty="0"/>
              <a:t>Power BI Dashboard</a:t>
            </a:r>
          </a:p>
        </p:txBody>
      </p:sp>
      <p:sp>
        <p:nvSpPr>
          <p:cNvPr id="14" name="object 22">
            <a:extLst>
              <a:ext uri="{FF2B5EF4-FFF2-40B4-BE49-F238E27FC236}">
                <a16:creationId xmlns:a16="http://schemas.microsoft.com/office/drawing/2014/main" id="{C0EA96ED-215C-6115-9E62-AA6BE81ECC9C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10106868" y="6501376"/>
            <a:ext cx="1793240" cy="184666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lang="en-US" spc="-10" dirty="0"/>
              <a:t>HR Analytics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2FC2168B-D1E5-48F9-A6A5-30B38A90A2CF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52400" y="913606"/>
            <a:ext cx="11887200" cy="593792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156684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A6C3705-D027-9CF6-C588-D5B83770D6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>
            <a:extLst>
              <a:ext uri="{FF2B5EF4-FFF2-40B4-BE49-F238E27FC236}">
                <a16:creationId xmlns:a16="http://schemas.microsoft.com/office/drawing/2014/main" id="{371E178D-2320-8892-9F8D-8998BA309C5B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9024" y="380206"/>
            <a:ext cx="5147376" cy="4283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dirty="0"/>
              <a:t>SQL Queries Used</a:t>
            </a:r>
          </a:p>
        </p:txBody>
      </p:sp>
      <p:sp>
        <p:nvSpPr>
          <p:cNvPr id="14" name="object 22">
            <a:extLst>
              <a:ext uri="{FF2B5EF4-FFF2-40B4-BE49-F238E27FC236}">
                <a16:creationId xmlns:a16="http://schemas.microsoft.com/office/drawing/2014/main" id="{3E72F834-5192-709E-5B1D-A829B0982A14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10106868" y="6501376"/>
            <a:ext cx="1793240" cy="184666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lang="en-US" spc="-10" dirty="0"/>
              <a:t>HR Analytics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41DEDF4-5C65-4A06-3AD8-3199BBC0101A}"/>
              </a:ext>
            </a:extLst>
          </p:cNvPr>
          <p:cNvSpPr txBox="1"/>
          <p:nvPr/>
        </p:nvSpPr>
        <p:spPr>
          <a:xfrm>
            <a:off x="339024" y="1066006"/>
            <a:ext cx="11395776" cy="2246769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#KPI1 </a:t>
            </a:r>
          </a:p>
          <a:p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CREATE TABLE KPI1 AS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SELECT     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Department,    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ROUND(SUM(CASE WHEN Attrition = 'Yes' THEN 1 ELSE 0 END) * 100.0 / COUNT(*), 2    ) AS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Attrition_Rate_Percentage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FROM employees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GROUP BY Department;</a:t>
            </a: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IN" sz="1400" dirty="0">
                <a:latin typeface="Arial" panose="020B0604020202020204" pitchFamily="34" charset="0"/>
                <a:cs typeface="Arial" panose="020B0604020202020204" pitchFamily="34" charset="0"/>
              </a:rPr>
              <a:t>SELECT * FROM KPI1;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4E5D3BB3-263F-BAC8-133B-222A9A7EB0F2}"/>
              </a:ext>
            </a:extLst>
          </p:cNvPr>
          <p:cNvSpPr txBox="1"/>
          <p:nvPr/>
        </p:nvSpPr>
        <p:spPr>
          <a:xfrm>
            <a:off x="339024" y="3428206"/>
            <a:ext cx="11395776" cy="1815882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#KPI2 </a:t>
            </a:r>
          </a:p>
          <a:p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CREATE TABLE KPI2 AS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SELECT     ROUND(AVG(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HourlyRate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), 2) AS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Avg_Hourly_Rate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FROM employees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WHERE Gender = '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Male'AND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JobRole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= 'Research Scientist’;</a:t>
            </a: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SELECT * FROM KPI2;</a:t>
            </a:r>
          </a:p>
        </p:txBody>
      </p:sp>
    </p:spTree>
    <p:extLst>
      <p:ext uri="{BB962C8B-B14F-4D97-AF65-F5344CB8AC3E}">
        <p14:creationId xmlns:p14="http://schemas.microsoft.com/office/powerpoint/2010/main" val="6584343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36409A0-EC5F-9CAA-04B3-7D605EEC87A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>
            <a:extLst>
              <a:ext uri="{FF2B5EF4-FFF2-40B4-BE49-F238E27FC236}">
                <a16:creationId xmlns:a16="http://schemas.microsoft.com/office/drawing/2014/main" id="{1717ACEC-E724-280C-F1A3-1838C96056D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9024" y="380206"/>
            <a:ext cx="5147376" cy="4283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dirty="0"/>
              <a:t>SQL Queries Used</a:t>
            </a:r>
          </a:p>
        </p:txBody>
      </p:sp>
      <p:sp>
        <p:nvSpPr>
          <p:cNvPr id="14" name="object 22">
            <a:extLst>
              <a:ext uri="{FF2B5EF4-FFF2-40B4-BE49-F238E27FC236}">
                <a16:creationId xmlns:a16="http://schemas.microsoft.com/office/drawing/2014/main" id="{0E694367-7916-5289-468E-6B3D02A0DA64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10106868" y="6501376"/>
            <a:ext cx="1793240" cy="184666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lang="en-US" spc="-10" dirty="0"/>
              <a:t>HR Analytics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CD837A-BD32-3CC9-34E0-23E847DD6732}"/>
              </a:ext>
            </a:extLst>
          </p:cNvPr>
          <p:cNvSpPr txBox="1"/>
          <p:nvPr/>
        </p:nvSpPr>
        <p:spPr>
          <a:xfrm>
            <a:off x="339024" y="1066006"/>
            <a:ext cx="11395776" cy="2893100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#KPI3 </a:t>
            </a:r>
          </a:p>
          <a:p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CREATE TABLE KPI3 AS 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SELECT     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CASE         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	WHEN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MonthlyIncome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&lt; 5000 THEN 'Low'        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	WHEN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MonthlyIncome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BETWEEN 5000 AND 10000 THEN 'Medium'        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	ELSE 'High'    END AS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Income_Category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,        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	ROUND( SUM(CASE WHEN Attrition = 'Yes' THEN 1 ELSE 0 END) * 100.0/ COUNT(*), 2) AS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Attrition_Rate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FROM employees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GROUP BY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Income_Category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SELECT * FROM KPI3;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81A73974-C8D6-ADDE-1466-5E84FDDDE277}"/>
              </a:ext>
            </a:extLst>
          </p:cNvPr>
          <p:cNvSpPr txBox="1"/>
          <p:nvPr/>
        </p:nvSpPr>
        <p:spPr>
          <a:xfrm>
            <a:off x="339024" y="3885406"/>
            <a:ext cx="11395776" cy="2246769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#KPI4 </a:t>
            </a:r>
          </a:p>
          <a:p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CREATE TABLE KPI4 AS 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SELECT     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Department,    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ROUND(AVG(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TotalWorkingYears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), 2) AS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Avg_Working_Years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FROM employees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GROUP BY Department;</a:t>
            </a: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SELECT * FROM KPI4;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61792770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3CDC9C9-AE18-30FC-CD21-BAE4F790CA1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>
            <a:extLst>
              <a:ext uri="{FF2B5EF4-FFF2-40B4-BE49-F238E27FC236}">
                <a16:creationId xmlns:a16="http://schemas.microsoft.com/office/drawing/2014/main" id="{EBF010E1-5C18-B49A-0C67-01D5DAE5E46C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9024" y="380206"/>
            <a:ext cx="5147376" cy="4283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dirty="0"/>
              <a:t>SQL Queries Used</a:t>
            </a:r>
          </a:p>
        </p:txBody>
      </p:sp>
      <p:sp>
        <p:nvSpPr>
          <p:cNvPr id="14" name="object 22">
            <a:extLst>
              <a:ext uri="{FF2B5EF4-FFF2-40B4-BE49-F238E27FC236}">
                <a16:creationId xmlns:a16="http://schemas.microsoft.com/office/drawing/2014/main" id="{79D5F549-3282-57F8-8D72-EFD7E4699F22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10106868" y="6501376"/>
            <a:ext cx="1793240" cy="184666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lang="en-US" spc="-10" dirty="0"/>
              <a:t>HR Analytics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EB61CD5-A1EB-985F-70B9-24455AE52977}"/>
              </a:ext>
            </a:extLst>
          </p:cNvPr>
          <p:cNvSpPr txBox="1"/>
          <p:nvPr/>
        </p:nvSpPr>
        <p:spPr>
          <a:xfrm>
            <a:off x="339024" y="1066006"/>
            <a:ext cx="11395776" cy="2677656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#KPI5</a:t>
            </a:r>
          </a:p>
          <a:p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CREATE TABLE KPI5 AS 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SELECT     </a:t>
            </a:r>
          </a:p>
          <a:p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JobRole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,    </a:t>
            </a:r>
          </a:p>
          <a:p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WorkLifeBalance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,    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COUNT(*) AS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Employee_Count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FROM employees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GROUP BY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JobRole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WorkLifeBalance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ORDER BY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JobRole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,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WorkLifeBalance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SELECT * FROM KPI5;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02095353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FA10896-36A8-65A0-EC43-0B69FA4960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>
            <a:extLst>
              <a:ext uri="{FF2B5EF4-FFF2-40B4-BE49-F238E27FC236}">
                <a16:creationId xmlns:a16="http://schemas.microsoft.com/office/drawing/2014/main" id="{F29FD71F-5FB7-3615-EBCE-9B67D47FD7E7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9024" y="380206"/>
            <a:ext cx="5147376" cy="4283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dirty="0"/>
              <a:t>SQL Queries Used</a:t>
            </a:r>
          </a:p>
        </p:txBody>
      </p:sp>
      <p:sp>
        <p:nvSpPr>
          <p:cNvPr id="14" name="object 22">
            <a:extLst>
              <a:ext uri="{FF2B5EF4-FFF2-40B4-BE49-F238E27FC236}">
                <a16:creationId xmlns:a16="http://schemas.microsoft.com/office/drawing/2014/main" id="{7BF8F9B4-6E04-7EA0-D8BA-DC90CABD4223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10106868" y="6501376"/>
            <a:ext cx="1793240" cy="184666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lang="en-US" spc="-10" dirty="0"/>
              <a:t>HR Analytics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BD01849-EB58-80E9-C67F-4365A3C84147}"/>
              </a:ext>
            </a:extLst>
          </p:cNvPr>
          <p:cNvSpPr txBox="1"/>
          <p:nvPr/>
        </p:nvSpPr>
        <p:spPr>
          <a:xfrm>
            <a:off x="339024" y="1066006"/>
            <a:ext cx="11395776" cy="5047536"/>
          </a:xfrm>
          <a:prstGeom prst="rect">
            <a:avLst/>
          </a:prstGeom>
          <a:noFill/>
          <a:ln>
            <a:solidFill>
              <a:srgbClr val="FFC000"/>
            </a:solidFill>
          </a:ln>
        </p:spPr>
        <p:txBody>
          <a:bodyPr wrap="square" rtlCol="0">
            <a:spAutoFit/>
          </a:bodyPr>
          <a:lstStyle/>
          <a:p>
            <a:r>
              <a:rPr lang="en-US" sz="1400" b="1" dirty="0">
                <a:latin typeface="Arial" panose="020B0604020202020204" pitchFamily="34" charset="0"/>
                <a:cs typeface="Arial" panose="020B0604020202020204" pitchFamily="34" charset="0"/>
              </a:rPr>
              <a:t>#KPI6</a:t>
            </a:r>
          </a:p>
          <a:p>
            <a:endParaRPr lang="en-US" sz="14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CREATE TABLE KPI6 AS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SELECT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    CASE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        WHEN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YearsSinceLastPromotion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BETWEEN 1 AND 5 THEN '1-5’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        WHEN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YearsSinceLastPromotion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BETWEEN 6 AND 10 THEN '6-10’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        WHEN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YearsSinceLastPromotion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BETWEEN 11 AND 15 THEN '11-15'        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        WHEN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YearsSinceLastPromotion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BETWEEN 16 AND 20 THEN '16-20'        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        WHEN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YearsSinceLastPromotion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BETWEEN 21 AND 25 THEN '21-25'        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        WHEN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YearsSinceLastPromotion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BETWEEN 26 AND 30 THEN '26-30'        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        WHEN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YearsSinceLastPromotion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BETWEEN 31 AND 35 THEN '31-35'        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        WHEN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YearsSinceLastPromotion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BETWEEN 36 AND 40 THEN '36-40'        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        ELSE 'Other'    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        END AS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Promotion_Group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,    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ROUND(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       SUM(CASE WHEN Attrition = 'Yes' THEN 1 ELSE 0 END) * 100.0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         / COUNT(*), 2    ) AS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Attrition_Rate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FROM employees</a:t>
            </a: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GROUP BY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Promotion_Group</a:t>
            </a:r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ORDER BY </a:t>
            </a:r>
            <a:r>
              <a:rPr lang="en-US" sz="1400" dirty="0" err="1">
                <a:latin typeface="Arial" panose="020B0604020202020204" pitchFamily="34" charset="0"/>
                <a:cs typeface="Arial" panose="020B0604020202020204" pitchFamily="34" charset="0"/>
              </a:rPr>
              <a:t>Promotion_Group</a:t>
            </a:r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;</a:t>
            </a:r>
          </a:p>
          <a:p>
            <a:endParaRPr lang="en-US" sz="14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r>
              <a:rPr lang="en-US" sz="1400" dirty="0">
                <a:latin typeface="Arial" panose="020B0604020202020204" pitchFamily="34" charset="0"/>
                <a:cs typeface="Arial" panose="020B0604020202020204" pitchFamily="34" charset="0"/>
              </a:rPr>
              <a:t>SELECT * FROM KPI6;</a:t>
            </a:r>
            <a:endParaRPr lang="en-IN" sz="1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620279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13FE110-F570-D3DF-5F8F-42ED805A006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>
            <a:extLst>
              <a:ext uri="{FF2B5EF4-FFF2-40B4-BE49-F238E27FC236}">
                <a16:creationId xmlns:a16="http://schemas.microsoft.com/office/drawing/2014/main" id="{A6D6098E-6460-786F-F9AB-3B1590CF4428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9024" y="380206"/>
            <a:ext cx="5147376" cy="4283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dirty="0"/>
              <a:t>Tableau Dashboard</a:t>
            </a:r>
          </a:p>
        </p:txBody>
      </p:sp>
      <p:sp>
        <p:nvSpPr>
          <p:cNvPr id="14" name="object 22">
            <a:extLst>
              <a:ext uri="{FF2B5EF4-FFF2-40B4-BE49-F238E27FC236}">
                <a16:creationId xmlns:a16="http://schemas.microsoft.com/office/drawing/2014/main" id="{A03019A3-3E31-66D5-8F85-2DC532E22F92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10106868" y="6501376"/>
            <a:ext cx="1793240" cy="184666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lang="en-US" spc="-10" dirty="0"/>
              <a:t>HR Analytics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86DC2C6-8173-5418-7713-97C989770652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39024" y="808527"/>
            <a:ext cx="11561084" cy="569284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261172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044908FB-289C-4201-77C0-1B24CD9C795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>
            <a:extLst>
              <a:ext uri="{FF2B5EF4-FFF2-40B4-BE49-F238E27FC236}">
                <a16:creationId xmlns:a16="http://schemas.microsoft.com/office/drawing/2014/main" id="{635BCF91-F087-E6D8-2344-DBDA37AE141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9024" y="380206"/>
            <a:ext cx="5147376" cy="4283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lang="en-US" dirty="0"/>
              <a:t>Excel Dashboard</a:t>
            </a:r>
          </a:p>
        </p:txBody>
      </p:sp>
      <p:sp>
        <p:nvSpPr>
          <p:cNvPr id="14" name="object 22">
            <a:extLst>
              <a:ext uri="{FF2B5EF4-FFF2-40B4-BE49-F238E27FC236}">
                <a16:creationId xmlns:a16="http://schemas.microsoft.com/office/drawing/2014/main" id="{C479CEFD-C8F2-8738-37FF-1BF6181C0ECD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10106868" y="6501376"/>
            <a:ext cx="1793240" cy="184666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80"/>
              </a:spcBef>
            </a:pPr>
            <a:r>
              <a:rPr lang="en-US" spc="-10" dirty="0"/>
              <a:t>HR Analytics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793D90E-1EE4-14CE-4FA7-BE225D4559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2400" y="913605"/>
            <a:ext cx="11887200" cy="558777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578779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6814D8-B32B-2201-AF04-2AA3039E5A3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6">
            <a:extLst>
              <a:ext uri="{FF2B5EF4-FFF2-40B4-BE49-F238E27FC236}">
                <a16:creationId xmlns:a16="http://schemas.microsoft.com/office/drawing/2014/main" id="{A7F68DE0-9365-50D8-88D2-67FE63676D8D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339024" y="380206"/>
            <a:ext cx="8423976" cy="52578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ts val="3960"/>
              </a:lnSpc>
              <a:spcBef>
                <a:spcPts val="100"/>
              </a:spcBef>
            </a:pPr>
            <a:r>
              <a:rPr lang="en-IN" sz="3600" dirty="0"/>
              <a:t>Conclusion &amp; Recommendations</a:t>
            </a:r>
            <a:endParaRPr sz="3600" dirty="0"/>
          </a:p>
        </p:txBody>
      </p:sp>
      <p:sp>
        <p:nvSpPr>
          <p:cNvPr id="7" name="object 7">
            <a:extLst>
              <a:ext uri="{FF2B5EF4-FFF2-40B4-BE49-F238E27FC236}">
                <a16:creationId xmlns:a16="http://schemas.microsoft.com/office/drawing/2014/main" id="{E6E22D35-8948-6B67-75C3-03DF4AACA2F2}"/>
              </a:ext>
            </a:extLst>
          </p:cNvPr>
          <p:cNvSpPr txBox="1"/>
          <p:nvPr/>
        </p:nvSpPr>
        <p:spPr>
          <a:xfrm>
            <a:off x="339023" y="893413"/>
            <a:ext cx="4971211" cy="428322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lang="en-IN" sz="2700" b="1" dirty="0">
                <a:solidFill>
                  <a:srgbClr val="F1C711"/>
                </a:solidFill>
                <a:latin typeface="Segoe UI Semibold"/>
                <a:cs typeface="Segoe UI Semibold"/>
              </a:rPr>
              <a:t>Strategic Business Insights</a:t>
            </a:r>
            <a:endParaRPr sz="2700" dirty="0">
              <a:latin typeface="Segoe UI Semibold"/>
              <a:cs typeface="Segoe UI Semibold"/>
            </a:endParaRPr>
          </a:p>
        </p:txBody>
      </p:sp>
      <p:grpSp>
        <p:nvGrpSpPr>
          <p:cNvPr id="2" name="object 13">
            <a:extLst>
              <a:ext uri="{FF2B5EF4-FFF2-40B4-BE49-F238E27FC236}">
                <a16:creationId xmlns:a16="http://schemas.microsoft.com/office/drawing/2014/main" id="{BB88975F-96E2-FEAC-FBDB-0E0E2EB59982}"/>
              </a:ext>
            </a:extLst>
          </p:cNvPr>
          <p:cNvGrpSpPr/>
          <p:nvPr/>
        </p:nvGrpSpPr>
        <p:grpSpPr>
          <a:xfrm>
            <a:off x="364221" y="1351877"/>
            <a:ext cx="4829493" cy="729173"/>
            <a:chOff x="7058024" y="4286251"/>
            <a:chExt cx="4829493" cy="1257499"/>
          </a:xfrm>
        </p:grpSpPr>
        <p:sp>
          <p:nvSpPr>
            <p:cNvPr id="3" name="object 14">
              <a:extLst>
                <a:ext uri="{FF2B5EF4-FFF2-40B4-BE49-F238E27FC236}">
                  <a16:creationId xmlns:a16="http://schemas.microsoft.com/office/drawing/2014/main" id="{A0082274-6CAA-E09D-A5E3-8F6A8C1FC1E3}"/>
                </a:ext>
              </a:extLst>
            </p:cNvPr>
            <p:cNvSpPr/>
            <p:nvPr/>
          </p:nvSpPr>
          <p:spPr>
            <a:xfrm>
              <a:off x="7081837" y="4286251"/>
              <a:ext cx="4805680" cy="1257300"/>
            </a:xfrm>
            <a:custGeom>
              <a:avLst/>
              <a:gdLst/>
              <a:ahLst/>
              <a:cxnLst/>
              <a:rect l="l" t="t" r="r" b="b"/>
              <a:pathLst>
                <a:path w="4805680" h="1257300">
                  <a:moveTo>
                    <a:pt x="4734165" y="1257299"/>
                  </a:moveTo>
                  <a:lnTo>
                    <a:pt x="48947" y="1257299"/>
                  </a:lnTo>
                  <a:lnTo>
                    <a:pt x="45540" y="1256811"/>
                  </a:lnTo>
                  <a:lnTo>
                    <a:pt x="12910" y="1231442"/>
                  </a:lnTo>
                  <a:lnTo>
                    <a:pt x="335" y="1191058"/>
                  </a:lnTo>
                  <a:lnTo>
                    <a:pt x="0" y="1186103"/>
                  </a:lnTo>
                  <a:lnTo>
                    <a:pt x="0" y="1181099"/>
                  </a:lnTo>
                  <a:lnTo>
                    <a:pt x="0" y="71196"/>
                  </a:lnTo>
                  <a:lnTo>
                    <a:pt x="10739" y="29704"/>
                  </a:lnTo>
                  <a:lnTo>
                    <a:pt x="38793" y="2439"/>
                  </a:lnTo>
                  <a:lnTo>
                    <a:pt x="48947" y="0"/>
                  </a:lnTo>
                  <a:lnTo>
                    <a:pt x="4734165" y="0"/>
                  </a:lnTo>
                  <a:lnTo>
                    <a:pt x="4775654" y="15621"/>
                  </a:lnTo>
                  <a:lnTo>
                    <a:pt x="4801475" y="51661"/>
                  </a:lnTo>
                  <a:lnTo>
                    <a:pt x="4805360" y="71196"/>
                  </a:lnTo>
                  <a:lnTo>
                    <a:pt x="4805360" y="1186103"/>
                  </a:lnTo>
                  <a:lnTo>
                    <a:pt x="4789738" y="1227593"/>
                  </a:lnTo>
                  <a:lnTo>
                    <a:pt x="4753698" y="1253413"/>
                  </a:lnTo>
                  <a:lnTo>
                    <a:pt x="4739119" y="1256811"/>
                  </a:lnTo>
                  <a:lnTo>
                    <a:pt x="4734165" y="1257299"/>
                  </a:lnTo>
                  <a:close/>
                </a:path>
              </a:pathLst>
            </a:custGeom>
            <a:solidFill>
              <a:srgbClr val="F9F6E7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4" name="object 15">
              <a:extLst>
                <a:ext uri="{FF2B5EF4-FFF2-40B4-BE49-F238E27FC236}">
                  <a16:creationId xmlns:a16="http://schemas.microsoft.com/office/drawing/2014/main" id="{451E38F3-C9FA-DD7F-4BE3-6FFBAA1285A8}"/>
                </a:ext>
              </a:extLst>
            </p:cNvPr>
            <p:cNvSpPr/>
            <p:nvPr/>
          </p:nvSpPr>
          <p:spPr>
            <a:xfrm>
              <a:off x="7058024" y="4286450"/>
              <a:ext cx="72390" cy="1257300"/>
            </a:xfrm>
            <a:custGeom>
              <a:avLst/>
              <a:gdLst/>
              <a:ahLst/>
              <a:cxnLst/>
              <a:rect l="l" t="t" r="r" b="b"/>
              <a:pathLst>
                <a:path w="72390" h="1257300">
                  <a:moveTo>
                    <a:pt x="72031" y="1256897"/>
                  </a:moveTo>
                  <a:lnTo>
                    <a:pt x="33857" y="1244267"/>
                  </a:lnTo>
                  <a:lnTo>
                    <a:pt x="5800" y="1210058"/>
                  </a:lnTo>
                  <a:lnTo>
                    <a:pt x="0" y="1180898"/>
                  </a:lnTo>
                  <a:lnTo>
                    <a:pt x="0" y="75998"/>
                  </a:lnTo>
                  <a:lnTo>
                    <a:pt x="12829" y="33655"/>
                  </a:lnTo>
                  <a:lnTo>
                    <a:pt x="47038" y="5598"/>
                  </a:lnTo>
                  <a:lnTo>
                    <a:pt x="72030" y="0"/>
                  </a:lnTo>
                  <a:lnTo>
                    <a:pt x="68764" y="1731"/>
                  </a:lnTo>
                  <a:lnTo>
                    <a:pt x="61762" y="9465"/>
                  </a:lnTo>
                  <a:lnTo>
                    <a:pt x="49799" y="46837"/>
                  </a:lnTo>
                  <a:lnTo>
                    <a:pt x="47625" y="75998"/>
                  </a:lnTo>
                  <a:lnTo>
                    <a:pt x="47625" y="1180898"/>
                  </a:lnTo>
                  <a:lnTo>
                    <a:pt x="52435" y="1223240"/>
                  </a:lnTo>
                  <a:lnTo>
                    <a:pt x="68764" y="1255164"/>
                  </a:lnTo>
                  <a:lnTo>
                    <a:pt x="72031" y="1256897"/>
                  </a:lnTo>
                  <a:close/>
                </a:path>
              </a:pathLst>
            </a:custGeom>
            <a:solidFill>
              <a:srgbClr val="F1C71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3" name="TextBox 62">
            <a:extLst>
              <a:ext uri="{FF2B5EF4-FFF2-40B4-BE49-F238E27FC236}">
                <a16:creationId xmlns:a16="http://schemas.microsoft.com/office/drawing/2014/main" id="{D7F6FE51-C45E-E460-C086-007430840C4D}"/>
              </a:ext>
            </a:extLst>
          </p:cNvPr>
          <p:cNvSpPr txBox="1"/>
          <p:nvPr/>
        </p:nvSpPr>
        <p:spPr>
          <a:xfrm>
            <a:off x="411414" y="1543605"/>
            <a:ext cx="2438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i="0" dirty="0">
                <a:solidFill>
                  <a:srgbClr val="1E3A8A"/>
                </a:solidFill>
                <a:effectLst/>
                <a:latin typeface="Montserrat" panose="00000500000000000000" pitchFamily="2" charset="0"/>
              </a:rPr>
              <a:t>Key Conclusions</a:t>
            </a:r>
            <a:endParaRPr lang="en-IN" dirty="0"/>
          </a:p>
        </p:txBody>
      </p:sp>
      <p:grpSp>
        <p:nvGrpSpPr>
          <p:cNvPr id="8" name="object 13">
            <a:extLst>
              <a:ext uri="{FF2B5EF4-FFF2-40B4-BE49-F238E27FC236}">
                <a16:creationId xmlns:a16="http://schemas.microsoft.com/office/drawing/2014/main" id="{401F2311-958D-D832-0316-8D9B99AEDE2A}"/>
              </a:ext>
            </a:extLst>
          </p:cNvPr>
          <p:cNvGrpSpPr/>
          <p:nvPr/>
        </p:nvGrpSpPr>
        <p:grpSpPr>
          <a:xfrm>
            <a:off x="6629400" y="1370806"/>
            <a:ext cx="4829493" cy="729173"/>
            <a:chOff x="7058024" y="4286251"/>
            <a:chExt cx="4829493" cy="1257499"/>
          </a:xfrm>
        </p:grpSpPr>
        <p:sp>
          <p:nvSpPr>
            <p:cNvPr id="9" name="object 14">
              <a:extLst>
                <a:ext uri="{FF2B5EF4-FFF2-40B4-BE49-F238E27FC236}">
                  <a16:creationId xmlns:a16="http://schemas.microsoft.com/office/drawing/2014/main" id="{AA08445B-4F26-4812-F452-0C4BD3A3ECC7}"/>
                </a:ext>
              </a:extLst>
            </p:cNvPr>
            <p:cNvSpPr/>
            <p:nvPr/>
          </p:nvSpPr>
          <p:spPr>
            <a:xfrm>
              <a:off x="7081837" y="4286251"/>
              <a:ext cx="4805680" cy="1257300"/>
            </a:xfrm>
            <a:custGeom>
              <a:avLst/>
              <a:gdLst/>
              <a:ahLst/>
              <a:cxnLst/>
              <a:rect l="l" t="t" r="r" b="b"/>
              <a:pathLst>
                <a:path w="4805680" h="1257300">
                  <a:moveTo>
                    <a:pt x="4734165" y="1257299"/>
                  </a:moveTo>
                  <a:lnTo>
                    <a:pt x="48947" y="1257299"/>
                  </a:lnTo>
                  <a:lnTo>
                    <a:pt x="45540" y="1256811"/>
                  </a:lnTo>
                  <a:lnTo>
                    <a:pt x="12910" y="1231442"/>
                  </a:lnTo>
                  <a:lnTo>
                    <a:pt x="335" y="1191058"/>
                  </a:lnTo>
                  <a:lnTo>
                    <a:pt x="0" y="1186103"/>
                  </a:lnTo>
                  <a:lnTo>
                    <a:pt x="0" y="1181099"/>
                  </a:lnTo>
                  <a:lnTo>
                    <a:pt x="0" y="71196"/>
                  </a:lnTo>
                  <a:lnTo>
                    <a:pt x="10739" y="29704"/>
                  </a:lnTo>
                  <a:lnTo>
                    <a:pt x="38793" y="2439"/>
                  </a:lnTo>
                  <a:lnTo>
                    <a:pt x="48947" y="0"/>
                  </a:lnTo>
                  <a:lnTo>
                    <a:pt x="4734165" y="0"/>
                  </a:lnTo>
                  <a:lnTo>
                    <a:pt x="4775654" y="15621"/>
                  </a:lnTo>
                  <a:lnTo>
                    <a:pt x="4801475" y="51661"/>
                  </a:lnTo>
                  <a:lnTo>
                    <a:pt x="4805360" y="71196"/>
                  </a:lnTo>
                  <a:lnTo>
                    <a:pt x="4805360" y="1186103"/>
                  </a:lnTo>
                  <a:lnTo>
                    <a:pt x="4789738" y="1227593"/>
                  </a:lnTo>
                  <a:lnTo>
                    <a:pt x="4753698" y="1253413"/>
                  </a:lnTo>
                  <a:lnTo>
                    <a:pt x="4739119" y="1256811"/>
                  </a:lnTo>
                  <a:lnTo>
                    <a:pt x="4734165" y="1257299"/>
                  </a:lnTo>
                  <a:close/>
                </a:path>
              </a:pathLst>
            </a:custGeom>
            <a:solidFill>
              <a:srgbClr val="F9F6E7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0" name="object 15">
              <a:extLst>
                <a:ext uri="{FF2B5EF4-FFF2-40B4-BE49-F238E27FC236}">
                  <a16:creationId xmlns:a16="http://schemas.microsoft.com/office/drawing/2014/main" id="{0ED26B0B-9F89-390E-7B27-9902D086A8BE}"/>
                </a:ext>
              </a:extLst>
            </p:cNvPr>
            <p:cNvSpPr/>
            <p:nvPr/>
          </p:nvSpPr>
          <p:spPr>
            <a:xfrm>
              <a:off x="7058024" y="4286450"/>
              <a:ext cx="72390" cy="1257300"/>
            </a:xfrm>
            <a:custGeom>
              <a:avLst/>
              <a:gdLst/>
              <a:ahLst/>
              <a:cxnLst/>
              <a:rect l="l" t="t" r="r" b="b"/>
              <a:pathLst>
                <a:path w="72390" h="1257300">
                  <a:moveTo>
                    <a:pt x="72031" y="1256897"/>
                  </a:moveTo>
                  <a:lnTo>
                    <a:pt x="33857" y="1244267"/>
                  </a:lnTo>
                  <a:lnTo>
                    <a:pt x="5800" y="1210058"/>
                  </a:lnTo>
                  <a:lnTo>
                    <a:pt x="0" y="1180898"/>
                  </a:lnTo>
                  <a:lnTo>
                    <a:pt x="0" y="75998"/>
                  </a:lnTo>
                  <a:lnTo>
                    <a:pt x="12829" y="33655"/>
                  </a:lnTo>
                  <a:lnTo>
                    <a:pt x="47038" y="5598"/>
                  </a:lnTo>
                  <a:lnTo>
                    <a:pt x="72030" y="0"/>
                  </a:lnTo>
                  <a:lnTo>
                    <a:pt x="68764" y="1731"/>
                  </a:lnTo>
                  <a:lnTo>
                    <a:pt x="61762" y="9465"/>
                  </a:lnTo>
                  <a:lnTo>
                    <a:pt x="49799" y="46837"/>
                  </a:lnTo>
                  <a:lnTo>
                    <a:pt x="47625" y="75998"/>
                  </a:lnTo>
                  <a:lnTo>
                    <a:pt x="47625" y="1180898"/>
                  </a:lnTo>
                  <a:lnTo>
                    <a:pt x="52435" y="1223240"/>
                  </a:lnTo>
                  <a:lnTo>
                    <a:pt x="68764" y="1255164"/>
                  </a:lnTo>
                  <a:lnTo>
                    <a:pt x="72031" y="1256897"/>
                  </a:lnTo>
                  <a:close/>
                </a:path>
              </a:pathLst>
            </a:custGeom>
            <a:solidFill>
              <a:srgbClr val="F1C71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B0907088-3566-4A3B-32D0-03A2391ECC75}"/>
              </a:ext>
            </a:extLst>
          </p:cNvPr>
          <p:cNvSpPr txBox="1"/>
          <p:nvPr/>
        </p:nvSpPr>
        <p:spPr>
          <a:xfrm>
            <a:off x="6701790" y="1550669"/>
            <a:ext cx="2819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i="0" dirty="0">
                <a:solidFill>
                  <a:srgbClr val="1E3A8A"/>
                </a:solidFill>
                <a:effectLst/>
                <a:latin typeface="Montserrat" panose="00000500000000000000" pitchFamily="2" charset="0"/>
              </a:rPr>
              <a:t>Recommendations</a:t>
            </a:r>
            <a:endParaRPr lang="en-IN" dirty="0"/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93E2C1A2-6997-900A-C2B7-B116091CCBA8}"/>
              </a:ext>
            </a:extLst>
          </p:cNvPr>
          <p:cNvSpPr txBox="1"/>
          <p:nvPr/>
        </p:nvSpPr>
        <p:spPr>
          <a:xfrm>
            <a:off x="364221" y="2478147"/>
            <a:ext cx="4793298" cy="35052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IN" dirty="0"/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C2723921-D934-AE19-E53C-38C466E490CD}"/>
              </a:ext>
            </a:extLst>
          </p:cNvPr>
          <p:cNvSpPr txBox="1"/>
          <p:nvPr/>
        </p:nvSpPr>
        <p:spPr>
          <a:xfrm>
            <a:off x="316627" y="2104550"/>
            <a:ext cx="4793298" cy="40164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+mj-lt"/>
              <a:buAutoNum type="arabicPeriod"/>
            </a:pPr>
            <a:r>
              <a:rPr lang="en-US" sz="1500" dirty="0"/>
              <a:t>High attrition is observed in Sales and low-income employees, indicating job pressure and compensation-related issues</a:t>
            </a:r>
          </a:p>
          <a:p>
            <a:pPr marL="342900" indent="-342900" algn="just">
              <a:buFont typeface="+mj-lt"/>
              <a:buAutoNum type="arabicPeriod"/>
            </a:pP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US" sz="1500" dirty="0"/>
              <a:t>Employees without timely promotions show higher exit rates due to lack of career growth opportunities</a:t>
            </a:r>
          </a:p>
          <a:p>
            <a:pPr marL="342900" indent="-342900" algn="just">
              <a:buFont typeface="+mj-lt"/>
              <a:buAutoNum type="arabicPeriod"/>
            </a:pP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US" sz="1500" dirty="0"/>
              <a:t>Work-life balance significantly impacts employee retention, with higher stress leading to increased turnover</a:t>
            </a:r>
          </a:p>
          <a:p>
            <a:pPr marL="342900" indent="-342900" algn="just">
              <a:buFont typeface="+mj-lt"/>
              <a:buAutoNum type="arabicPeriod"/>
            </a:pPr>
            <a:endParaRPr lang="en-IN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US" sz="1500" dirty="0"/>
              <a:t>Salary, job satisfaction, and growth opportunities are the key drivers influencing employee behavior</a:t>
            </a:r>
          </a:p>
          <a:p>
            <a:pPr marL="342900" indent="-342900" algn="just">
              <a:buFont typeface="+mj-lt"/>
              <a:buAutoNum type="arabicPeriod"/>
            </a:pPr>
            <a:endParaRPr lang="en-US" sz="1500" dirty="0"/>
          </a:p>
          <a:p>
            <a:pPr marL="342900" indent="-342900" algn="just">
              <a:buFont typeface="+mj-lt"/>
              <a:buAutoNum type="arabicPeriod"/>
            </a:pPr>
            <a:r>
              <a:rPr lang="en-US" sz="1500" dirty="0"/>
              <a:t>Employee engagement and recognition levels also play an important role in retention</a:t>
            </a: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9DD3FE9A-AE8B-73C4-800F-1A85243CA502}"/>
              </a:ext>
            </a:extLst>
          </p:cNvPr>
          <p:cNvSpPr txBox="1"/>
          <p:nvPr/>
        </p:nvSpPr>
        <p:spPr>
          <a:xfrm>
            <a:off x="6629400" y="2222936"/>
            <a:ext cx="4793298" cy="40164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+mj-lt"/>
              <a:buAutoNum type="arabicPeriod"/>
            </a:pPr>
            <a:r>
              <a:rPr lang="en-US" sz="1500" dirty="0"/>
              <a:t>Improve salary structure and introduce incentives for low-income employees to enhance retention.</a:t>
            </a:r>
          </a:p>
          <a:p>
            <a:pPr marL="342900" indent="-342900" algn="just">
              <a:buFont typeface="+mj-lt"/>
              <a:buAutoNum type="arabicPeriod"/>
            </a:pPr>
            <a:endParaRPr lang="en-US" sz="15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US" sz="1500" dirty="0"/>
              <a:t>Provide timely promotions, training, and clear career growth paths to keep employees motivated.</a:t>
            </a:r>
          </a:p>
          <a:p>
            <a:pPr marL="342900" indent="-342900" algn="just">
              <a:buFont typeface="+mj-lt"/>
              <a:buAutoNum type="arabicPeriod"/>
            </a:pPr>
            <a:endParaRPr lang="en-US" sz="15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US" sz="1500" dirty="0"/>
              <a:t>Enhance work-life balance through flexible policies and better workload management.</a:t>
            </a:r>
          </a:p>
          <a:p>
            <a:pPr marL="342900" indent="-342900" algn="just">
              <a:buFont typeface="+mj-lt"/>
              <a:buAutoNum type="arabicPeriod"/>
            </a:pPr>
            <a:endParaRPr lang="en-US" sz="1500" b="1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US" sz="1500" dirty="0"/>
              <a:t>Focus on employee engagement, feedback systems, and support in high-attrition departments.</a:t>
            </a:r>
          </a:p>
          <a:p>
            <a:pPr marL="342900" indent="-342900" algn="just">
              <a:buFont typeface="+mj-lt"/>
              <a:buAutoNum type="arabicPeriod"/>
            </a:pPr>
            <a:endParaRPr lang="en-US" sz="1500" dirty="0"/>
          </a:p>
          <a:p>
            <a:pPr marL="342900" indent="-342900" algn="just">
              <a:buFont typeface="+mj-lt"/>
              <a:buAutoNum type="arabicPeriod"/>
            </a:pPr>
            <a:r>
              <a:rPr lang="en-US" sz="1500" dirty="0"/>
              <a:t>Implement regular performance reviews and recognition programs to boost morale.</a:t>
            </a:r>
          </a:p>
          <a:p>
            <a:pPr marL="342900" indent="-342900" algn="just">
              <a:buFont typeface="+mj-lt"/>
              <a:buAutoNum type="arabicPeriod"/>
            </a:pPr>
            <a:endParaRPr lang="en-IN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object 22">
            <a:extLst>
              <a:ext uri="{FF2B5EF4-FFF2-40B4-BE49-F238E27FC236}">
                <a16:creationId xmlns:a16="http://schemas.microsoft.com/office/drawing/2014/main" id="{BBAD9856-0B00-9FD2-15C8-C2B495DE7EF0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10106868" y="6501376"/>
            <a:ext cx="1793240" cy="184666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r>
              <a:rPr lang="en-IN" dirty="0">
                <a:effectLst/>
              </a:rPr>
              <a:t>HR Analytics</a:t>
            </a:r>
          </a:p>
        </p:txBody>
      </p:sp>
    </p:spTree>
    <p:extLst>
      <p:ext uri="{BB962C8B-B14F-4D97-AF65-F5344CB8AC3E}">
        <p14:creationId xmlns:p14="http://schemas.microsoft.com/office/powerpoint/2010/main" val="34069322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92099" y="358775"/>
            <a:ext cx="6742430" cy="830997"/>
          </a:xfrm>
        </p:spPr>
        <p:txBody>
          <a:bodyPr/>
          <a:lstStyle/>
          <a:p>
            <a:r>
              <a:rPr dirty="0"/>
              <a:t>Challenges Faced &amp; How We Overcame Them</a:t>
            </a:r>
          </a:p>
        </p:txBody>
      </p:sp>
      <p:sp>
        <p:nvSpPr>
          <p:cNvPr id="4" name="object 22">
            <a:extLst>
              <a:ext uri="{FF2B5EF4-FFF2-40B4-BE49-F238E27FC236}">
                <a16:creationId xmlns:a16="http://schemas.microsoft.com/office/drawing/2014/main" id="{8B774E59-4D4F-7F2C-5137-33F55BAE66D6}"/>
              </a:ext>
            </a:extLst>
          </p:cNvPr>
          <p:cNvSpPr txBox="1">
            <a:spLocks noGrp="1"/>
          </p:cNvSpPr>
          <p:nvPr>
            <p:ph type="dt" sz="half" idx="6"/>
          </p:nvPr>
        </p:nvSpPr>
        <p:spPr>
          <a:xfrm>
            <a:off x="10106868" y="6501376"/>
            <a:ext cx="1793240" cy="184666"/>
          </a:xfrm>
          <a:prstGeom prst="rect">
            <a:avLst/>
          </a:prstGeom>
        </p:spPr>
        <p:txBody>
          <a:bodyPr vert="horz" wrap="square" lIns="0" tIns="22860" rIns="0" bIns="0" rtlCol="0">
            <a:spAutoFit/>
          </a:bodyPr>
          <a:lstStyle/>
          <a:p>
            <a:r>
              <a:rPr lang="en-US" dirty="0">
                <a:effectLst/>
              </a:rPr>
              <a:t>HR Analytics</a:t>
            </a:r>
            <a:endParaRPr lang="en-IN" dirty="0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548E54F-2909-0D35-71A8-95C1EA406873}"/>
              </a:ext>
            </a:extLst>
          </p:cNvPr>
          <p:cNvSpPr txBox="1"/>
          <p:nvPr/>
        </p:nvSpPr>
        <p:spPr>
          <a:xfrm>
            <a:off x="388302" y="2027676"/>
            <a:ext cx="4793298" cy="35548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Font typeface="+mj-lt"/>
              <a:buAutoNum type="arabicPeriod"/>
            </a:pPr>
            <a:r>
              <a:rPr lang="en-US" sz="1500" dirty="0"/>
              <a:t>Raw dataset had missing values and inconsistent formats, which affected calculations and analysis.</a:t>
            </a:r>
          </a:p>
          <a:p>
            <a:pPr marL="342900" indent="-342900" algn="just">
              <a:buFont typeface="+mj-lt"/>
              <a:buAutoNum type="arabicPeriod"/>
            </a:pP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US" sz="1500" dirty="0"/>
              <a:t>Difficulty in correctly calculating attrition rate (initial confusion between % of total vs actual ratio).</a:t>
            </a:r>
          </a:p>
          <a:p>
            <a:pPr marL="342900" indent="-342900" algn="just">
              <a:buFont typeface="+mj-lt"/>
              <a:buAutoNum type="arabicPeriod"/>
            </a:pP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US" sz="1500" dirty="0"/>
              <a:t>Creating consistent KPIs across Excel, SQL, Tableau, and Power BI was challenging.</a:t>
            </a:r>
          </a:p>
          <a:p>
            <a:pPr marL="342900" indent="-342900" algn="just">
              <a:buFont typeface="+mj-lt"/>
              <a:buAutoNum type="arabicPeriod"/>
            </a:pP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US" sz="1500" dirty="0"/>
              <a:t>Issues in grouping fields like Income Category and Promotion Range for meaningful analysis.</a:t>
            </a:r>
          </a:p>
          <a:p>
            <a:pPr marL="342900" indent="-342900" algn="just">
              <a:buFont typeface="+mj-lt"/>
              <a:buAutoNum type="arabicPeriod"/>
            </a:pPr>
            <a:endParaRPr lang="en-IN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Font typeface="+mj-lt"/>
              <a:buAutoNum type="arabicPeriod"/>
            </a:pPr>
            <a:r>
              <a:rPr lang="en-US" sz="1500" dirty="0"/>
              <a:t>Performance issues in Power BI due to large dataset and multiple visuals.</a:t>
            </a:r>
          </a:p>
          <a:p>
            <a:pPr marL="342900" indent="-342900" algn="just">
              <a:buFont typeface="+mj-lt"/>
              <a:buAutoNum type="arabicPeriod"/>
            </a:pP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grpSp>
        <p:nvGrpSpPr>
          <p:cNvPr id="12" name="object 13">
            <a:extLst>
              <a:ext uri="{FF2B5EF4-FFF2-40B4-BE49-F238E27FC236}">
                <a16:creationId xmlns:a16="http://schemas.microsoft.com/office/drawing/2014/main" id="{3756799B-BECE-85B0-3D9A-C4E2429AE7E3}"/>
              </a:ext>
            </a:extLst>
          </p:cNvPr>
          <p:cNvGrpSpPr/>
          <p:nvPr/>
        </p:nvGrpSpPr>
        <p:grpSpPr>
          <a:xfrm>
            <a:off x="364221" y="1218406"/>
            <a:ext cx="4829493" cy="729173"/>
            <a:chOff x="7058024" y="4286251"/>
            <a:chExt cx="4829493" cy="1257499"/>
          </a:xfrm>
        </p:grpSpPr>
        <p:sp>
          <p:nvSpPr>
            <p:cNvPr id="13" name="object 14">
              <a:extLst>
                <a:ext uri="{FF2B5EF4-FFF2-40B4-BE49-F238E27FC236}">
                  <a16:creationId xmlns:a16="http://schemas.microsoft.com/office/drawing/2014/main" id="{B7E8B6D9-D5F3-840E-0FDB-38B96DD46C28}"/>
                </a:ext>
              </a:extLst>
            </p:cNvPr>
            <p:cNvSpPr/>
            <p:nvPr/>
          </p:nvSpPr>
          <p:spPr>
            <a:xfrm>
              <a:off x="7081837" y="4286251"/>
              <a:ext cx="4805680" cy="1257300"/>
            </a:xfrm>
            <a:custGeom>
              <a:avLst/>
              <a:gdLst/>
              <a:ahLst/>
              <a:cxnLst/>
              <a:rect l="l" t="t" r="r" b="b"/>
              <a:pathLst>
                <a:path w="4805680" h="1257300">
                  <a:moveTo>
                    <a:pt x="4734165" y="1257299"/>
                  </a:moveTo>
                  <a:lnTo>
                    <a:pt x="48947" y="1257299"/>
                  </a:lnTo>
                  <a:lnTo>
                    <a:pt x="45540" y="1256811"/>
                  </a:lnTo>
                  <a:lnTo>
                    <a:pt x="12910" y="1231442"/>
                  </a:lnTo>
                  <a:lnTo>
                    <a:pt x="335" y="1191058"/>
                  </a:lnTo>
                  <a:lnTo>
                    <a:pt x="0" y="1186103"/>
                  </a:lnTo>
                  <a:lnTo>
                    <a:pt x="0" y="1181099"/>
                  </a:lnTo>
                  <a:lnTo>
                    <a:pt x="0" y="71196"/>
                  </a:lnTo>
                  <a:lnTo>
                    <a:pt x="10739" y="29704"/>
                  </a:lnTo>
                  <a:lnTo>
                    <a:pt x="38793" y="2439"/>
                  </a:lnTo>
                  <a:lnTo>
                    <a:pt x="48947" y="0"/>
                  </a:lnTo>
                  <a:lnTo>
                    <a:pt x="4734165" y="0"/>
                  </a:lnTo>
                  <a:lnTo>
                    <a:pt x="4775654" y="15621"/>
                  </a:lnTo>
                  <a:lnTo>
                    <a:pt x="4801475" y="51661"/>
                  </a:lnTo>
                  <a:lnTo>
                    <a:pt x="4805360" y="71196"/>
                  </a:lnTo>
                  <a:lnTo>
                    <a:pt x="4805360" y="1186103"/>
                  </a:lnTo>
                  <a:lnTo>
                    <a:pt x="4789738" y="1227593"/>
                  </a:lnTo>
                  <a:lnTo>
                    <a:pt x="4753698" y="1253413"/>
                  </a:lnTo>
                  <a:lnTo>
                    <a:pt x="4739119" y="1256811"/>
                  </a:lnTo>
                  <a:lnTo>
                    <a:pt x="4734165" y="1257299"/>
                  </a:lnTo>
                  <a:close/>
                </a:path>
              </a:pathLst>
            </a:custGeom>
            <a:solidFill>
              <a:srgbClr val="F9F6E7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4" name="object 15">
              <a:extLst>
                <a:ext uri="{FF2B5EF4-FFF2-40B4-BE49-F238E27FC236}">
                  <a16:creationId xmlns:a16="http://schemas.microsoft.com/office/drawing/2014/main" id="{C2942141-B70F-E917-8251-0BE74D6D9528}"/>
                </a:ext>
              </a:extLst>
            </p:cNvPr>
            <p:cNvSpPr/>
            <p:nvPr/>
          </p:nvSpPr>
          <p:spPr>
            <a:xfrm>
              <a:off x="7058024" y="4286450"/>
              <a:ext cx="72390" cy="1257300"/>
            </a:xfrm>
            <a:custGeom>
              <a:avLst/>
              <a:gdLst/>
              <a:ahLst/>
              <a:cxnLst/>
              <a:rect l="l" t="t" r="r" b="b"/>
              <a:pathLst>
                <a:path w="72390" h="1257300">
                  <a:moveTo>
                    <a:pt x="72031" y="1256897"/>
                  </a:moveTo>
                  <a:lnTo>
                    <a:pt x="33857" y="1244267"/>
                  </a:lnTo>
                  <a:lnTo>
                    <a:pt x="5800" y="1210058"/>
                  </a:lnTo>
                  <a:lnTo>
                    <a:pt x="0" y="1180898"/>
                  </a:lnTo>
                  <a:lnTo>
                    <a:pt x="0" y="75998"/>
                  </a:lnTo>
                  <a:lnTo>
                    <a:pt x="12829" y="33655"/>
                  </a:lnTo>
                  <a:lnTo>
                    <a:pt x="47038" y="5598"/>
                  </a:lnTo>
                  <a:lnTo>
                    <a:pt x="72030" y="0"/>
                  </a:lnTo>
                  <a:lnTo>
                    <a:pt x="68764" y="1731"/>
                  </a:lnTo>
                  <a:lnTo>
                    <a:pt x="61762" y="9465"/>
                  </a:lnTo>
                  <a:lnTo>
                    <a:pt x="49799" y="46837"/>
                  </a:lnTo>
                  <a:lnTo>
                    <a:pt x="47625" y="75998"/>
                  </a:lnTo>
                  <a:lnTo>
                    <a:pt x="47625" y="1180898"/>
                  </a:lnTo>
                  <a:lnTo>
                    <a:pt x="52435" y="1223240"/>
                  </a:lnTo>
                  <a:lnTo>
                    <a:pt x="68764" y="1255164"/>
                  </a:lnTo>
                  <a:lnTo>
                    <a:pt x="72031" y="1256897"/>
                  </a:lnTo>
                  <a:close/>
                </a:path>
              </a:pathLst>
            </a:custGeom>
            <a:solidFill>
              <a:srgbClr val="F1C71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TextBox 14">
            <a:extLst>
              <a:ext uri="{FF2B5EF4-FFF2-40B4-BE49-F238E27FC236}">
                <a16:creationId xmlns:a16="http://schemas.microsoft.com/office/drawing/2014/main" id="{11A8A8A8-D40D-E7C9-ECB2-39AA98582B19}"/>
              </a:ext>
            </a:extLst>
          </p:cNvPr>
          <p:cNvSpPr txBox="1"/>
          <p:nvPr/>
        </p:nvSpPr>
        <p:spPr>
          <a:xfrm>
            <a:off x="411414" y="1410134"/>
            <a:ext cx="2438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1E3A8A"/>
                </a:solidFill>
                <a:latin typeface="Montserrat" panose="00000500000000000000" pitchFamily="2" charset="0"/>
              </a:rPr>
              <a:t>Challenges</a:t>
            </a:r>
            <a:endParaRPr lang="en-IN" dirty="0"/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EAFC4C22-DFFF-09B5-8235-6BFEA13C9251}"/>
              </a:ext>
            </a:extLst>
          </p:cNvPr>
          <p:cNvSpPr txBox="1"/>
          <p:nvPr/>
        </p:nvSpPr>
        <p:spPr>
          <a:xfrm>
            <a:off x="6014988" y="2031067"/>
            <a:ext cx="4793298" cy="447814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 algn="just">
              <a:buAutoNum type="arabicPeriod"/>
            </a:pPr>
            <a:r>
              <a:rPr lang="en-US" sz="1500" dirty="0"/>
              <a:t>Cleaned and standardized data in Excel and SQL by handling missing values and correcting formats</a:t>
            </a:r>
          </a:p>
          <a:p>
            <a:pPr marL="342900" indent="-342900" algn="just">
              <a:buAutoNum type="arabicPeriod"/>
            </a:pP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AutoNum type="arabicPeriod"/>
            </a:pPr>
            <a:r>
              <a:rPr lang="en-US" sz="1500" dirty="0"/>
              <a:t>Used proper logic (CASE WHEN / Attrition Flag) to calculate accurate attrition rate.</a:t>
            </a:r>
          </a:p>
          <a:p>
            <a:pPr marL="342900" indent="-342900" algn="just">
              <a:buAutoNum type="arabicPeriod"/>
            </a:pP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AutoNum type="arabicPeriod"/>
            </a:pPr>
            <a:r>
              <a:rPr lang="en-US" sz="1500" dirty="0"/>
              <a:t>Cross-verified KPIs across tools to maintain consistency in results.</a:t>
            </a:r>
          </a:p>
          <a:p>
            <a:pPr marL="342900" indent="-342900" algn="just">
              <a:buAutoNum type="arabicPeriod"/>
            </a:pP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AutoNum type="arabicPeriod"/>
            </a:pPr>
            <a:r>
              <a:rPr lang="en-US" sz="1500" dirty="0"/>
              <a:t>Created calculated columns for Income Category and Promotion Groups to simplify analysis.</a:t>
            </a:r>
          </a:p>
          <a:p>
            <a:pPr marL="342900" indent="-342900" algn="just">
              <a:buAutoNum type="arabicPeriod"/>
            </a:pP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AutoNum type="arabicPeriod"/>
            </a:pPr>
            <a:r>
              <a:rPr lang="en-US" sz="1500" dirty="0"/>
              <a:t>Optimized Power BI by removing unnecessary columns and reducing visuals for better performance.</a:t>
            </a:r>
          </a:p>
          <a:p>
            <a:pPr marL="342900" indent="-342900" algn="just">
              <a:buAutoNum type="arabicPeriod"/>
            </a:pPr>
            <a:endParaRPr lang="en-US" sz="1500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marL="342900" indent="-342900" algn="just">
              <a:buAutoNum type="arabicPeriod"/>
            </a:pPr>
            <a:r>
              <a:rPr lang="en-US" sz="1500" dirty="0">
                <a:latin typeface="Arial" panose="020B0604020202020204" pitchFamily="34" charset="0"/>
                <a:cs typeface="Arial" panose="020B0604020202020204" pitchFamily="34" charset="0"/>
              </a:rPr>
              <a:t>implemented consistent visual design principles in Power BI/Tableau, selecting appropriate charts for KPIs.</a:t>
            </a:r>
          </a:p>
        </p:txBody>
      </p:sp>
      <p:grpSp>
        <p:nvGrpSpPr>
          <p:cNvPr id="17" name="object 13">
            <a:extLst>
              <a:ext uri="{FF2B5EF4-FFF2-40B4-BE49-F238E27FC236}">
                <a16:creationId xmlns:a16="http://schemas.microsoft.com/office/drawing/2014/main" id="{2B2D01FF-A538-08FE-DB40-932F152DC1AB}"/>
              </a:ext>
            </a:extLst>
          </p:cNvPr>
          <p:cNvGrpSpPr/>
          <p:nvPr/>
        </p:nvGrpSpPr>
        <p:grpSpPr>
          <a:xfrm>
            <a:off x="5990907" y="1221797"/>
            <a:ext cx="4829493" cy="729173"/>
            <a:chOff x="7058024" y="4286251"/>
            <a:chExt cx="4829493" cy="1257499"/>
          </a:xfrm>
        </p:grpSpPr>
        <p:sp>
          <p:nvSpPr>
            <p:cNvPr id="18" name="object 14">
              <a:extLst>
                <a:ext uri="{FF2B5EF4-FFF2-40B4-BE49-F238E27FC236}">
                  <a16:creationId xmlns:a16="http://schemas.microsoft.com/office/drawing/2014/main" id="{2F94FF75-9A09-F0D6-5AFA-7E1B8695832F}"/>
                </a:ext>
              </a:extLst>
            </p:cNvPr>
            <p:cNvSpPr/>
            <p:nvPr/>
          </p:nvSpPr>
          <p:spPr>
            <a:xfrm>
              <a:off x="7081837" y="4286251"/>
              <a:ext cx="4805680" cy="1257300"/>
            </a:xfrm>
            <a:custGeom>
              <a:avLst/>
              <a:gdLst/>
              <a:ahLst/>
              <a:cxnLst/>
              <a:rect l="l" t="t" r="r" b="b"/>
              <a:pathLst>
                <a:path w="4805680" h="1257300">
                  <a:moveTo>
                    <a:pt x="4734165" y="1257299"/>
                  </a:moveTo>
                  <a:lnTo>
                    <a:pt x="48947" y="1257299"/>
                  </a:lnTo>
                  <a:lnTo>
                    <a:pt x="45540" y="1256811"/>
                  </a:lnTo>
                  <a:lnTo>
                    <a:pt x="12910" y="1231442"/>
                  </a:lnTo>
                  <a:lnTo>
                    <a:pt x="335" y="1191058"/>
                  </a:lnTo>
                  <a:lnTo>
                    <a:pt x="0" y="1186103"/>
                  </a:lnTo>
                  <a:lnTo>
                    <a:pt x="0" y="1181099"/>
                  </a:lnTo>
                  <a:lnTo>
                    <a:pt x="0" y="71196"/>
                  </a:lnTo>
                  <a:lnTo>
                    <a:pt x="10739" y="29704"/>
                  </a:lnTo>
                  <a:lnTo>
                    <a:pt x="38793" y="2439"/>
                  </a:lnTo>
                  <a:lnTo>
                    <a:pt x="48947" y="0"/>
                  </a:lnTo>
                  <a:lnTo>
                    <a:pt x="4734165" y="0"/>
                  </a:lnTo>
                  <a:lnTo>
                    <a:pt x="4775654" y="15621"/>
                  </a:lnTo>
                  <a:lnTo>
                    <a:pt x="4801475" y="51661"/>
                  </a:lnTo>
                  <a:lnTo>
                    <a:pt x="4805360" y="71196"/>
                  </a:lnTo>
                  <a:lnTo>
                    <a:pt x="4805360" y="1186103"/>
                  </a:lnTo>
                  <a:lnTo>
                    <a:pt x="4789738" y="1227593"/>
                  </a:lnTo>
                  <a:lnTo>
                    <a:pt x="4753698" y="1253413"/>
                  </a:lnTo>
                  <a:lnTo>
                    <a:pt x="4739119" y="1256811"/>
                  </a:lnTo>
                  <a:lnTo>
                    <a:pt x="4734165" y="1257299"/>
                  </a:lnTo>
                  <a:close/>
                </a:path>
              </a:pathLst>
            </a:custGeom>
            <a:solidFill>
              <a:srgbClr val="F9F6E7"/>
            </a:solidFill>
          </p:spPr>
          <p:txBody>
            <a:bodyPr wrap="square" lIns="0" tIns="0" rIns="0" bIns="0" rtlCol="0"/>
            <a:lstStyle/>
            <a:p>
              <a:endParaRPr dirty="0"/>
            </a:p>
          </p:txBody>
        </p:sp>
        <p:sp>
          <p:nvSpPr>
            <p:cNvPr id="19" name="object 15">
              <a:extLst>
                <a:ext uri="{FF2B5EF4-FFF2-40B4-BE49-F238E27FC236}">
                  <a16:creationId xmlns:a16="http://schemas.microsoft.com/office/drawing/2014/main" id="{EC7BB728-2D55-6ACB-AE61-8C815BE534D6}"/>
                </a:ext>
              </a:extLst>
            </p:cNvPr>
            <p:cNvSpPr/>
            <p:nvPr/>
          </p:nvSpPr>
          <p:spPr>
            <a:xfrm>
              <a:off x="7058024" y="4286450"/>
              <a:ext cx="72390" cy="1257300"/>
            </a:xfrm>
            <a:custGeom>
              <a:avLst/>
              <a:gdLst/>
              <a:ahLst/>
              <a:cxnLst/>
              <a:rect l="l" t="t" r="r" b="b"/>
              <a:pathLst>
                <a:path w="72390" h="1257300">
                  <a:moveTo>
                    <a:pt x="72031" y="1256897"/>
                  </a:moveTo>
                  <a:lnTo>
                    <a:pt x="33857" y="1244267"/>
                  </a:lnTo>
                  <a:lnTo>
                    <a:pt x="5800" y="1210058"/>
                  </a:lnTo>
                  <a:lnTo>
                    <a:pt x="0" y="1180898"/>
                  </a:lnTo>
                  <a:lnTo>
                    <a:pt x="0" y="75998"/>
                  </a:lnTo>
                  <a:lnTo>
                    <a:pt x="12829" y="33655"/>
                  </a:lnTo>
                  <a:lnTo>
                    <a:pt x="47038" y="5598"/>
                  </a:lnTo>
                  <a:lnTo>
                    <a:pt x="72030" y="0"/>
                  </a:lnTo>
                  <a:lnTo>
                    <a:pt x="68764" y="1731"/>
                  </a:lnTo>
                  <a:lnTo>
                    <a:pt x="61762" y="9465"/>
                  </a:lnTo>
                  <a:lnTo>
                    <a:pt x="49799" y="46837"/>
                  </a:lnTo>
                  <a:lnTo>
                    <a:pt x="47625" y="75998"/>
                  </a:lnTo>
                  <a:lnTo>
                    <a:pt x="47625" y="1180898"/>
                  </a:lnTo>
                  <a:lnTo>
                    <a:pt x="52435" y="1223240"/>
                  </a:lnTo>
                  <a:lnTo>
                    <a:pt x="68764" y="1255164"/>
                  </a:lnTo>
                  <a:lnTo>
                    <a:pt x="72031" y="1256897"/>
                  </a:lnTo>
                  <a:close/>
                </a:path>
              </a:pathLst>
            </a:custGeom>
            <a:solidFill>
              <a:srgbClr val="F1C711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20" name="TextBox 19">
            <a:extLst>
              <a:ext uri="{FF2B5EF4-FFF2-40B4-BE49-F238E27FC236}">
                <a16:creationId xmlns:a16="http://schemas.microsoft.com/office/drawing/2014/main" id="{88D475C6-8360-5CF2-E4AA-5418B1A7A501}"/>
              </a:ext>
            </a:extLst>
          </p:cNvPr>
          <p:cNvSpPr txBox="1"/>
          <p:nvPr/>
        </p:nvSpPr>
        <p:spPr>
          <a:xfrm>
            <a:off x="6038100" y="1413525"/>
            <a:ext cx="24384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b="1" dirty="0">
                <a:solidFill>
                  <a:srgbClr val="1E3A8A"/>
                </a:solidFill>
                <a:latin typeface="Montserrat" panose="00000500000000000000" pitchFamily="2" charset="0"/>
              </a:rPr>
              <a:t>Solution</a:t>
            </a:r>
            <a:endParaRPr lang="en-IN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5166A4-9490-F532-DB0A-F17E60BB0CE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B4190C6-D82F-C028-5118-134710B2CA9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724785" y="2666206"/>
            <a:ext cx="6742430" cy="830997"/>
          </a:xfrm>
        </p:spPr>
        <p:txBody>
          <a:bodyPr/>
          <a:lstStyle/>
          <a:p>
            <a:pPr algn="ctr"/>
            <a:r>
              <a:rPr lang="en-IN" sz="5400" dirty="0"/>
              <a:t>Thank You</a:t>
            </a:r>
            <a:endParaRPr sz="5400" dirty="0"/>
          </a:p>
        </p:txBody>
      </p:sp>
    </p:spTree>
    <p:extLst>
      <p:ext uri="{BB962C8B-B14F-4D97-AF65-F5344CB8AC3E}">
        <p14:creationId xmlns:p14="http://schemas.microsoft.com/office/powerpoint/2010/main" val="23673983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702</TotalTime>
  <Words>1302</Words>
  <Application>Microsoft Office PowerPoint</Application>
  <PresentationFormat>Custom</PresentationFormat>
  <Paragraphs>230</Paragraphs>
  <Slides>18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4" baseType="lpstr">
      <vt:lpstr>Arial</vt:lpstr>
      <vt:lpstr>Calibri</vt:lpstr>
      <vt:lpstr>Montserrat</vt:lpstr>
      <vt:lpstr>Segoe UI</vt:lpstr>
      <vt:lpstr>Segoe UI Semibold</vt:lpstr>
      <vt:lpstr>Office Theme</vt:lpstr>
      <vt:lpstr>HR Analytics Dashboard</vt:lpstr>
      <vt:lpstr>Agenda</vt:lpstr>
      <vt:lpstr>KPI 1 – Attrition Rate by Department</vt:lpstr>
      <vt:lpstr>KPI 2 – KPI 2: Avg Hourly Rate</vt:lpstr>
      <vt:lpstr>KPI 3 – Attrition by Income Category</vt:lpstr>
      <vt:lpstr>KPI 4 – Average Working Years by Department</vt:lpstr>
      <vt:lpstr>KPI 5 – Work-Life Balance by Job Role</vt:lpstr>
      <vt:lpstr>KPI 6 – Attrition vs Years Since Last Promotion</vt:lpstr>
      <vt:lpstr>Power BI Dashboard</vt:lpstr>
      <vt:lpstr>SQL Queries Used</vt:lpstr>
      <vt:lpstr>SQL Queries Used</vt:lpstr>
      <vt:lpstr>SQL Queries Used</vt:lpstr>
      <vt:lpstr>SQL Queries Used</vt:lpstr>
      <vt:lpstr>Tableau Dashboard</vt:lpstr>
      <vt:lpstr>Excel Dashboard</vt:lpstr>
      <vt:lpstr>Conclusion &amp; Recommendations</vt:lpstr>
      <vt:lpstr>Challenges Faced &amp; How We Overcame Them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Adventure Works     Cycles</dc:title>
  <dc:creator>Apoorva Gangrade</dc:creator>
  <cp:lastModifiedBy>Kumud Patil</cp:lastModifiedBy>
  <cp:revision>29</cp:revision>
  <dcterms:created xsi:type="dcterms:W3CDTF">2025-08-18T17:44:52Z</dcterms:created>
  <dcterms:modified xsi:type="dcterms:W3CDTF">2026-09-08T12:19:03Z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2025-08-18T00:00:00Z</vt:filetime>
  </property>
  <property fmtid="{D5CDD505-2E9C-101B-9397-08002B2CF9AE}" pid="3" name="Producer">
    <vt:lpwstr>pypdf</vt:lpwstr>
  </property>
  <property fmtid="{D5CDD505-2E9C-101B-9397-08002B2CF9AE}" pid="4" name="LastSaved">
    <vt:filetime>2025-08-18T00:00:00Z</vt:filetime>
  </property>
</Properties>
</file>